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7"/>
  </p:notesMasterIdLst>
  <p:sldIdLst>
    <p:sldId id="259" r:id="rId2"/>
    <p:sldId id="263" r:id="rId3"/>
    <p:sldId id="258" r:id="rId4"/>
    <p:sldId id="260" r:id="rId5"/>
    <p:sldId id="262"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本木" initials="本木" lastIdx="1" clrIdx="0">
    <p:extLst>
      <p:ext uri="{19B8F6BF-5375-455C-9EA6-DF929625EA0E}">
        <p15:presenceInfo xmlns:p15="http://schemas.microsoft.com/office/powerpoint/2012/main" userId="本木"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58" autoAdjust="0"/>
    <p:restoredTop sz="95339" autoAdjust="0"/>
  </p:normalViewPr>
  <p:slideViewPr>
    <p:cSldViewPr snapToGrid="0">
      <p:cViewPr varScale="1">
        <p:scale>
          <a:sx n="77" d="100"/>
          <a:sy n="77" d="100"/>
        </p:scale>
        <p:origin x="96" y="45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EC585B-71CD-46E6-B903-2F95BCFA4456}" type="datetimeFigureOut">
              <a:rPr kumimoji="1" lang="ja-JP" altLang="en-US" smtClean="0"/>
              <a:t>2025/10/17</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899B2-C3B0-43AD-AA65-CA29FC7C9E0E}" type="slidenum">
              <a:rPr kumimoji="1" lang="ja-JP" altLang="en-US" smtClean="0"/>
              <a:t>‹#›</a:t>
            </a:fld>
            <a:endParaRPr kumimoji="1" lang="ja-JP" altLang="en-US"/>
          </a:p>
        </p:txBody>
      </p:sp>
    </p:spTree>
    <p:extLst>
      <p:ext uri="{BB962C8B-B14F-4D97-AF65-F5344CB8AC3E}">
        <p14:creationId xmlns:p14="http://schemas.microsoft.com/office/powerpoint/2010/main" val="184395756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88899B2-C3B0-43AD-AA65-CA29FC7C9E0E}" type="slidenum">
              <a:rPr kumimoji="1" lang="ja-JP" altLang="en-US" smtClean="0"/>
              <a:t>2</a:t>
            </a:fld>
            <a:endParaRPr kumimoji="1" lang="ja-JP" altLang="en-US"/>
          </a:p>
        </p:txBody>
      </p:sp>
    </p:spTree>
    <p:extLst>
      <p:ext uri="{BB962C8B-B14F-4D97-AF65-F5344CB8AC3E}">
        <p14:creationId xmlns:p14="http://schemas.microsoft.com/office/powerpoint/2010/main" val="4283799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88899B2-C3B0-43AD-AA65-CA29FC7C9E0E}" type="slidenum">
              <a:rPr kumimoji="1" lang="ja-JP" altLang="en-US" smtClean="0"/>
              <a:t>3</a:t>
            </a:fld>
            <a:endParaRPr kumimoji="1" lang="ja-JP" altLang="en-US"/>
          </a:p>
        </p:txBody>
      </p:sp>
    </p:spTree>
    <p:extLst>
      <p:ext uri="{BB962C8B-B14F-4D97-AF65-F5344CB8AC3E}">
        <p14:creationId xmlns:p14="http://schemas.microsoft.com/office/powerpoint/2010/main" val="2724765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506FA-FB46-91C0-59C3-6AD19FD6DA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6B794B-E750-E575-BE93-793F466EA4EB}"/>
              </a:ext>
            </a:extLst>
          </p:cNvPr>
          <p:cNvSpPr>
            <a:spLocks noGrp="1" noRot="1" noChangeAspect="1"/>
          </p:cNvSpPr>
          <p:nvPr>
            <p:ph type="sldImg"/>
          </p:nvPr>
        </p:nvSpPr>
        <p:spPr>
          <a:xfrm>
            <a:off x="1371600" y="1143000"/>
            <a:ext cx="4114800" cy="3086100"/>
          </a:xfrm>
        </p:spPr>
      </p:sp>
      <p:sp>
        <p:nvSpPr>
          <p:cNvPr id="3" name="ノート プレースホルダー 2">
            <a:extLst>
              <a:ext uri="{FF2B5EF4-FFF2-40B4-BE49-F238E27FC236}">
                <a16:creationId xmlns:a16="http://schemas.microsoft.com/office/drawing/2014/main" id="{13B33A84-4D6F-0582-3E2C-3A41AABD92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89B2D68-A202-B44E-E6D0-5F304547A104}"/>
              </a:ext>
            </a:extLst>
          </p:cNvPr>
          <p:cNvSpPr>
            <a:spLocks noGrp="1"/>
          </p:cNvSpPr>
          <p:nvPr>
            <p:ph type="sldNum" sz="quarter" idx="5"/>
          </p:nvPr>
        </p:nvSpPr>
        <p:spPr/>
        <p:txBody>
          <a:bodyPr/>
          <a:lstStyle/>
          <a:p>
            <a:fld id="{988899B2-C3B0-43AD-AA65-CA29FC7C9E0E}" type="slidenum">
              <a:rPr kumimoji="1" lang="ja-JP" altLang="en-US" smtClean="0"/>
              <a:t>4</a:t>
            </a:fld>
            <a:endParaRPr kumimoji="1" lang="ja-JP" altLang="en-US"/>
          </a:p>
        </p:txBody>
      </p:sp>
    </p:spTree>
    <p:extLst>
      <p:ext uri="{BB962C8B-B14F-4D97-AF65-F5344CB8AC3E}">
        <p14:creationId xmlns:p14="http://schemas.microsoft.com/office/powerpoint/2010/main" val="2198687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3271070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1500307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2145805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284346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342379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4276054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3400203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61000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435435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3808965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0EBB363-99C5-4165-9B68-7634E06BF364}" type="datetimeFigureOut">
              <a:rPr kumimoji="1" lang="ja-JP" altLang="en-US" smtClean="0"/>
              <a:t>2025/10/17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1266488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EBB363-99C5-4165-9B68-7634E06BF364}" type="datetimeFigureOut">
              <a:rPr kumimoji="1" lang="ja-JP" altLang="en-US" smtClean="0"/>
              <a:t>2025/10/17</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EE0A3A-D453-43FA-BDF2-4900585D3106}" type="slidenum">
              <a:rPr kumimoji="1" lang="ja-JP" altLang="en-US" smtClean="0"/>
              <a:t>‹#›</a:t>
            </a:fld>
            <a:endParaRPr kumimoji="1" lang="ja-JP" altLang="en-US"/>
          </a:p>
        </p:txBody>
      </p:sp>
    </p:spTree>
    <p:extLst>
      <p:ext uri="{BB962C8B-B14F-4D97-AF65-F5344CB8AC3E}">
        <p14:creationId xmlns:p14="http://schemas.microsoft.com/office/powerpoint/2010/main" val="148584748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3" Type="http://schemas.openxmlformats.org/officeDocument/2006/relationships/image" Target="../media/image2.jpeg"/><Relationship Id="rId7" Type="http://schemas.openxmlformats.org/officeDocument/2006/relationships/image" Target="../media/image6.jpeg"/><Relationship Id="rId12" Type="http://schemas.openxmlformats.org/officeDocument/2006/relationships/image" Target="../media/image11.png"/><Relationship Id="rId2" Type="http://schemas.openxmlformats.org/officeDocument/2006/relationships/image" Target="../media/image1.jpeg"/><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jpe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png"/><Relationship Id="rId14" Type="http://schemas.openxmlformats.org/officeDocument/2006/relationships/image" Target="../media/image13.jpeg"/></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1E2C4EED-E3CC-7379-37BA-CBBB8FA6E7F5}"/>
              </a:ext>
            </a:extLst>
          </p:cNvPr>
          <p:cNvSpPr/>
          <p:nvPr/>
        </p:nvSpPr>
        <p:spPr>
          <a:xfrm>
            <a:off x="42180" y="286322"/>
            <a:ext cx="2697517" cy="355578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B8B9F868-98C1-9635-1C8F-766292EAD99E}"/>
              </a:ext>
            </a:extLst>
          </p:cNvPr>
          <p:cNvSpPr/>
          <p:nvPr/>
        </p:nvSpPr>
        <p:spPr>
          <a:xfrm>
            <a:off x="2809873" y="2639602"/>
            <a:ext cx="4959363" cy="120250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7D06541E-376B-C576-6939-8F891C19025D}"/>
              </a:ext>
            </a:extLst>
          </p:cNvPr>
          <p:cNvSpPr/>
          <p:nvPr/>
        </p:nvSpPr>
        <p:spPr>
          <a:xfrm>
            <a:off x="7846519" y="286323"/>
            <a:ext cx="1247475" cy="355578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E7180E3F-AD30-1687-C638-7D31C3EC691A}"/>
              </a:ext>
            </a:extLst>
          </p:cNvPr>
          <p:cNvSpPr/>
          <p:nvPr/>
        </p:nvSpPr>
        <p:spPr>
          <a:xfrm>
            <a:off x="2809876" y="276998"/>
            <a:ext cx="4959360" cy="233278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7E19FE1-4DAD-1244-FE96-88F85AEA70B0}"/>
              </a:ext>
            </a:extLst>
          </p:cNvPr>
          <p:cNvSpPr txBox="1"/>
          <p:nvPr/>
        </p:nvSpPr>
        <p:spPr>
          <a:xfrm>
            <a:off x="0" y="0"/>
            <a:ext cx="347730" cy="276999"/>
          </a:xfrm>
          <a:prstGeom prst="rect">
            <a:avLst/>
          </a:prstGeom>
          <a:solidFill>
            <a:srgbClr val="FFFF00"/>
          </a:solidFill>
        </p:spPr>
        <p:txBody>
          <a:bodyPr wrap="square" rtlCol="0">
            <a:spAutoFit/>
          </a:bodyPr>
          <a:lstStyle/>
          <a:p>
            <a:r>
              <a:rPr lang="ja-JP" altLang="en-US" sz="1200" b="1" dirty="0">
                <a:solidFill>
                  <a:srgbClr val="FF0000"/>
                </a:solidFill>
                <a:latin typeface="Meiryo UI" panose="020B0604030504040204" pitchFamily="50" charset="-128"/>
                <a:ea typeface="Meiryo UI" panose="020B0604030504040204" pitchFamily="50" charset="-128"/>
              </a:rPr>
              <a:t>①</a:t>
            </a:r>
          </a:p>
        </p:txBody>
      </p:sp>
      <p:sp>
        <p:nvSpPr>
          <p:cNvPr id="13" name="正方形/長方形 12">
            <a:extLst>
              <a:ext uri="{FF2B5EF4-FFF2-40B4-BE49-F238E27FC236}">
                <a16:creationId xmlns:a16="http://schemas.microsoft.com/office/drawing/2014/main" id="{11342934-4FB1-59CA-A187-E291AB784A75}"/>
              </a:ext>
            </a:extLst>
          </p:cNvPr>
          <p:cNvSpPr/>
          <p:nvPr/>
        </p:nvSpPr>
        <p:spPr>
          <a:xfrm>
            <a:off x="0" y="-1"/>
            <a:ext cx="9144000" cy="410845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latin typeface="Meiryo UI" panose="020B0604030504040204" pitchFamily="50" charset="-128"/>
              <a:ea typeface="Meiryo UI" panose="020B0604030504040204" pitchFamily="50" charset="-128"/>
            </a:endParaRPr>
          </a:p>
        </p:txBody>
      </p:sp>
      <p:graphicFrame>
        <p:nvGraphicFramePr>
          <p:cNvPr id="14" name="表 13">
            <a:extLst>
              <a:ext uri="{FF2B5EF4-FFF2-40B4-BE49-F238E27FC236}">
                <a16:creationId xmlns:a16="http://schemas.microsoft.com/office/drawing/2014/main" id="{011AAA3C-E01A-C37D-19B8-1F08CF3F7B76}"/>
              </a:ext>
            </a:extLst>
          </p:cNvPr>
          <p:cNvGraphicFramePr>
            <a:graphicFrameLocks noGrp="1"/>
          </p:cNvGraphicFramePr>
          <p:nvPr>
            <p:extLst>
              <p:ext uri="{D42A27DB-BD31-4B8C-83A1-F6EECF244321}">
                <p14:modId xmlns:p14="http://schemas.microsoft.com/office/powerpoint/2010/main" val="2909161884"/>
              </p:ext>
            </p:extLst>
          </p:nvPr>
        </p:nvGraphicFramePr>
        <p:xfrm>
          <a:off x="1" y="4135428"/>
          <a:ext cx="9143999" cy="2722572"/>
        </p:xfrm>
        <a:graphic>
          <a:graphicData uri="http://schemas.openxmlformats.org/drawingml/2006/table">
            <a:tbl>
              <a:tblPr firstRow="1" firstCol="1" bandRow="1">
                <a:tableStyleId>{5C22544A-7EE6-4342-B048-85BDC9FD1C3A}</a:tableStyleId>
              </a:tblPr>
              <a:tblGrid>
                <a:gridCol w="201705">
                  <a:extLst>
                    <a:ext uri="{9D8B030D-6E8A-4147-A177-3AD203B41FA5}">
                      <a16:colId xmlns:a16="http://schemas.microsoft.com/office/drawing/2014/main" val="221310968"/>
                    </a:ext>
                  </a:extLst>
                </a:gridCol>
                <a:gridCol w="3646394">
                  <a:extLst>
                    <a:ext uri="{9D8B030D-6E8A-4147-A177-3AD203B41FA5}">
                      <a16:colId xmlns:a16="http://schemas.microsoft.com/office/drawing/2014/main" val="4059555607"/>
                    </a:ext>
                  </a:extLst>
                </a:gridCol>
                <a:gridCol w="2901950">
                  <a:extLst>
                    <a:ext uri="{9D8B030D-6E8A-4147-A177-3AD203B41FA5}">
                      <a16:colId xmlns:a16="http://schemas.microsoft.com/office/drawing/2014/main" val="991596004"/>
                    </a:ext>
                  </a:extLst>
                </a:gridCol>
                <a:gridCol w="2393950">
                  <a:extLst>
                    <a:ext uri="{9D8B030D-6E8A-4147-A177-3AD203B41FA5}">
                      <a16:colId xmlns:a16="http://schemas.microsoft.com/office/drawing/2014/main" val="1088205227"/>
                    </a:ext>
                  </a:extLst>
                </a:gridCol>
              </a:tblGrid>
              <a:tr h="193411">
                <a:tc rowSpan="2" gridSpan="2">
                  <a:txBody>
                    <a:bodyPr/>
                    <a:lstStyle/>
                    <a:p>
                      <a:pPr marL="190500" indent="-63500" algn="ctr">
                        <a:lnSpc>
                          <a:spcPts val="1400"/>
                        </a:lnSpc>
                        <a:buNone/>
                      </a:pPr>
                      <a:r>
                        <a:rPr lang="ja-JP" sz="1200" kern="100" spc="10" dirty="0">
                          <a:solidFill>
                            <a:schemeClr val="tx1"/>
                          </a:solidFill>
                          <a:effectLst/>
                          <a:latin typeface="Meiryo UI" panose="020B0604030504040204" pitchFamily="50" charset="-128"/>
                          <a:ea typeface="Meiryo UI" panose="020B0604030504040204" pitchFamily="50" charset="-128"/>
                        </a:rPr>
                        <a:t>当社の事業環境と</a:t>
                      </a:r>
                      <a:endParaRPr lang="en-US" altLang="ja-JP" sz="1200" kern="100" spc="10" dirty="0">
                        <a:solidFill>
                          <a:schemeClr val="tx1"/>
                        </a:solidFill>
                        <a:effectLst/>
                        <a:latin typeface="Meiryo UI" panose="020B0604030504040204" pitchFamily="50" charset="-128"/>
                        <a:ea typeface="Meiryo UI" panose="020B0604030504040204" pitchFamily="50" charset="-128"/>
                      </a:endParaRPr>
                    </a:p>
                    <a:p>
                      <a:pPr marL="190500" indent="-63500" algn="ctr">
                        <a:lnSpc>
                          <a:spcPts val="1400"/>
                        </a:lnSpc>
                        <a:buNone/>
                      </a:pPr>
                      <a:r>
                        <a:rPr lang="ja-JP" sz="1200" kern="100" spc="10" dirty="0">
                          <a:solidFill>
                            <a:schemeClr val="tx1"/>
                          </a:solidFill>
                          <a:effectLst/>
                          <a:latin typeface="Meiryo UI" panose="020B0604030504040204" pitchFamily="50" charset="-128"/>
                          <a:ea typeface="Meiryo UI" panose="020B0604030504040204" pitchFamily="50" charset="-128"/>
                        </a:rPr>
                        <a:t>経営戦略</a:t>
                      </a:r>
                    </a:p>
                    <a:p>
                      <a:pPr marL="190500" indent="-63500" algn="ctr">
                        <a:lnSpc>
                          <a:spcPts val="1400"/>
                        </a:lnSpc>
                        <a:buNone/>
                      </a:pPr>
                      <a:r>
                        <a:rPr lang="ja-JP" sz="1200" kern="100" spc="10" dirty="0">
                          <a:solidFill>
                            <a:schemeClr val="tx1"/>
                          </a:solidFill>
                          <a:effectLst/>
                          <a:latin typeface="Meiryo UI" panose="020B0604030504040204" pitchFamily="50" charset="-128"/>
                          <a:ea typeface="Meiryo UI" panose="020B0604030504040204" pitchFamily="50" charset="-128"/>
                        </a:rPr>
                        <a:t>（クロス</a:t>
                      </a:r>
                      <a:r>
                        <a:rPr lang="en-US" sz="1200" kern="100" spc="10" dirty="0">
                          <a:solidFill>
                            <a:schemeClr val="tx1"/>
                          </a:solidFill>
                          <a:effectLst/>
                          <a:latin typeface="Meiryo UI" panose="020B0604030504040204" pitchFamily="50" charset="-128"/>
                          <a:ea typeface="Meiryo UI" panose="020B0604030504040204" pitchFamily="50" charset="-128"/>
                        </a:rPr>
                        <a:t>SWOT</a:t>
                      </a:r>
                      <a:r>
                        <a:rPr lang="ja-JP" sz="1200" kern="100" spc="10" dirty="0">
                          <a:solidFill>
                            <a:schemeClr val="tx1"/>
                          </a:solidFill>
                          <a:effectLst/>
                          <a:latin typeface="Meiryo UI" panose="020B0604030504040204" pitchFamily="50" charset="-128"/>
                          <a:ea typeface="Meiryo UI" panose="020B0604030504040204" pitchFamily="50" charset="-128"/>
                        </a:rPr>
                        <a:t>分析）</a:t>
                      </a:r>
                      <a:endParaRPr lang="ja-JP" sz="1200" kern="100" spc="1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4321" marR="343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rowSpan="2" hMerge="1">
                  <a:txBody>
                    <a:bodyPr/>
                    <a:lstStyle/>
                    <a:p>
                      <a:endParaRPr kumimoji="1" lang="ja-JP" altLang="en-US"/>
                    </a:p>
                  </a:txBody>
                  <a:tcPr/>
                </a:tc>
                <a:tc>
                  <a:txBody>
                    <a:bodyPr/>
                    <a:lstStyle/>
                    <a:p>
                      <a:pPr marL="190500" indent="-63500" algn="ctr">
                        <a:lnSpc>
                          <a:spcPts val="1600"/>
                        </a:lnSpc>
                        <a:buNone/>
                      </a:pPr>
                      <a:r>
                        <a:rPr lang="ja-JP" sz="1200" kern="100" spc="10" dirty="0">
                          <a:solidFill>
                            <a:schemeClr val="tx1"/>
                          </a:solidFill>
                          <a:effectLst/>
                          <a:latin typeface="Meiryo UI" panose="020B0604030504040204" pitchFamily="50" charset="-128"/>
                          <a:ea typeface="Meiryo UI" panose="020B0604030504040204" pitchFamily="50" charset="-128"/>
                        </a:rPr>
                        <a:t>機会</a:t>
                      </a:r>
                      <a:endParaRPr lang="ja-JP" sz="1200" kern="100" spc="1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4321" marR="343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190500" indent="-63500" algn="ctr">
                        <a:lnSpc>
                          <a:spcPts val="1600"/>
                        </a:lnSpc>
                        <a:buNone/>
                      </a:pPr>
                      <a:r>
                        <a:rPr lang="ja-JP" sz="1200" kern="100" spc="10" dirty="0">
                          <a:solidFill>
                            <a:schemeClr val="tx1"/>
                          </a:solidFill>
                          <a:effectLst/>
                          <a:latin typeface="Meiryo UI" panose="020B0604030504040204" pitchFamily="50" charset="-128"/>
                          <a:ea typeface="Meiryo UI" panose="020B0604030504040204" pitchFamily="50" charset="-128"/>
                        </a:rPr>
                        <a:t>脅威</a:t>
                      </a:r>
                      <a:endParaRPr lang="ja-JP" sz="1200" kern="100" spc="1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4321" marR="343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031509180"/>
                  </a:ext>
                </a:extLst>
              </a:tr>
              <a:tr h="734166">
                <a:tc gridSpan="2" vMerge="1">
                  <a:txBody>
                    <a:bodyPr/>
                    <a:lstStyle/>
                    <a:p>
                      <a:endParaRPr kumimoji="1" lang="ja-JP" altLang="en-US"/>
                    </a:p>
                  </a:txBody>
                  <a:tcPr/>
                </a:tc>
                <a:tc hMerge="1" vMerge="1">
                  <a:txBody>
                    <a:bodyPr/>
                    <a:lstStyle/>
                    <a:p>
                      <a:endParaRPr kumimoji="1" lang="ja-JP" altLang="en-US"/>
                    </a:p>
                  </a:txBody>
                  <a:tcPr/>
                </a:tc>
                <a:tc>
                  <a:txBody>
                    <a:bodyPr/>
                    <a:lstStyle/>
                    <a:p>
                      <a:pPr marL="0" indent="0" algn="just">
                        <a:lnSpc>
                          <a:spcPts val="1400"/>
                        </a:lnSpc>
                        <a:buNone/>
                      </a:pPr>
                      <a:r>
                        <a:rPr lang="ja-JP" altLang="en-US" sz="1050" u="sng" dirty="0">
                          <a:latin typeface="Meiryo UI" panose="020B0604030504040204" pitchFamily="50" charset="-128"/>
                          <a:ea typeface="Meiryo UI" panose="020B0604030504040204" pitchFamily="50" charset="-128"/>
                        </a:rPr>
                        <a:t>●</a:t>
                      </a:r>
                      <a:r>
                        <a:rPr lang="en-US" altLang="ja-JP" sz="1050" u="sng" dirty="0">
                          <a:latin typeface="Meiryo UI" panose="020B0604030504040204" pitchFamily="50" charset="-128"/>
                          <a:ea typeface="Meiryo UI" panose="020B0604030504040204" pitchFamily="50" charset="-128"/>
                        </a:rPr>
                        <a:t>ASEAN</a:t>
                      </a:r>
                      <a:r>
                        <a:rPr lang="ja-JP" altLang="en-US" sz="1050" u="sng" dirty="0">
                          <a:latin typeface="Meiryo UI" panose="020B0604030504040204" pitchFamily="50" charset="-128"/>
                          <a:ea typeface="Meiryo UI" panose="020B0604030504040204" pitchFamily="50" charset="-128"/>
                        </a:rPr>
                        <a:t>外食市場の拡大</a:t>
                      </a:r>
                      <a:r>
                        <a:rPr lang="en-US" altLang="ja-JP" sz="1050" u="sng" dirty="0">
                          <a:latin typeface="Meiryo UI" panose="020B0604030504040204" pitchFamily="50" charset="-128"/>
                          <a:ea typeface="Meiryo UI" panose="020B0604030504040204" pitchFamily="50" charset="-128"/>
                        </a:rPr>
                        <a:t>×</a:t>
                      </a:r>
                      <a:r>
                        <a:rPr lang="ja-JP" altLang="en-US" sz="1050" u="sng" dirty="0">
                          <a:latin typeface="Meiryo UI" panose="020B0604030504040204" pitchFamily="50" charset="-128"/>
                          <a:ea typeface="Meiryo UI" panose="020B0604030504040204" pitchFamily="50" charset="-128"/>
                        </a:rPr>
                        <a:t>デジタル接点増加：</a:t>
                      </a:r>
                      <a:endParaRPr lang="en-US" altLang="ja-JP" sz="1050" u="sng" dirty="0">
                        <a:latin typeface="Meiryo UI" panose="020B0604030504040204" pitchFamily="50" charset="-128"/>
                        <a:ea typeface="Meiryo UI" panose="020B0604030504040204" pitchFamily="50" charset="-128"/>
                      </a:endParaRPr>
                    </a:p>
                    <a:p>
                      <a:pPr marL="0" indent="0" algn="just">
                        <a:lnSpc>
                          <a:spcPts val="1400"/>
                        </a:lnSpc>
                        <a:buNone/>
                      </a:pPr>
                      <a:r>
                        <a:rPr lang="ja-JP" altLang="en-US" sz="1050" dirty="0">
                          <a:latin typeface="Meiryo UI" panose="020B0604030504040204" pitchFamily="50" charset="-128"/>
                          <a:ea typeface="Meiryo UI" panose="020B0604030504040204" pitchFamily="50" charset="-128"/>
                        </a:rPr>
                        <a:t>若年人口・都市化と</a:t>
                      </a:r>
                      <a:r>
                        <a:rPr lang="en-US" altLang="ja-JP" sz="1050" dirty="0">
                          <a:latin typeface="Meiryo UI" panose="020B0604030504040204" pitchFamily="50" charset="-128"/>
                          <a:ea typeface="Meiryo UI" panose="020B0604030504040204" pitchFamily="50" charset="-128"/>
                        </a:rPr>
                        <a:t>EC</a:t>
                      </a:r>
                      <a:r>
                        <a:rPr lang="ja-JP" altLang="en-US" sz="1050" dirty="0">
                          <a:latin typeface="Meiryo UI" panose="020B0604030504040204" pitchFamily="50" charset="-128"/>
                          <a:ea typeface="Meiryo UI" panose="020B0604030504040204" pitchFamily="50" charset="-128"/>
                        </a:rPr>
                        <a:t>／</a:t>
                      </a:r>
                      <a:r>
                        <a:rPr lang="en-US" altLang="ja-JP" sz="1050" dirty="0">
                          <a:latin typeface="Meiryo UI" panose="020B0604030504040204" pitchFamily="50" charset="-128"/>
                          <a:ea typeface="Meiryo UI" panose="020B0604030504040204" pitchFamily="50" charset="-128"/>
                        </a:rPr>
                        <a:t>SNS</a:t>
                      </a:r>
                      <a:r>
                        <a:rPr lang="ja-JP" altLang="en-US" sz="1050" dirty="0">
                          <a:latin typeface="Meiryo UI" panose="020B0604030504040204" pitchFamily="50" charset="-128"/>
                          <a:ea typeface="Meiryo UI" panose="020B0604030504040204" pitchFamily="50" charset="-128"/>
                        </a:rPr>
                        <a:t>の進展で、上質ノンアルの業務採用余地が拡大。</a:t>
                      </a:r>
                      <a:endParaRPr lang="en-US" altLang="ja-JP" sz="1050" u="sng" kern="100" spc="10" dirty="0">
                        <a:solidFill>
                          <a:schemeClr val="tx1"/>
                        </a:solidFill>
                        <a:effectLst/>
                        <a:latin typeface="Meiryo UI" panose="020B0604030504040204" pitchFamily="50" charset="-128"/>
                        <a:ea typeface="Meiryo UI" panose="020B0604030504040204" pitchFamily="50" charset="-128"/>
                      </a:endParaRPr>
                    </a:p>
                  </a:txBody>
                  <a:tcPr marL="34321" marR="343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indent="0" algn="just">
                        <a:lnSpc>
                          <a:spcPts val="1400"/>
                        </a:lnSpc>
                        <a:buNone/>
                      </a:pPr>
                      <a:r>
                        <a:rPr lang="ja-JP" altLang="en-US" sz="1050" u="sng" dirty="0">
                          <a:latin typeface="Meiryo UI" panose="020B0604030504040204" pitchFamily="50" charset="-128"/>
                          <a:ea typeface="Meiryo UI" panose="020B0604030504040204" pitchFamily="50" charset="-128"/>
                        </a:rPr>
                        <a:t>●コスト高・為替変動 </a:t>
                      </a:r>
                      <a:r>
                        <a:rPr lang="en-US" altLang="ja-JP" sz="1050" u="sng" dirty="0">
                          <a:latin typeface="Meiryo UI" panose="020B0604030504040204" pitchFamily="50" charset="-128"/>
                          <a:ea typeface="Meiryo UI" panose="020B0604030504040204" pitchFamily="50" charset="-128"/>
                        </a:rPr>
                        <a:t>× </a:t>
                      </a:r>
                      <a:r>
                        <a:rPr lang="ja-JP" altLang="en-US" sz="1050" u="sng" dirty="0">
                          <a:latin typeface="Meiryo UI" panose="020B0604030504040204" pitchFamily="50" charset="-128"/>
                          <a:ea typeface="Meiryo UI" panose="020B0604030504040204" pitchFamily="50" charset="-128"/>
                        </a:rPr>
                        <a:t>物流遅延：</a:t>
                      </a:r>
                      <a:endParaRPr lang="en-US" altLang="ja-JP" sz="1050" u="sng" dirty="0">
                        <a:latin typeface="Meiryo UI" panose="020B0604030504040204" pitchFamily="50" charset="-128"/>
                        <a:ea typeface="Meiryo UI" panose="020B0604030504040204" pitchFamily="50" charset="-128"/>
                      </a:endParaRPr>
                    </a:p>
                    <a:p>
                      <a:pPr marL="0" indent="0" algn="just">
                        <a:lnSpc>
                          <a:spcPts val="1400"/>
                        </a:lnSpc>
                        <a:buNone/>
                      </a:pPr>
                      <a:r>
                        <a:rPr lang="ja-JP" altLang="en-US" sz="1050" dirty="0">
                          <a:latin typeface="Meiryo UI" panose="020B0604030504040204" pitchFamily="50" charset="-128"/>
                          <a:ea typeface="Meiryo UI" panose="020B0604030504040204" pitchFamily="50" charset="-128"/>
                        </a:rPr>
                        <a:t>運賃・資材・電力高と為替変動、規制変更で</a:t>
                      </a:r>
                      <a:r>
                        <a:rPr lang="en-US" altLang="ja-JP" sz="1050" dirty="0">
                          <a:latin typeface="Meiryo UI" panose="020B0604030504040204" pitchFamily="50" charset="-128"/>
                          <a:ea typeface="Meiryo UI" panose="020B0604030504040204" pitchFamily="50" charset="-128"/>
                        </a:rPr>
                        <a:t>LT</a:t>
                      </a:r>
                      <a:r>
                        <a:rPr lang="ja-JP" altLang="en-US" sz="1050" dirty="0">
                          <a:latin typeface="Meiryo UI" panose="020B0604030504040204" pitchFamily="50" charset="-128"/>
                          <a:ea typeface="Meiryo UI" panose="020B0604030504040204" pitchFamily="50" charset="-128"/>
                        </a:rPr>
                        <a:t>延伸・ロット肥大が進み、原価・品質リスクが増大。</a:t>
                      </a:r>
                      <a:endParaRPr lang="ja-JP" sz="1050" kern="10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4321" marR="343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730994891"/>
                  </a:ext>
                </a:extLst>
              </a:tr>
              <a:tr h="1249128">
                <a:tc>
                  <a:txBody>
                    <a:bodyPr/>
                    <a:lstStyle/>
                    <a:p>
                      <a:pPr marL="190500" indent="-63500" algn="ctr">
                        <a:lnSpc>
                          <a:spcPts val="1600"/>
                        </a:lnSpc>
                        <a:buNone/>
                      </a:pPr>
                      <a:r>
                        <a:rPr lang="ja-JP" sz="1200" kern="100" spc="10" dirty="0">
                          <a:solidFill>
                            <a:schemeClr val="tx1"/>
                          </a:solidFill>
                          <a:effectLst/>
                          <a:latin typeface="Meiryo UI" panose="020B0604030504040204" pitchFamily="50" charset="-128"/>
                          <a:ea typeface="Meiryo UI" panose="020B0604030504040204" pitchFamily="50" charset="-128"/>
                        </a:rPr>
                        <a:t>強み</a:t>
                      </a:r>
                      <a:endParaRPr lang="ja-JP" sz="1200" kern="100" spc="1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4321" marR="34321" marT="0" marB="0" vert="eaVert"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138430" indent="-138430" algn="just">
                        <a:lnSpc>
                          <a:spcPts val="1400"/>
                        </a:lnSpc>
                        <a:buNone/>
                      </a:pPr>
                      <a:r>
                        <a:rPr lang="ja-JP" altLang="en-US" sz="1050" u="sng" dirty="0">
                          <a:latin typeface="Meiryo UI" panose="020B0604030504040204" pitchFamily="50" charset="-128"/>
                          <a:ea typeface="Meiryo UI" panose="020B0604030504040204" pitchFamily="50" charset="-128"/>
                        </a:rPr>
                        <a:t>●</a:t>
                      </a:r>
                      <a:r>
                        <a:rPr lang="en-US" altLang="ja-JP" sz="1050" u="sng" dirty="0">
                          <a:latin typeface="Meiryo UI" panose="020B0604030504040204" pitchFamily="50" charset="-128"/>
                          <a:ea typeface="Meiryo UI" panose="020B0604030504040204" pitchFamily="50" charset="-128"/>
                        </a:rPr>
                        <a:t>130</a:t>
                      </a:r>
                      <a:r>
                        <a:rPr lang="ja-JP" altLang="en-US" sz="1050" u="sng" dirty="0">
                          <a:latin typeface="Meiryo UI" panose="020B0604030504040204" pitchFamily="50" charset="-128"/>
                          <a:ea typeface="Meiryo UI" panose="020B0604030504040204" pitchFamily="50" charset="-128"/>
                        </a:rPr>
                        <a:t>年の味づくり：</a:t>
                      </a:r>
                      <a:endParaRPr lang="en-US" altLang="ja-JP" sz="1050" u="sng" dirty="0">
                        <a:latin typeface="Meiryo UI" panose="020B0604030504040204" pitchFamily="50" charset="-128"/>
                        <a:ea typeface="Meiryo UI" panose="020B0604030504040204" pitchFamily="50" charset="-128"/>
                      </a:endParaRPr>
                    </a:p>
                    <a:p>
                      <a:pPr marL="0" indent="0" algn="just">
                        <a:lnSpc>
                          <a:spcPts val="1400"/>
                        </a:lnSpc>
                        <a:buNone/>
                      </a:pPr>
                      <a:r>
                        <a:rPr lang="ja-JP" altLang="en-US" sz="1050" dirty="0">
                          <a:latin typeface="Meiryo UI" panose="020B0604030504040204" pitchFamily="50" charset="-128"/>
                          <a:ea typeface="Meiryo UI" panose="020B0604030504040204" pitchFamily="50" charset="-128"/>
                        </a:rPr>
                        <a:t>紅茶・果汁・ハーブ等を組み合わせ、香味・泡感まで最適化できる配合・味設計・生産技術。</a:t>
                      </a:r>
                    </a:p>
                    <a:p>
                      <a:pPr marL="138430" indent="-138430" algn="just">
                        <a:lnSpc>
                          <a:spcPts val="1400"/>
                        </a:lnSpc>
                        <a:buNone/>
                      </a:pPr>
                      <a:r>
                        <a:rPr lang="ja-JP" altLang="en-US" sz="1050" u="sng" dirty="0">
                          <a:latin typeface="Meiryo UI" panose="020B0604030504040204" pitchFamily="50" charset="-128"/>
                          <a:ea typeface="Meiryo UI" panose="020B0604030504040204" pitchFamily="50" charset="-128"/>
                        </a:rPr>
                        <a:t>●高い品質認証</a:t>
                      </a:r>
                      <a:r>
                        <a:rPr lang="en-US" altLang="ja-JP" sz="1050" u="sng" dirty="0">
                          <a:latin typeface="Meiryo UI" panose="020B0604030504040204" pitchFamily="50" charset="-128"/>
                          <a:ea typeface="Meiryo UI" panose="020B0604030504040204" pitchFamily="50" charset="-128"/>
                        </a:rPr>
                        <a:t>×</a:t>
                      </a:r>
                      <a:r>
                        <a:rPr lang="ja-JP" altLang="en-US" sz="1050" u="sng" dirty="0">
                          <a:latin typeface="Meiryo UI" panose="020B0604030504040204" pitchFamily="50" charset="-128"/>
                          <a:ea typeface="Meiryo UI" panose="020B0604030504040204" pitchFamily="50" charset="-128"/>
                        </a:rPr>
                        <a:t>富山の水：</a:t>
                      </a:r>
                      <a:endParaRPr lang="en-US" altLang="ja-JP" sz="1050" u="sng" dirty="0">
                        <a:latin typeface="Meiryo UI" panose="020B0604030504040204" pitchFamily="50" charset="-128"/>
                        <a:ea typeface="Meiryo UI" panose="020B0604030504040204" pitchFamily="50" charset="-128"/>
                      </a:endParaRPr>
                    </a:p>
                    <a:p>
                      <a:pPr marL="0" indent="0" algn="just">
                        <a:lnSpc>
                          <a:spcPts val="1400"/>
                        </a:lnSpc>
                        <a:buNone/>
                      </a:pPr>
                      <a:r>
                        <a:rPr lang="en-US" altLang="ja-JP" sz="1050" dirty="0">
                          <a:latin typeface="Meiryo UI" panose="020B0604030504040204" pitchFamily="50" charset="-128"/>
                          <a:ea typeface="Meiryo UI" panose="020B0604030504040204" pitchFamily="50" charset="-128"/>
                        </a:rPr>
                        <a:t>FSSC22000</a:t>
                      </a:r>
                      <a:r>
                        <a:rPr lang="ja-JP" altLang="en-US" sz="1050" dirty="0">
                          <a:latin typeface="Meiryo UI" panose="020B0604030504040204" pitchFamily="50" charset="-128"/>
                          <a:ea typeface="Meiryo UI" panose="020B0604030504040204" pitchFamily="50" charset="-128"/>
                        </a:rPr>
                        <a:t>等の品質認証に裏打ちされた再現性・安全性。</a:t>
                      </a:r>
                    </a:p>
                    <a:p>
                      <a:pPr marL="138430" indent="-138430" algn="just">
                        <a:lnSpc>
                          <a:spcPts val="1400"/>
                        </a:lnSpc>
                        <a:buNone/>
                      </a:pPr>
                      <a:r>
                        <a:rPr lang="ja-JP" altLang="en-US" sz="1050" u="sng" dirty="0">
                          <a:latin typeface="Meiryo UI" panose="020B0604030504040204" pitchFamily="50" charset="-128"/>
                          <a:ea typeface="Meiryo UI" panose="020B0604030504040204" pitchFamily="50" charset="-128"/>
                        </a:rPr>
                        <a:t>●小ロット</a:t>
                      </a:r>
                      <a:r>
                        <a:rPr lang="en-US" altLang="ja-JP" sz="1050" u="sng" dirty="0">
                          <a:latin typeface="Meiryo UI" panose="020B0604030504040204" pitchFamily="50" charset="-128"/>
                          <a:ea typeface="Meiryo UI" panose="020B0604030504040204" pitchFamily="50" charset="-128"/>
                        </a:rPr>
                        <a:t>×</a:t>
                      </a:r>
                      <a:r>
                        <a:rPr lang="ja-JP" altLang="en-US" sz="1050" u="sng" dirty="0">
                          <a:latin typeface="Meiryo UI" panose="020B0604030504040204" pitchFamily="50" charset="-128"/>
                          <a:ea typeface="Meiryo UI" panose="020B0604030504040204" pitchFamily="50" charset="-128"/>
                        </a:rPr>
                        <a:t>生産供給体制：</a:t>
                      </a:r>
                      <a:endParaRPr lang="en-US" altLang="ja-JP" sz="1050" u="sng" dirty="0">
                        <a:latin typeface="Meiryo UI" panose="020B0604030504040204" pitchFamily="50" charset="-128"/>
                        <a:ea typeface="Meiryo UI" panose="020B0604030504040204" pitchFamily="50" charset="-128"/>
                      </a:endParaRPr>
                    </a:p>
                    <a:p>
                      <a:pPr marL="138430" indent="-138430" algn="just">
                        <a:lnSpc>
                          <a:spcPts val="1400"/>
                        </a:lnSpc>
                        <a:buNone/>
                      </a:pPr>
                      <a:r>
                        <a:rPr lang="ja-JP" altLang="en-US" sz="1050" dirty="0">
                          <a:latin typeface="Meiryo UI" panose="020B0604030504040204" pitchFamily="50" charset="-128"/>
                          <a:ea typeface="Meiryo UI" panose="020B0604030504040204" pitchFamily="50" charset="-128"/>
                        </a:rPr>
                        <a:t>切替の速い試作～量産と受託実績に基づく柔軟な供給体制。</a:t>
                      </a:r>
                      <a:endParaRPr lang="ja-JP" sz="1050" kern="100" spc="1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4321" marR="343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rowSpan="2" gridSpan="2">
                  <a:txBody>
                    <a:bodyPr/>
                    <a:lstStyle/>
                    <a:p>
                      <a:pPr marL="0" lvl="0" indent="134938" algn="just">
                        <a:lnSpc>
                          <a:spcPts val="1400"/>
                        </a:lnSpc>
                        <a:buNone/>
                      </a:pPr>
                      <a:r>
                        <a:rPr lang="ja-JP" altLang="en-US" sz="1050" kern="100" spc="10" dirty="0">
                          <a:solidFill>
                            <a:schemeClr val="tx1"/>
                          </a:solidFill>
                          <a:effectLst/>
                          <a:latin typeface="Meiryo UI" panose="020B0604030504040204" pitchFamily="50" charset="-128"/>
                          <a:ea typeface="Meiryo UI" panose="020B0604030504040204" pitchFamily="50" charset="-128"/>
                        </a:rPr>
                        <a:t>強みである</a:t>
                      </a:r>
                      <a:r>
                        <a:rPr lang="en-US" altLang="ja-JP" sz="1050" kern="100" spc="10" dirty="0">
                          <a:solidFill>
                            <a:schemeClr val="tx1"/>
                          </a:solidFill>
                          <a:effectLst/>
                          <a:latin typeface="Meiryo UI" panose="020B0604030504040204" pitchFamily="50" charset="-128"/>
                          <a:ea typeface="Meiryo UI" panose="020B0604030504040204" pitchFamily="50" charset="-128"/>
                        </a:rPr>
                        <a:t>130</a:t>
                      </a:r>
                      <a:r>
                        <a:rPr lang="ja-JP" altLang="en-US" sz="1050" kern="100" spc="10" dirty="0">
                          <a:solidFill>
                            <a:schemeClr val="tx1"/>
                          </a:solidFill>
                          <a:effectLst/>
                          <a:latin typeface="Meiryo UI" panose="020B0604030504040204" pitchFamily="50" charset="-128"/>
                          <a:ea typeface="Meiryo UI" panose="020B0604030504040204" pitchFamily="50" charset="-128"/>
                        </a:rPr>
                        <a:t>年の配合・味設計と富山の名水</a:t>
                      </a:r>
                      <a:r>
                        <a:rPr lang="en-US" altLang="ja-JP" sz="1050" kern="100" spc="10" dirty="0">
                          <a:solidFill>
                            <a:schemeClr val="tx1"/>
                          </a:solidFill>
                          <a:effectLst/>
                          <a:latin typeface="Meiryo UI" panose="020B0604030504040204" pitchFamily="50" charset="-128"/>
                          <a:ea typeface="Meiryo UI" panose="020B0604030504040204" pitchFamily="50" charset="-128"/>
                        </a:rPr>
                        <a:t>×</a:t>
                      </a:r>
                      <a:r>
                        <a:rPr lang="ja-JP" altLang="en-US" sz="1050" kern="100" spc="10" dirty="0">
                          <a:solidFill>
                            <a:schemeClr val="tx1"/>
                          </a:solidFill>
                          <a:effectLst/>
                          <a:latin typeface="Meiryo UI" panose="020B0604030504040204" pitchFamily="50" charset="-128"/>
                          <a:ea typeface="Meiryo UI" panose="020B0604030504040204" pitchFamily="50" charset="-128"/>
                        </a:rPr>
                        <a:t>品質認証、小ロット対応の供給体制を核に、ベトナムで</a:t>
                      </a:r>
                      <a:r>
                        <a:rPr lang="en-US" altLang="ja-JP" sz="1050" kern="100" spc="10" dirty="0">
                          <a:solidFill>
                            <a:schemeClr val="tx1"/>
                          </a:solidFill>
                          <a:effectLst/>
                          <a:latin typeface="Meiryo UI" panose="020B0604030504040204" pitchFamily="50" charset="-128"/>
                          <a:ea typeface="Meiryo UI" panose="020B0604030504040204" pitchFamily="50" charset="-128"/>
                        </a:rPr>
                        <a:t>B2B</a:t>
                      </a:r>
                      <a:r>
                        <a:rPr lang="ja-JP" altLang="en-US" sz="1050" kern="100" spc="10" dirty="0">
                          <a:solidFill>
                            <a:schemeClr val="tx1"/>
                          </a:solidFill>
                          <a:effectLst/>
                          <a:latin typeface="Meiryo UI" panose="020B0604030504040204" pitchFamily="50" charset="-128"/>
                          <a:ea typeface="Meiryo UI" panose="020B0604030504040204" pitchFamily="50" charset="-128"/>
                        </a:rPr>
                        <a:t>特化の統合型越境</a:t>
                      </a:r>
                      <a:r>
                        <a:rPr lang="en-US" altLang="ja-JP" sz="1050" kern="100" spc="10" dirty="0">
                          <a:solidFill>
                            <a:schemeClr val="tx1"/>
                          </a:solidFill>
                          <a:effectLst/>
                          <a:latin typeface="Meiryo UI" panose="020B0604030504040204" pitchFamily="50" charset="-128"/>
                          <a:ea typeface="Meiryo UI" panose="020B0604030504040204" pitchFamily="50" charset="-128"/>
                        </a:rPr>
                        <a:t>EC</a:t>
                      </a:r>
                      <a:r>
                        <a:rPr lang="ja-JP" altLang="en-US" sz="1050" kern="100" spc="10" dirty="0">
                          <a:solidFill>
                            <a:schemeClr val="tx1"/>
                          </a:solidFill>
                          <a:effectLst/>
                          <a:latin typeface="Meiryo UI" panose="020B0604030504040204" pitchFamily="50" charset="-128"/>
                          <a:ea typeface="Meiryo UI" panose="020B0604030504040204" pitchFamily="50" charset="-128"/>
                        </a:rPr>
                        <a:t>を確立。</a:t>
                      </a:r>
                      <a:endParaRPr lang="en-US" altLang="ja-JP" sz="1050" kern="100" spc="10" dirty="0">
                        <a:solidFill>
                          <a:schemeClr val="tx1"/>
                        </a:solidFill>
                        <a:effectLst/>
                        <a:latin typeface="Meiryo UI" panose="020B0604030504040204" pitchFamily="50" charset="-128"/>
                        <a:ea typeface="Meiryo UI" panose="020B0604030504040204" pitchFamily="50" charset="-128"/>
                      </a:endParaRPr>
                    </a:p>
                    <a:p>
                      <a:pPr marL="0" lvl="0" indent="134938" algn="just">
                        <a:lnSpc>
                          <a:spcPts val="1400"/>
                        </a:lnSpc>
                        <a:buNone/>
                      </a:pPr>
                      <a:r>
                        <a:rPr lang="ja-JP" altLang="en-US" sz="1050" kern="100" spc="10" dirty="0">
                          <a:solidFill>
                            <a:schemeClr val="tx1"/>
                          </a:solidFill>
                          <a:effectLst/>
                          <a:latin typeface="Meiryo UI" panose="020B0604030504040204" pitchFamily="50" charset="-128"/>
                          <a:ea typeface="Meiryo UI" panose="020B0604030504040204" pitchFamily="50" charset="-128"/>
                        </a:rPr>
                        <a:t>受注→在庫引当→出荷指示→商業インボイス／</a:t>
                      </a:r>
                      <a:r>
                        <a:rPr lang="en-US" altLang="ja-JP" sz="1050" kern="100" spc="10" dirty="0">
                          <a:solidFill>
                            <a:schemeClr val="tx1"/>
                          </a:solidFill>
                          <a:effectLst/>
                          <a:latin typeface="Meiryo UI" panose="020B0604030504040204" pitchFamily="50" charset="-128"/>
                          <a:ea typeface="Meiryo UI" panose="020B0604030504040204" pitchFamily="50" charset="-128"/>
                        </a:rPr>
                        <a:t>PL</a:t>
                      </a:r>
                      <a:r>
                        <a:rPr lang="ja-JP" altLang="en-US" sz="1050" kern="100" spc="10" dirty="0">
                          <a:solidFill>
                            <a:schemeClr val="tx1"/>
                          </a:solidFill>
                          <a:effectLst/>
                          <a:latin typeface="Meiryo UI" panose="020B0604030504040204" pitchFamily="50" charset="-128"/>
                          <a:ea typeface="Meiryo UI" panose="020B0604030504040204" pitchFamily="50" charset="-128"/>
                        </a:rPr>
                        <a:t>自動→出荷情報までを一体運用し、価格・</a:t>
                      </a:r>
                      <a:r>
                        <a:rPr lang="en-US" altLang="ja-JP" sz="1050" kern="100" spc="10" dirty="0">
                          <a:solidFill>
                            <a:schemeClr val="tx1"/>
                          </a:solidFill>
                          <a:effectLst/>
                          <a:latin typeface="Meiryo UI" panose="020B0604030504040204" pitchFamily="50" charset="-128"/>
                          <a:ea typeface="Meiryo UI" panose="020B0604030504040204" pitchFamily="50" charset="-128"/>
                        </a:rPr>
                        <a:t>MOQ</a:t>
                      </a:r>
                      <a:r>
                        <a:rPr lang="ja-JP" altLang="en-US" sz="1050" kern="100" spc="10" dirty="0">
                          <a:solidFill>
                            <a:schemeClr val="tx1"/>
                          </a:solidFill>
                          <a:effectLst/>
                          <a:latin typeface="Meiryo UI" panose="020B0604030504040204" pitchFamily="50" charset="-128"/>
                          <a:ea typeface="Meiryo UI" panose="020B0604030504040204" pitchFamily="50" charset="-128"/>
                        </a:rPr>
                        <a:t>・納期・返品をテンプレ化。高温多湿を見据えた包装・印字で品質を担保し、競争下でも再現性と原価安定を確保する。</a:t>
                      </a:r>
                      <a:endParaRPr lang="en-US" altLang="ja-JP" sz="1050" kern="100" spc="10" dirty="0">
                        <a:solidFill>
                          <a:schemeClr val="tx1"/>
                        </a:solidFill>
                        <a:effectLst/>
                        <a:latin typeface="Meiryo UI" panose="020B0604030504040204" pitchFamily="50" charset="-128"/>
                        <a:ea typeface="Meiryo UI" panose="020B0604030504040204" pitchFamily="50" charset="-128"/>
                      </a:endParaRPr>
                    </a:p>
                    <a:p>
                      <a:pPr marL="0" lvl="0" indent="134938" algn="just">
                        <a:lnSpc>
                          <a:spcPts val="1400"/>
                        </a:lnSpc>
                        <a:buNone/>
                      </a:pPr>
                      <a:endParaRPr lang="en-US" altLang="ja-JP" sz="1050" kern="100" spc="10" dirty="0">
                        <a:solidFill>
                          <a:schemeClr val="tx1"/>
                        </a:solidFill>
                        <a:effectLst/>
                        <a:latin typeface="Meiryo UI" panose="020B0604030504040204" pitchFamily="50" charset="-128"/>
                        <a:ea typeface="Meiryo UI" panose="020B0604030504040204" pitchFamily="50" charset="-128"/>
                      </a:endParaRPr>
                    </a:p>
                    <a:p>
                      <a:pPr marL="0" lvl="0" indent="134938" algn="just">
                        <a:lnSpc>
                          <a:spcPts val="1400"/>
                        </a:lnSpc>
                        <a:buNone/>
                      </a:pPr>
                      <a:r>
                        <a:rPr lang="ja-JP" altLang="en-US" sz="1050" kern="100" spc="10" dirty="0">
                          <a:solidFill>
                            <a:schemeClr val="tx1"/>
                          </a:solidFill>
                          <a:effectLst/>
                          <a:latin typeface="Meiryo UI" panose="020B0604030504040204" pitchFamily="50" charset="-128"/>
                          <a:ea typeface="Meiryo UI" panose="020B0604030504040204" pitchFamily="50" charset="-128"/>
                        </a:rPr>
                        <a:t>弱みである海外比率の低さ／商社依存を、ベトナム起点の自前プラットフォームで解消。法規制や物流・商習慣への対応、現地販売・流通チャネルの確立、顧客サポート体制の“共通の型”を整備する。</a:t>
                      </a:r>
                      <a:endParaRPr lang="en-US" altLang="ja-JP" sz="1050" kern="100" spc="10" dirty="0">
                        <a:solidFill>
                          <a:schemeClr val="tx1"/>
                        </a:solidFill>
                        <a:effectLst/>
                        <a:latin typeface="Meiryo UI" panose="020B0604030504040204" pitchFamily="50" charset="-128"/>
                        <a:ea typeface="Meiryo UI" panose="020B0604030504040204" pitchFamily="50" charset="-128"/>
                      </a:endParaRPr>
                    </a:p>
                    <a:p>
                      <a:pPr marL="0" lvl="0" indent="134938" algn="just">
                        <a:lnSpc>
                          <a:spcPts val="1400"/>
                        </a:lnSpc>
                        <a:buNone/>
                      </a:pPr>
                      <a:r>
                        <a:rPr lang="ja-JP" altLang="en-US" sz="1050" kern="100" spc="10" dirty="0">
                          <a:solidFill>
                            <a:schemeClr val="tx1"/>
                          </a:solidFill>
                          <a:effectLst/>
                          <a:latin typeface="Meiryo UI" panose="020B0604030504040204" pitchFamily="50" charset="-128"/>
                          <a:ea typeface="Meiryo UI" panose="020B0604030504040204" pitchFamily="50" charset="-128"/>
                        </a:rPr>
                        <a:t>これらの取組により、各国へ横展開可能な海外展開の基礎を構築し、経営の安定性を高める。</a:t>
                      </a:r>
                      <a:endParaRPr lang="ja-JP" sz="1050" u="none" kern="100" spc="1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4321" marR="343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endParaRPr kumimoji="1" lang="ja-JP" altLang="en-US"/>
                    </a:p>
                  </a:txBody>
                  <a:tcPr/>
                </a:tc>
                <a:extLst>
                  <a:ext uri="{0D108BD9-81ED-4DB2-BD59-A6C34878D82A}">
                    <a16:rowId xmlns:a16="http://schemas.microsoft.com/office/drawing/2014/main" val="3116435779"/>
                  </a:ext>
                </a:extLst>
              </a:tr>
              <a:tr h="545867">
                <a:tc>
                  <a:txBody>
                    <a:bodyPr/>
                    <a:lstStyle/>
                    <a:p>
                      <a:pPr marL="190500" indent="-63500" algn="ctr">
                        <a:lnSpc>
                          <a:spcPts val="1600"/>
                        </a:lnSpc>
                        <a:buNone/>
                      </a:pPr>
                      <a:r>
                        <a:rPr lang="ja-JP" sz="1200" kern="100" spc="10" dirty="0">
                          <a:solidFill>
                            <a:schemeClr val="tx1"/>
                          </a:solidFill>
                          <a:effectLst/>
                          <a:latin typeface="Meiryo UI" panose="020B0604030504040204" pitchFamily="50" charset="-128"/>
                          <a:ea typeface="Meiryo UI" panose="020B0604030504040204" pitchFamily="50" charset="-128"/>
                        </a:rPr>
                        <a:t>弱み</a:t>
                      </a:r>
                      <a:endParaRPr lang="ja-JP" sz="1200" kern="100" spc="1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4321" marR="34321" marT="0" marB="0" vert="eaVert"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127000" indent="-127000" algn="just">
                        <a:lnSpc>
                          <a:spcPts val="1400"/>
                        </a:lnSpc>
                        <a:buNone/>
                      </a:pPr>
                      <a:r>
                        <a:rPr lang="ja-JP" altLang="en-US" sz="1050" u="sng" dirty="0">
                          <a:latin typeface="Meiryo UI" panose="020B0604030504040204" pitchFamily="50" charset="-128"/>
                          <a:ea typeface="Meiryo UI" panose="020B0604030504040204" pitchFamily="50" charset="-128"/>
                        </a:rPr>
                        <a:t>●地域分散の不足と海外比率の低さ：</a:t>
                      </a:r>
                      <a:endParaRPr lang="en-US" altLang="ja-JP" sz="1050" u="sng" dirty="0">
                        <a:latin typeface="Meiryo UI" panose="020B0604030504040204" pitchFamily="50" charset="-128"/>
                        <a:ea typeface="Meiryo UI" panose="020B0604030504040204" pitchFamily="50" charset="-128"/>
                      </a:endParaRPr>
                    </a:p>
                    <a:p>
                      <a:pPr marL="0" indent="0" algn="just">
                        <a:lnSpc>
                          <a:spcPts val="1400"/>
                        </a:lnSpc>
                        <a:buNone/>
                      </a:pPr>
                      <a:r>
                        <a:rPr lang="ja-JP" altLang="en-US" sz="1050" dirty="0">
                          <a:latin typeface="Meiryo UI" panose="020B0604030504040204" pitchFamily="50" charset="-128"/>
                          <a:ea typeface="Meiryo UI" panose="020B0604030504040204" pitchFamily="50" charset="-128"/>
                        </a:rPr>
                        <a:t>海外売上は</a:t>
                      </a:r>
                      <a:r>
                        <a:rPr lang="en-US" altLang="ja-JP" sz="1050" dirty="0">
                          <a:latin typeface="Meiryo UI" panose="020B0604030504040204" pitchFamily="50" charset="-128"/>
                          <a:ea typeface="Meiryo UI" panose="020B0604030504040204" pitchFamily="50" charset="-128"/>
                        </a:rPr>
                        <a:t>1</a:t>
                      </a:r>
                      <a:r>
                        <a:rPr lang="ja-JP" altLang="en-US" sz="1050" dirty="0">
                          <a:latin typeface="Meiryo UI" panose="020B0604030504040204" pitchFamily="50" charset="-128"/>
                          <a:ea typeface="Meiryo UI" panose="020B0604030504040204" pitchFamily="50" charset="-128"/>
                        </a:rPr>
                        <a:t>％未満。国内縮小局面で成長機会の取り込みとリスク分散の観点で脆弱。</a:t>
                      </a:r>
                      <a:endParaRPr lang="ja-JP" sz="1050" kern="100" spc="1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4321" marR="343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gridSpan="2"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562861469"/>
                  </a:ext>
                </a:extLst>
              </a:tr>
            </a:tbl>
          </a:graphicData>
        </a:graphic>
      </p:graphicFrame>
      <p:sp>
        <p:nvSpPr>
          <p:cNvPr id="16" name="テキスト ボックス 15">
            <a:extLst>
              <a:ext uri="{FF2B5EF4-FFF2-40B4-BE49-F238E27FC236}">
                <a16:creationId xmlns:a16="http://schemas.microsoft.com/office/drawing/2014/main" id="{945E57C1-589D-1EBD-CF6F-680DA097A1C0}"/>
              </a:ext>
            </a:extLst>
          </p:cNvPr>
          <p:cNvSpPr txBox="1"/>
          <p:nvPr/>
        </p:nvSpPr>
        <p:spPr>
          <a:xfrm>
            <a:off x="6495" y="4127285"/>
            <a:ext cx="311554" cy="261025"/>
          </a:xfrm>
          <a:prstGeom prst="rect">
            <a:avLst/>
          </a:prstGeom>
          <a:solidFill>
            <a:srgbClr val="FFFF00"/>
          </a:solidFill>
        </p:spPr>
        <p:txBody>
          <a:bodyPr wrap="square" rtlCol="0">
            <a:spAutoFit/>
          </a:bodyPr>
          <a:lstStyle/>
          <a:p>
            <a:r>
              <a:rPr lang="ja-JP" altLang="en-US" sz="1050" b="1" dirty="0">
                <a:solidFill>
                  <a:srgbClr val="FF0000"/>
                </a:solidFill>
                <a:latin typeface="Meiryo UI" panose="020B0604030504040204" pitchFamily="50" charset="-128"/>
                <a:ea typeface="Meiryo UI" panose="020B0604030504040204" pitchFamily="50" charset="-128"/>
              </a:rPr>
              <a:t>②</a:t>
            </a:r>
          </a:p>
        </p:txBody>
      </p:sp>
      <p:sp>
        <p:nvSpPr>
          <p:cNvPr id="2" name="テキスト ボックス 1">
            <a:extLst>
              <a:ext uri="{FF2B5EF4-FFF2-40B4-BE49-F238E27FC236}">
                <a16:creationId xmlns:a16="http://schemas.microsoft.com/office/drawing/2014/main" id="{829E0754-513E-2A9B-5DAD-8DA63977FE2E}"/>
              </a:ext>
            </a:extLst>
          </p:cNvPr>
          <p:cNvSpPr txBox="1"/>
          <p:nvPr/>
        </p:nvSpPr>
        <p:spPr>
          <a:xfrm>
            <a:off x="1" y="30778"/>
            <a:ext cx="9143998" cy="246221"/>
          </a:xfrm>
          <a:prstGeom prst="rect">
            <a:avLst/>
          </a:prstGeom>
          <a:noFill/>
          <a:ln>
            <a:noFill/>
          </a:ln>
        </p:spPr>
        <p:txBody>
          <a:bodyPr wrap="square">
            <a:spAutoFit/>
          </a:bodyPr>
          <a:lstStyle/>
          <a:p>
            <a:pPr algn="ctr">
              <a:lnSpc>
                <a:spcPts val="1200"/>
              </a:lnSpc>
            </a:pPr>
            <a:r>
              <a:rPr lang="ja-JP" altLang="en-US" sz="1200" dirty="0">
                <a:latin typeface="Meiryo UI" panose="020B0604030504040204" pitchFamily="50" charset="-128"/>
                <a:ea typeface="Meiryo UI" panose="020B0604030504040204" pitchFamily="50" charset="-128"/>
              </a:rPr>
              <a:t>＜当社の歴史と事業内容＞</a:t>
            </a:r>
          </a:p>
        </p:txBody>
      </p:sp>
      <p:sp>
        <p:nvSpPr>
          <p:cNvPr id="3" name="テキスト ボックス 2">
            <a:extLst>
              <a:ext uri="{FF2B5EF4-FFF2-40B4-BE49-F238E27FC236}">
                <a16:creationId xmlns:a16="http://schemas.microsoft.com/office/drawing/2014/main" id="{2167FAC4-372A-4237-DAB1-88C9665909BC}"/>
              </a:ext>
            </a:extLst>
          </p:cNvPr>
          <p:cNvSpPr txBox="1"/>
          <p:nvPr/>
        </p:nvSpPr>
        <p:spPr>
          <a:xfrm>
            <a:off x="35075" y="305157"/>
            <a:ext cx="2697517" cy="246221"/>
          </a:xfrm>
          <a:prstGeom prst="rect">
            <a:avLst/>
          </a:prstGeom>
          <a:noFill/>
        </p:spPr>
        <p:txBody>
          <a:bodyPr wrap="square">
            <a:spAutoFit/>
          </a:bodyPr>
          <a:lstStyle/>
          <a:p>
            <a:pPr algn="ctr">
              <a:lnSpc>
                <a:spcPts val="1200"/>
              </a:lnSpc>
            </a:pPr>
            <a:r>
              <a:rPr lang="en-US" altLang="ja-JP" sz="1200" b="1" dirty="0">
                <a:latin typeface="Meiryo UI" panose="020B0604030504040204" pitchFamily="50" charset="-128"/>
                <a:ea typeface="Meiryo UI" panose="020B0604030504040204" pitchFamily="50" charset="-128"/>
              </a:rPr>
              <a:t>【</a:t>
            </a:r>
            <a:r>
              <a:rPr lang="ja-JP" altLang="en-US" sz="1200" b="1" dirty="0">
                <a:latin typeface="Meiryo UI" panose="020B0604030504040204" pitchFamily="50" charset="-128"/>
                <a:ea typeface="Meiryo UI" panose="020B0604030504040204" pitchFamily="50" charset="-128"/>
              </a:rPr>
              <a:t>ラムネとともに歩んだ当社の歴史</a:t>
            </a:r>
            <a:r>
              <a:rPr lang="en-US" altLang="ja-JP" sz="1200" b="1" dirty="0">
                <a:latin typeface="Meiryo UI" panose="020B0604030504040204" pitchFamily="50" charset="-128"/>
                <a:ea typeface="Meiryo UI" panose="020B0604030504040204" pitchFamily="50" charset="-128"/>
              </a:rPr>
              <a:t>】</a:t>
            </a:r>
            <a:endParaRPr lang="ja-JP" altLang="en-US" sz="1200" b="1"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07D97BCD-9F6C-50D5-06CF-9539B4B6B191}"/>
              </a:ext>
            </a:extLst>
          </p:cNvPr>
          <p:cNvSpPr txBox="1"/>
          <p:nvPr/>
        </p:nvSpPr>
        <p:spPr>
          <a:xfrm>
            <a:off x="2809875" y="288726"/>
            <a:ext cx="4956508" cy="250026"/>
          </a:xfrm>
          <a:prstGeom prst="rect">
            <a:avLst/>
          </a:prstGeom>
          <a:noFill/>
        </p:spPr>
        <p:txBody>
          <a:bodyPr wrap="square">
            <a:spAutoFit/>
          </a:bodyPr>
          <a:lstStyle/>
          <a:p>
            <a:pPr algn="ctr">
              <a:lnSpc>
                <a:spcPts val="1200"/>
              </a:lnSpc>
            </a:pPr>
            <a:r>
              <a:rPr lang="en-US" altLang="ja-JP" sz="1200" b="1" dirty="0">
                <a:latin typeface="Meiryo UI" panose="020B0604030504040204" pitchFamily="50" charset="-128"/>
                <a:ea typeface="Meiryo UI" panose="020B0604030504040204" pitchFamily="50" charset="-128"/>
              </a:rPr>
              <a:t>【</a:t>
            </a:r>
            <a:r>
              <a:rPr lang="ja-JP" altLang="en-US" sz="1200" b="1" dirty="0">
                <a:latin typeface="Meiryo UI" panose="020B0604030504040204" pitchFamily="50" charset="-128"/>
                <a:ea typeface="Meiryo UI" panose="020B0604030504040204" pitchFamily="50" charset="-128"/>
              </a:rPr>
              <a:t>自社商品ラインナップ</a:t>
            </a:r>
            <a:r>
              <a:rPr lang="en-US" altLang="ja-JP" sz="1200" b="1" dirty="0">
                <a:latin typeface="Meiryo UI" panose="020B0604030504040204" pitchFamily="50" charset="-128"/>
                <a:ea typeface="Meiryo UI" panose="020B0604030504040204" pitchFamily="50" charset="-128"/>
              </a:rPr>
              <a:t>】</a:t>
            </a:r>
            <a:endParaRPr lang="ja-JP" altLang="en-US" sz="1200" b="1" dirty="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694B3407-3962-CFD0-9DFB-315A4AD3B4DC}"/>
              </a:ext>
            </a:extLst>
          </p:cNvPr>
          <p:cNvSpPr txBox="1"/>
          <p:nvPr/>
        </p:nvSpPr>
        <p:spPr>
          <a:xfrm>
            <a:off x="7862637" y="288725"/>
            <a:ext cx="1215240" cy="246221"/>
          </a:xfrm>
          <a:prstGeom prst="rect">
            <a:avLst/>
          </a:prstGeom>
          <a:noFill/>
        </p:spPr>
        <p:txBody>
          <a:bodyPr wrap="square">
            <a:spAutoFit/>
          </a:bodyPr>
          <a:lstStyle/>
          <a:p>
            <a:pPr algn="ctr">
              <a:lnSpc>
                <a:spcPts val="1200"/>
              </a:lnSpc>
            </a:pPr>
            <a:r>
              <a:rPr lang="en-US" altLang="ja-JP" sz="1200" b="1" dirty="0">
                <a:latin typeface="Meiryo UI" panose="020B0604030504040204" pitchFamily="50" charset="-128"/>
                <a:ea typeface="Meiryo UI" panose="020B0604030504040204" pitchFamily="50" charset="-128"/>
              </a:rPr>
              <a:t>【</a:t>
            </a:r>
            <a:r>
              <a:rPr lang="ja-JP" altLang="en-US" sz="1200" b="1" dirty="0">
                <a:latin typeface="Meiryo UI" panose="020B0604030504040204" pitchFamily="50" charset="-128"/>
                <a:ea typeface="Meiryo UI" panose="020B0604030504040204" pitchFamily="50" charset="-128"/>
              </a:rPr>
              <a:t>品質認証</a:t>
            </a:r>
            <a:r>
              <a:rPr lang="en-US" altLang="ja-JP" sz="1200" b="1" dirty="0">
                <a:latin typeface="Meiryo UI" panose="020B0604030504040204" pitchFamily="50" charset="-128"/>
                <a:ea typeface="Meiryo UI" panose="020B0604030504040204" pitchFamily="50" charset="-128"/>
              </a:rPr>
              <a:t>】</a:t>
            </a:r>
            <a:endParaRPr lang="ja-JP" altLang="en-US" sz="1200" b="1" dirty="0">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D8C98772-5C7F-FE68-26E7-319D5719A636}"/>
              </a:ext>
            </a:extLst>
          </p:cNvPr>
          <p:cNvSpPr txBox="1"/>
          <p:nvPr/>
        </p:nvSpPr>
        <p:spPr>
          <a:xfrm>
            <a:off x="2809874" y="2657121"/>
            <a:ext cx="4936428" cy="254192"/>
          </a:xfrm>
          <a:prstGeom prst="rect">
            <a:avLst/>
          </a:prstGeom>
          <a:noFill/>
        </p:spPr>
        <p:txBody>
          <a:bodyPr wrap="square">
            <a:spAutoFit/>
          </a:bodyPr>
          <a:lstStyle/>
          <a:p>
            <a:pPr algn="ctr">
              <a:lnSpc>
                <a:spcPts val="1200"/>
              </a:lnSpc>
            </a:pPr>
            <a:r>
              <a:rPr lang="en-US" altLang="ja-JP" sz="1200" b="1" dirty="0">
                <a:latin typeface="Meiryo UI" panose="020B0604030504040204" pitchFamily="50" charset="-128"/>
                <a:ea typeface="Meiryo UI" panose="020B0604030504040204" pitchFamily="50" charset="-128"/>
              </a:rPr>
              <a:t>【</a:t>
            </a:r>
            <a:r>
              <a:rPr lang="ja-JP" altLang="en-US" sz="1200" b="1" dirty="0">
                <a:latin typeface="Meiryo UI" panose="020B0604030504040204" pitchFamily="50" charset="-128"/>
                <a:ea typeface="Meiryo UI" panose="020B0604030504040204" pitchFamily="50" charset="-128"/>
              </a:rPr>
              <a:t>幅広い事業展開</a:t>
            </a:r>
            <a:r>
              <a:rPr lang="en-US" altLang="ja-JP" sz="1200" b="1" dirty="0">
                <a:latin typeface="Meiryo UI" panose="020B0604030504040204" pitchFamily="50" charset="-128"/>
                <a:ea typeface="Meiryo UI" panose="020B0604030504040204" pitchFamily="50" charset="-128"/>
              </a:rPr>
              <a:t>】</a:t>
            </a:r>
            <a:endParaRPr lang="ja-JP" altLang="en-US" sz="1200" b="1" dirty="0">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68FE996A-E176-AD9F-37BC-758CB92B664F}"/>
              </a:ext>
            </a:extLst>
          </p:cNvPr>
          <p:cNvSpPr txBox="1"/>
          <p:nvPr/>
        </p:nvSpPr>
        <p:spPr>
          <a:xfrm>
            <a:off x="42180" y="3839903"/>
            <a:ext cx="9059640" cy="261610"/>
          </a:xfrm>
          <a:prstGeom prst="rect">
            <a:avLst/>
          </a:prstGeom>
          <a:noFill/>
        </p:spPr>
        <p:txBody>
          <a:bodyPr wrap="square">
            <a:spAutoFit/>
          </a:bodyPr>
          <a:lstStyle/>
          <a:p>
            <a:pPr algn="ctr"/>
            <a:r>
              <a:rPr lang="ja-JP" altLang="en-US" sz="1100" dirty="0">
                <a:latin typeface="Meiryo UI" panose="020B0604030504040204" pitchFamily="50" charset="-128"/>
                <a:ea typeface="Meiryo UI" panose="020B0604030504040204" pitchFamily="50" charset="-128"/>
              </a:rPr>
              <a:t>富山の名水と</a:t>
            </a:r>
            <a:r>
              <a:rPr lang="en-US" altLang="ja-JP" sz="1100" dirty="0">
                <a:latin typeface="Meiryo UI" panose="020B0604030504040204" pitchFamily="50" charset="-128"/>
                <a:ea typeface="Meiryo UI" panose="020B0604030504040204" pitchFamily="50" charset="-128"/>
              </a:rPr>
              <a:t>130</a:t>
            </a:r>
            <a:r>
              <a:rPr lang="ja-JP" altLang="en-US" sz="1100" dirty="0">
                <a:latin typeface="Meiryo UI" panose="020B0604030504040204" pitchFamily="50" charset="-128"/>
                <a:ea typeface="Meiryo UI" panose="020B0604030504040204" pitchFamily="50" charset="-128"/>
              </a:rPr>
              <a:t>年の歩みで“うるおい”を提供。世界基準の生産品質に裏打ちされた高再現・高安全の生産体制を徹底・継続し、安定供給を実現。</a:t>
            </a:r>
          </a:p>
        </p:txBody>
      </p:sp>
      <p:sp>
        <p:nvSpPr>
          <p:cNvPr id="33" name="テキスト ボックス 32">
            <a:extLst>
              <a:ext uri="{FF2B5EF4-FFF2-40B4-BE49-F238E27FC236}">
                <a16:creationId xmlns:a16="http://schemas.microsoft.com/office/drawing/2014/main" id="{CC1D12B7-AD0F-1CDB-6BE2-5C418D584AD9}"/>
              </a:ext>
            </a:extLst>
          </p:cNvPr>
          <p:cNvSpPr txBox="1"/>
          <p:nvPr/>
        </p:nvSpPr>
        <p:spPr>
          <a:xfrm>
            <a:off x="2809872" y="2833864"/>
            <a:ext cx="1695465" cy="1015663"/>
          </a:xfrm>
          <a:prstGeom prst="rect">
            <a:avLst/>
          </a:prstGeom>
          <a:noFill/>
        </p:spPr>
        <p:txBody>
          <a:bodyPr wrap="square">
            <a:spAutoFit/>
          </a:bodyPr>
          <a:lstStyle/>
          <a:p>
            <a:r>
              <a:rPr lang="ja-JP" altLang="en-US" sz="1000" b="0" i="0" dirty="0">
                <a:solidFill>
                  <a:srgbClr val="333333"/>
                </a:solidFill>
                <a:effectLst/>
                <a:latin typeface="Meiryo UI" panose="020B0604030504040204" pitchFamily="50" charset="-128"/>
                <a:ea typeface="Meiryo UI" panose="020B0604030504040204" pitchFamily="50" charset="-128"/>
              </a:rPr>
              <a:t>上記ラインナップの他、多様な清涼飲料、ゼリー、健康及び美容飲料・菓子などの自社商品開発・製造・販売と他社ブランドの商品開発や受託製造（</a:t>
            </a:r>
            <a:r>
              <a:rPr lang="en-US" altLang="ja-JP" sz="1000" b="0" i="0" dirty="0">
                <a:solidFill>
                  <a:srgbClr val="333333"/>
                </a:solidFill>
                <a:effectLst/>
                <a:latin typeface="Meiryo UI" panose="020B0604030504040204" pitchFamily="50" charset="-128"/>
                <a:ea typeface="Meiryo UI" panose="020B0604030504040204" pitchFamily="50" charset="-128"/>
              </a:rPr>
              <a:t>OEM</a:t>
            </a:r>
            <a:r>
              <a:rPr lang="ja-JP" altLang="en-US" sz="1000" b="0" i="0" dirty="0">
                <a:solidFill>
                  <a:srgbClr val="333333"/>
                </a:solidFill>
                <a:effectLst/>
                <a:latin typeface="Meiryo UI" panose="020B0604030504040204" pitchFamily="50" charset="-128"/>
                <a:ea typeface="Meiryo UI" panose="020B0604030504040204" pitchFamily="50" charset="-128"/>
              </a:rPr>
              <a:t>・</a:t>
            </a:r>
            <a:r>
              <a:rPr lang="en-US" altLang="ja-JP" sz="1000" b="0" i="0" dirty="0">
                <a:solidFill>
                  <a:srgbClr val="333333"/>
                </a:solidFill>
                <a:effectLst/>
                <a:latin typeface="Meiryo UI" panose="020B0604030504040204" pitchFamily="50" charset="-128"/>
                <a:ea typeface="Meiryo UI" panose="020B0604030504040204" pitchFamily="50" charset="-128"/>
              </a:rPr>
              <a:t>ODM)</a:t>
            </a:r>
            <a:r>
              <a:rPr lang="ja-JP" altLang="en-US" sz="1000" b="0" i="0" dirty="0">
                <a:solidFill>
                  <a:srgbClr val="333333"/>
                </a:solidFill>
                <a:effectLst/>
                <a:latin typeface="Meiryo UI" panose="020B0604030504040204" pitchFamily="50" charset="-128"/>
                <a:ea typeface="Meiryo UI" panose="020B0604030504040204" pitchFamily="50" charset="-128"/>
              </a:rPr>
              <a:t>を行っている。</a:t>
            </a:r>
            <a:endParaRPr lang="ja-JP" altLang="en-US" sz="1000" dirty="0">
              <a:latin typeface="Meiryo UI" panose="020B0604030504040204" pitchFamily="50" charset="-128"/>
              <a:ea typeface="Meiryo UI" panose="020B0604030504040204" pitchFamily="50" charset="-128"/>
            </a:endParaRPr>
          </a:p>
        </p:txBody>
      </p:sp>
      <p:sp>
        <p:nvSpPr>
          <p:cNvPr id="7" name="Rectangle 1">
            <a:extLst>
              <a:ext uri="{FF2B5EF4-FFF2-40B4-BE49-F238E27FC236}">
                <a16:creationId xmlns:a16="http://schemas.microsoft.com/office/drawing/2014/main" id="{972A9CD9-4A36-E817-89C2-B597A729B971}"/>
              </a:ext>
            </a:extLst>
          </p:cNvPr>
          <p:cNvSpPr>
            <a:spLocks noChangeArrowheads="1"/>
          </p:cNvSpPr>
          <p:nvPr/>
        </p:nvSpPr>
        <p:spPr bwMode="auto">
          <a:xfrm>
            <a:off x="0" y="428200"/>
            <a:ext cx="20343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000" b="1" i="0" u="sng" strike="noStrike" cap="none" normalizeH="0" baseline="0" dirty="0">
                <a:ln>
                  <a:noFill/>
                </a:ln>
                <a:solidFill>
                  <a:schemeClr val="tx1"/>
                </a:solidFill>
                <a:effectLst/>
                <a:latin typeface="Meiryo UI" panose="020B0604030504040204" pitchFamily="50" charset="-128"/>
                <a:ea typeface="Meiryo UI" panose="020B0604030504040204" pitchFamily="50" charset="-128"/>
              </a:rPr>
              <a:t>1896（明治29）</a:t>
            </a:r>
            <a:b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br>
            <a: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創業者・翠田辰次郎が富山市総曲輪でラムネ製造を開始。「水面を飛ぶトンボの清涼感」から「トンボラムネ」と命名。</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000" b="1" i="0" u="sng" strike="noStrike" cap="none" normalizeH="0" baseline="0" dirty="0">
                <a:ln>
                  <a:noFill/>
                </a:ln>
                <a:solidFill>
                  <a:schemeClr val="tx1"/>
                </a:solidFill>
                <a:effectLst/>
                <a:latin typeface="Meiryo UI" panose="020B0604030504040204" pitchFamily="50" charset="-128"/>
                <a:ea typeface="Meiryo UI" panose="020B0604030504040204" pitchFamily="50" charset="-128"/>
              </a:rPr>
              <a:t>1930（昭和5）</a:t>
            </a:r>
            <a:b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br>
            <a: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ミスタ式底玉ラムネ瓶を採用。洗浄効率が大幅に向上し、全国のラムネメーカーへ普及。</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000" b="1" i="0" u="sng" strike="noStrike" cap="none" normalizeH="0" baseline="0" dirty="0">
                <a:ln>
                  <a:noFill/>
                </a:ln>
                <a:solidFill>
                  <a:schemeClr val="tx1"/>
                </a:solidFill>
                <a:effectLst/>
                <a:latin typeface="Meiryo UI" panose="020B0604030504040204" pitchFamily="50" charset="-128"/>
                <a:ea typeface="Meiryo UI" panose="020B0604030504040204" pitchFamily="50" charset="-128"/>
              </a:rPr>
              <a:t>1953（昭和28）</a:t>
            </a:r>
            <a:b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br>
            <a: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生産ピーク。全国で約82,000KL、炭酸飲料の約半数を占める。以後、外資参入や自販機・PET普及で減少へ。</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000" b="1" i="0" u="sng" strike="noStrike" cap="none" normalizeH="0" baseline="0" dirty="0">
                <a:ln>
                  <a:noFill/>
                </a:ln>
                <a:solidFill>
                  <a:schemeClr val="tx1"/>
                </a:solidFill>
                <a:effectLst/>
                <a:latin typeface="Meiryo UI" panose="020B0604030504040204" pitchFamily="50" charset="-128"/>
                <a:ea typeface="Meiryo UI" panose="020B0604030504040204" pitchFamily="50" charset="-128"/>
              </a:rPr>
              <a:t>1993（平成5）</a:t>
            </a:r>
            <a:b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br>
            <a: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量産ライン完成。回収不要のワンウェイ瓶、ネジ式キャップ、ビー玉取り出し可で現代化。控えめな甘さと懐かしい清涼感が特徴。</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000" b="1" i="0" u="sng" strike="noStrike" cap="none" normalizeH="0" baseline="0" dirty="0">
                <a:ln>
                  <a:noFill/>
                </a:ln>
                <a:solidFill>
                  <a:schemeClr val="tx1"/>
                </a:solidFill>
                <a:effectLst/>
                <a:latin typeface="Meiryo UI" panose="020B0604030504040204" pitchFamily="50" charset="-128"/>
                <a:ea typeface="Meiryo UI" panose="020B0604030504040204" pitchFamily="50" charset="-128"/>
              </a:rPr>
              <a:t>2022（令和4）</a:t>
            </a:r>
            <a:b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br>
            <a:r>
              <a:rPr kumimoji="0" lang="ja-JP" altLang="ja-JP" sz="100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ラムネ製造を終了。以降は販路を限定して販売。</a:t>
            </a:r>
          </a:p>
        </p:txBody>
      </p:sp>
      <p:pic>
        <p:nvPicPr>
          <p:cNvPr id="1027" name="Picture 3" descr="経営理念">
            <a:extLst>
              <a:ext uri="{FF2B5EF4-FFF2-40B4-BE49-F238E27FC236}">
                <a16:creationId xmlns:a16="http://schemas.microsoft.com/office/drawing/2014/main" id="{81724F83-7368-3CAE-BBEE-185DFA0E3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5219" y="2878680"/>
            <a:ext cx="873233" cy="88778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経営理念">
            <a:extLst>
              <a:ext uri="{FF2B5EF4-FFF2-40B4-BE49-F238E27FC236}">
                <a16:creationId xmlns:a16="http://schemas.microsoft.com/office/drawing/2014/main" id="{8DDF5211-EC5F-F8C8-6CC2-4A10257AB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7760" y="2878680"/>
            <a:ext cx="847615" cy="861742"/>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2026大阪・関西万博公式ライセンス商品ミャクミャクサイダー炭酸飲料">
            <a:extLst>
              <a:ext uri="{FF2B5EF4-FFF2-40B4-BE49-F238E27FC236}">
                <a16:creationId xmlns:a16="http://schemas.microsoft.com/office/drawing/2014/main" id="{02977AA9-538C-8CB2-ECD8-E2B7FED5A9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6785" y="732590"/>
            <a:ext cx="966918" cy="8340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セレブレ">
            <a:extLst>
              <a:ext uri="{FF2B5EF4-FFF2-40B4-BE49-F238E27FC236}">
                <a16:creationId xmlns:a16="http://schemas.microsoft.com/office/drawing/2014/main" id="{9953373B-0CA7-0221-43A5-5186947D2A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1145" y="1770405"/>
            <a:ext cx="966918" cy="803399"/>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クリスマスシャンメリー">
            <a:extLst>
              <a:ext uri="{FF2B5EF4-FFF2-40B4-BE49-F238E27FC236}">
                <a16:creationId xmlns:a16="http://schemas.microsoft.com/office/drawing/2014/main" id="{9E8FD3A3-5451-4403-11D4-F00B4DACBB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4726" y="987261"/>
            <a:ext cx="698375" cy="523782"/>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富山ブラックサイダー">
            <a:extLst>
              <a:ext uri="{FF2B5EF4-FFF2-40B4-BE49-F238E27FC236}">
                <a16:creationId xmlns:a16="http://schemas.microsoft.com/office/drawing/2014/main" id="{EDAA254B-06CF-FE91-0210-CA13EBC31C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74095" y="1759303"/>
            <a:ext cx="965851" cy="803398"/>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いつでもシャルドネシャンメリーで乾杯！">
            <a:extLst>
              <a:ext uri="{FF2B5EF4-FFF2-40B4-BE49-F238E27FC236}">
                <a16:creationId xmlns:a16="http://schemas.microsoft.com/office/drawing/2014/main" id="{FDD0C48D-137B-8F45-786A-25ECCE9550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6034" y="725371"/>
            <a:ext cx="720788" cy="540592"/>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6B358983-1E07-D468-528D-0CA90402B8E0}"/>
              </a:ext>
            </a:extLst>
          </p:cNvPr>
          <p:cNvSpPr txBox="1"/>
          <p:nvPr/>
        </p:nvSpPr>
        <p:spPr>
          <a:xfrm>
            <a:off x="3763413" y="712730"/>
            <a:ext cx="1547082" cy="861774"/>
          </a:xfrm>
          <a:prstGeom prst="rect">
            <a:avLst/>
          </a:prstGeom>
          <a:noFill/>
        </p:spPr>
        <p:txBody>
          <a:bodyPr wrap="square">
            <a:spAutoFit/>
          </a:bodyPr>
          <a:lstStyle/>
          <a:p>
            <a:r>
              <a:rPr lang="en-US" altLang="ja-JP" sz="1000" b="0" i="0" dirty="0">
                <a:solidFill>
                  <a:srgbClr val="333333"/>
                </a:solidFill>
                <a:effectLst/>
                <a:latin typeface="Meiryo UI" panose="020B0604030504040204" pitchFamily="50" charset="-128"/>
                <a:ea typeface="Meiryo UI" panose="020B0604030504040204" pitchFamily="50" charset="-128"/>
              </a:rPr>
              <a:t>2025</a:t>
            </a:r>
            <a:r>
              <a:rPr lang="ja-JP" altLang="en-US" sz="1000" b="0" i="0" dirty="0">
                <a:solidFill>
                  <a:srgbClr val="333333"/>
                </a:solidFill>
                <a:effectLst/>
                <a:latin typeface="Meiryo UI" panose="020B0604030504040204" pitchFamily="50" charset="-128"/>
                <a:ea typeface="Meiryo UI" panose="020B0604030504040204" pitchFamily="50" charset="-128"/>
              </a:rPr>
              <a:t>大阪・関西万博の公式キャラクター</a:t>
            </a:r>
            <a:r>
              <a:rPr lang="en-US" altLang="ja-JP" sz="1000" b="0" i="0" dirty="0">
                <a:solidFill>
                  <a:srgbClr val="333333"/>
                </a:solidFill>
                <a:effectLst/>
                <a:latin typeface="Meiryo UI" panose="020B0604030504040204" pitchFamily="50" charset="-128"/>
                <a:ea typeface="Meiryo UI" panose="020B0604030504040204" pitchFamily="50" charset="-128"/>
              </a:rPr>
              <a:t>『</a:t>
            </a:r>
            <a:r>
              <a:rPr lang="ja-JP" altLang="en-US" sz="1000" b="0" i="0" dirty="0">
                <a:solidFill>
                  <a:srgbClr val="333333"/>
                </a:solidFill>
                <a:effectLst/>
                <a:latin typeface="Meiryo UI" panose="020B0604030504040204" pitchFamily="50" charset="-128"/>
                <a:ea typeface="Meiryo UI" panose="020B0604030504040204" pitchFamily="50" charset="-128"/>
              </a:rPr>
              <a:t>ミャクミャク</a:t>
            </a:r>
            <a:r>
              <a:rPr lang="en-US" altLang="ja-JP" sz="1000" b="0" i="0" dirty="0">
                <a:solidFill>
                  <a:srgbClr val="333333"/>
                </a:solidFill>
                <a:effectLst/>
                <a:latin typeface="Meiryo UI" panose="020B0604030504040204" pitchFamily="50" charset="-128"/>
                <a:ea typeface="Meiryo UI" panose="020B0604030504040204" pitchFamily="50" charset="-128"/>
              </a:rPr>
              <a:t>』</a:t>
            </a:r>
            <a:r>
              <a:rPr lang="ja-JP" altLang="en-US" sz="1000" b="0" i="0" dirty="0">
                <a:solidFill>
                  <a:srgbClr val="333333"/>
                </a:solidFill>
                <a:effectLst/>
                <a:latin typeface="Meiryo UI" panose="020B0604030504040204" pitchFamily="50" charset="-128"/>
                <a:ea typeface="Meiryo UI" panose="020B0604030504040204" pitchFamily="50" charset="-128"/>
              </a:rPr>
              <a:t>をイメージした“真っ青”な</a:t>
            </a:r>
            <a:r>
              <a:rPr lang="ja-JP" altLang="en-US" sz="1000" dirty="0">
                <a:solidFill>
                  <a:srgbClr val="333333"/>
                </a:solidFill>
                <a:latin typeface="Meiryo UI" panose="020B0604030504040204" pitchFamily="50" charset="-128"/>
                <a:ea typeface="Meiryo UI" panose="020B0604030504040204" pitchFamily="50" charset="-128"/>
              </a:rPr>
              <a:t>サイダー。爽やかな味わいで見た目も楽しめる一品。</a:t>
            </a:r>
            <a:endParaRPr lang="ja-JP" altLang="en-US" sz="1000" dirty="0">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5C72E51F-7E5C-D825-7E0E-CC03CAFFF883}"/>
              </a:ext>
            </a:extLst>
          </p:cNvPr>
          <p:cNvSpPr txBox="1"/>
          <p:nvPr/>
        </p:nvSpPr>
        <p:spPr>
          <a:xfrm>
            <a:off x="3791788" y="1770407"/>
            <a:ext cx="1524151" cy="861774"/>
          </a:xfrm>
          <a:prstGeom prst="rect">
            <a:avLst/>
          </a:prstGeom>
          <a:noFill/>
        </p:spPr>
        <p:txBody>
          <a:bodyPr wrap="square">
            <a:spAutoFit/>
          </a:bodyPr>
          <a:lstStyle/>
          <a:p>
            <a:r>
              <a:rPr lang="ja-JP" altLang="en-US" sz="1000" dirty="0">
                <a:latin typeface="Meiryo UI" panose="020B0604030504040204" pitchFamily="50" charset="-128"/>
                <a:ea typeface="Meiryo UI" panose="020B0604030504040204" pitchFamily="50" charset="-128"/>
              </a:rPr>
              <a:t>多様な価値観に寄り添う“ダイバーシティスパークリング”。誰もが一緒に楽しめるアルコール</a:t>
            </a:r>
            <a:r>
              <a:rPr lang="en-US" altLang="ja-JP" sz="1000" dirty="0">
                <a:latin typeface="Meiryo UI" panose="020B0604030504040204" pitchFamily="50" charset="-128"/>
                <a:ea typeface="Meiryo UI" panose="020B0604030504040204" pitchFamily="50" charset="-128"/>
              </a:rPr>
              <a:t>0.00</a:t>
            </a:r>
            <a:r>
              <a:rPr lang="ja-JP" altLang="en-US" sz="1000" dirty="0">
                <a:latin typeface="Meiryo UI" panose="020B0604030504040204" pitchFamily="50" charset="-128"/>
                <a:ea typeface="Meiryo UI" panose="020B0604030504040204" pitchFamily="50" charset="-128"/>
              </a:rPr>
              <a:t>％のスパークリング飲料。</a:t>
            </a:r>
          </a:p>
        </p:txBody>
      </p:sp>
      <p:sp>
        <p:nvSpPr>
          <p:cNvPr id="11" name="テキスト ボックス 10">
            <a:extLst>
              <a:ext uri="{FF2B5EF4-FFF2-40B4-BE49-F238E27FC236}">
                <a16:creationId xmlns:a16="http://schemas.microsoft.com/office/drawing/2014/main" id="{AEC37804-F372-EBCC-FE40-ED261C0239CC}"/>
              </a:ext>
            </a:extLst>
          </p:cNvPr>
          <p:cNvSpPr txBox="1"/>
          <p:nvPr/>
        </p:nvSpPr>
        <p:spPr>
          <a:xfrm>
            <a:off x="2737914" y="511847"/>
            <a:ext cx="1434113" cy="246221"/>
          </a:xfrm>
          <a:prstGeom prst="rect">
            <a:avLst/>
          </a:prstGeom>
          <a:noFill/>
        </p:spPr>
        <p:txBody>
          <a:bodyPr wrap="square">
            <a:spAutoFit/>
          </a:bodyPr>
          <a:lstStyle/>
          <a:p>
            <a:r>
              <a:rPr lang="ja-JP" altLang="en-US" sz="1000" b="1" dirty="0">
                <a:latin typeface="Meiryo UI" panose="020B0604030504040204" pitchFamily="50" charset="-128"/>
                <a:ea typeface="Meiryo UI" panose="020B0604030504040204" pitchFamily="50" charset="-128"/>
              </a:rPr>
              <a:t>＜ミャクミャクサイダー＞</a:t>
            </a:r>
          </a:p>
        </p:txBody>
      </p:sp>
      <p:sp>
        <p:nvSpPr>
          <p:cNvPr id="15" name="テキスト ボックス 14">
            <a:extLst>
              <a:ext uri="{FF2B5EF4-FFF2-40B4-BE49-F238E27FC236}">
                <a16:creationId xmlns:a16="http://schemas.microsoft.com/office/drawing/2014/main" id="{0C702985-D957-F8DD-C38A-E3751F32E25A}"/>
              </a:ext>
            </a:extLst>
          </p:cNvPr>
          <p:cNvSpPr txBox="1"/>
          <p:nvPr/>
        </p:nvSpPr>
        <p:spPr>
          <a:xfrm>
            <a:off x="2722291" y="1563548"/>
            <a:ext cx="1270751" cy="246221"/>
          </a:xfrm>
          <a:prstGeom prst="rect">
            <a:avLst/>
          </a:prstGeom>
          <a:noFill/>
        </p:spPr>
        <p:txBody>
          <a:bodyPr wrap="square">
            <a:spAutoFit/>
          </a:bodyPr>
          <a:lstStyle/>
          <a:p>
            <a:pPr algn="ctr"/>
            <a:r>
              <a:rPr lang="ja-JP" altLang="en-US" sz="1000" b="1" dirty="0">
                <a:latin typeface="Meiryo UI" panose="020B0604030504040204" pitchFamily="50" charset="-128"/>
                <a:ea typeface="Meiryo UI" panose="020B0604030504040204" pitchFamily="50" charset="-128"/>
              </a:rPr>
              <a:t>＜セレブレ＞</a:t>
            </a:r>
          </a:p>
        </p:txBody>
      </p:sp>
      <p:sp>
        <p:nvSpPr>
          <p:cNvPr id="29" name="テキスト ボックス 28">
            <a:extLst>
              <a:ext uri="{FF2B5EF4-FFF2-40B4-BE49-F238E27FC236}">
                <a16:creationId xmlns:a16="http://schemas.microsoft.com/office/drawing/2014/main" id="{751BEED3-4319-1BEE-70E1-BEC00EE2D91E}"/>
              </a:ext>
            </a:extLst>
          </p:cNvPr>
          <p:cNvSpPr txBox="1"/>
          <p:nvPr/>
        </p:nvSpPr>
        <p:spPr>
          <a:xfrm>
            <a:off x="6187435" y="708742"/>
            <a:ext cx="1574186" cy="861774"/>
          </a:xfrm>
          <a:prstGeom prst="rect">
            <a:avLst/>
          </a:prstGeom>
          <a:noFill/>
        </p:spPr>
        <p:txBody>
          <a:bodyPr wrap="square">
            <a:spAutoFit/>
          </a:bodyPr>
          <a:lstStyle/>
          <a:p>
            <a:r>
              <a:rPr lang="ja-JP" altLang="en-US" sz="1000" dirty="0">
                <a:solidFill>
                  <a:srgbClr val="333333"/>
                </a:solidFill>
                <a:latin typeface="Meiryo UI" panose="020B0604030504040204" pitchFamily="50" charset="-128"/>
                <a:ea typeface="Meiryo UI" panose="020B0604030504040204" pitchFamily="50" charset="-128"/>
              </a:rPr>
              <a:t>お誕生日、七五三、クリスマスなどのパーティーに最適。お子様向け乾杯飲料「シャンメリー」で特別な日を演出。</a:t>
            </a:r>
            <a:endParaRPr lang="en-US" altLang="ja-JP" sz="1000" dirty="0">
              <a:solidFill>
                <a:srgbClr val="333333"/>
              </a:solidFill>
              <a:latin typeface="Meiryo UI" panose="020B0604030504040204" pitchFamily="50" charset="-128"/>
              <a:ea typeface="Meiryo UI" panose="020B0604030504040204" pitchFamily="50" charset="-128"/>
            </a:endParaRPr>
          </a:p>
          <a:p>
            <a:r>
              <a:rPr lang="ja-JP" altLang="en-US" sz="1000" dirty="0">
                <a:solidFill>
                  <a:srgbClr val="333333"/>
                </a:solidFill>
                <a:latin typeface="Meiryo UI" panose="020B0604030504040204" pitchFamily="50" charset="-128"/>
                <a:ea typeface="Meiryo UI" panose="020B0604030504040204" pitchFamily="50" charset="-128"/>
              </a:rPr>
              <a:t>販売シェアは世界一。</a:t>
            </a:r>
            <a:endParaRPr lang="ja-JP" altLang="en-US" sz="1000" dirty="0">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B1C53633-9B2A-6C9E-B511-384412702FA2}"/>
              </a:ext>
            </a:extLst>
          </p:cNvPr>
          <p:cNvSpPr txBox="1"/>
          <p:nvPr/>
        </p:nvSpPr>
        <p:spPr>
          <a:xfrm>
            <a:off x="5189232" y="503611"/>
            <a:ext cx="1063303" cy="245189"/>
          </a:xfrm>
          <a:prstGeom prst="rect">
            <a:avLst/>
          </a:prstGeom>
          <a:noFill/>
        </p:spPr>
        <p:txBody>
          <a:bodyPr wrap="square">
            <a:spAutoFit/>
          </a:bodyPr>
          <a:lstStyle/>
          <a:p>
            <a:pPr algn="ctr"/>
            <a:r>
              <a:rPr lang="ja-JP" altLang="en-US" sz="1000" b="1" dirty="0">
                <a:latin typeface="Meiryo UI" panose="020B0604030504040204" pitchFamily="50" charset="-128"/>
                <a:ea typeface="Meiryo UI" panose="020B0604030504040204" pitchFamily="50" charset="-128"/>
              </a:rPr>
              <a:t>＜シャンメリー＞</a:t>
            </a:r>
          </a:p>
        </p:txBody>
      </p:sp>
      <p:sp>
        <p:nvSpPr>
          <p:cNvPr id="39" name="テキスト ボックス 38">
            <a:extLst>
              <a:ext uri="{FF2B5EF4-FFF2-40B4-BE49-F238E27FC236}">
                <a16:creationId xmlns:a16="http://schemas.microsoft.com/office/drawing/2014/main" id="{6F15F97E-DC5E-FAC3-8386-BA48AB1C03F8}"/>
              </a:ext>
            </a:extLst>
          </p:cNvPr>
          <p:cNvSpPr txBox="1"/>
          <p:nvPr/>
        </p:nvSpPr>
        <p:spPr>
          <a:xfrm>
            <a:off x="5048118" y="1526362"/>
            <a:ext cx="1524150" cy="246221"/>
          </a:xfrm>
          <a:prstGeom prst="rect">
            <a:avLst/>
          </a:prstGeom>
          <a:noFill/>
        </p:spPr>
        <p:txBody>
          <a:bodyPr wrap="square">
            <a:spAutoFit/>
          </a:bodyPr>
          <a:lstStyle/>
          <a:p>
            <a:pPr algn="ctr"/>
            <a:r>
              <a:rPr lang="ja-JP" altLang="en-US" sz="1000" b="1" dirty="0">
                <a:latin typeface="Meiryo UI" panose="020B0604030504040204" pitchFamily="50" charset="-128"/>
                <a:ea typeface="Meiryo UI" panose="020B0604030504040204" pitchFamily="50" charset="-128"/>
              </a:rPr>
              <a:t>＜富山ブラックサイダー＞</a:t>
            </a:r>
          </a:p>
        </p:txBody>
      </p:sp>
      <p:sp>
        <p:nvSpPr>
          <p:cNvPr id="40" name="テキスト ボックス 39">
            <a:extLst>
              <a:ext uri="{FF2B5EF4-FFF2-40B4-BE49-F238E27FC236}">
                <a16:creationId xmlns:a16="http://schemas.microsoft.com/office/drawing/2014/main" id="{0FEA234B-EA45-A578-106F-6279C345C29E}"/>
              </a:ext>
            </a:extLst>
          </p:cNvPr>
          <p:cNvSpPr txBox="1"/>
          <p:nvPr/>
        </p:nvSpPr>
        <p:spPr>
          <a:xfrm>
            <a:off x="6203173" y="1731916"/>
            <a:ext cx="1562262" cy="861774"/>
          </a:xfrm>
          <a:prstGeom prst="rect">
            <a:avLst/>
          </a:prstGeom>
          <a:noFill/>
        </p:spPr>
        <p:txBody>
          <a:bodyPr wrap="square">
            <a:spAutoFit/>
          </a:bodyPr>
          <a:lstStyle/>
          <a:p>
            <a:r>
              <a:rPr lang="ja-JP" altLang="en-US" sz="1000" dirty="0">
                <a:solidFill>
                  <a:srgbClr val="333333"/>
                </a:solidFill>
                <a:latin typeface="Meiryo UI" panose="020B0604030504040204" pitchFamily="50" charset="-128"/>
                <a:ea typeface="Meiryo UI" panose="020B0604030504040204" pitchFamily="50" charset="-128"/>
              </a:rPr>
              <a:t>濃い醤油と胡椒多めの富山ご当地ラーメン「富山ブラック」をイメージして作ったサイダー。</a:t>
            </a:r>
            <a:endParaRPr lang="en-US" altLang="ja-JP" sz="1000" dirty="0">
              <a:solidFill>
                <a:srgbClr val="333333"/>
              </a:solidFill>
              <a:latin typeface="Meiryo UI" panose="020B0604030504040204" pitchFamily="50" charset="-128"/>
              <a:ea typeface="Meiryo UI" panose="020B0604030504040204" pitchFamily="50" charset="-128"/>
            </a:endParaRPr>
          </a:p>
          <a:p>
            <a:r>
              <a:rPr lang="ja-JP" altLang="en-US" sz="1000" dirty="0">
                <a:solidFill>
                  <a:srgbClr val="333333"/>
                </a:solidFill>
                <a:latin typeface="Meiryo UI" panose="020B0604030504040204" pitchFamily="50" charset="-128"/>
                <a:ea typeface="Meiryo UI" panose="020B0604030504040204" pitchFamily="50" charset="-128"/>
              </a:rPr>
              <a:t>お酒の割り材としても人気。</a:t>
            </a:r>
            <a:endParaRPr lang="ja-JP" altLang="en-US" sz="1000" dirty="0">
              <a:latin typeface="Meiryo UI" panose="020B0604030504040204" pitchFamily="50" charset="-128"/>
              <a:ea typeface="Meiryo UI" panose="020B0604030504040204" pitchFamily="50" charset="-128"/>
            </a:endParaRPr>
          </a:p>
        </p:txBody>
      </p:sp>
      <p:pic>
        <p:nvPicPr>
          <p:cNvPr id="1041" name="Picture 17" descr="立山連峰から富山湾へ流れる「早月川」上流の景色">
            <a:extLst>
              <a:ext uri="{FF2B5EF4-FFF2-40B4-BE49-F238E27FC236}">
                <a16:creationId xmlns:a16="http://schemas.microsoft.com/office/drawing/2014/main" id="{09CFE835-74CB-175F-64B2-AF6FDE73C95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30345" y="638291"/>
            <a:ext cx="755657" cy="592995"/>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descr="「底玉式」ラムネ瓶">
            <a:extLst>
              <a:ext uri="{FF2B5EF4-FFF2-40B4-BE49-F238E27FC236}">
                <a16:creationId xmlns:a16="http://schemas.microsoft.com/office/drawing/2014/main" id="{75256F19-2E8E-96E2-AA9C-CCCDEF3B79E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35782" y="1292356"/>
            <a:ext cx="750220" cy="750220"/>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descr="ラムネ量産ライン">
            <a:extLst>
              <a:ext uri="{FF2B5EF4-FFF2-40B4-BE49-F238E27FC236}">
                <a16:creationId xmlns:a16="http://schemas.microsoft.com/office/drawing/2014/main" id="{58617726-1CC6-3F8A-096F-F4F9CDEE96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0345" y="2151275"/>
            <a:ext cx="750220" cy="750220"/>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25" descr="ラムネ製造を終了">
            <a:extLst>
              <a:ext uri="{FF2B5EF4-FFF2-40B4-BE49-F238E27FC236}">
                <a16:creationId xmlns:a16="http://schemas.microsoft.com/office/drawing/2014/main" id="{9B135B96-E649-8FFA-E166-6BD0BCE2E2C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36458" y="3010194"/>
            <a:ext cx="750220" cy="750220"/>
          </a:xfrm>
          <a:prstGeom prst="rect">
            <a:avLst/>
          </a:prstGeom>
          <a:noFill/>
          <a:extLst>
            <a:ext uri="{909E8E84-426E-40DD-AFC4-6F175D3DCCD1}">
              <a14:hiddenFill xmlns:a14="http://schemas.microsoft.com/office/drawing/2010/main">
                <a:solidFill>
                  <a:srgbClr val="FFFFFF"/>
                </a:solidFill>
              </a14:hiddenFill>
            </a:ext>
          </a:extLst>
        </p:spPr>
      </p:pic>
      <p:pic>
        <p:nvPicPr>
          <p:cNvPr id="1051" name="Picture 27" descr="品質保証部">
            <a:extLst>
              <a:ext uri="{FF2B5EF4-FFF2-40B4-BE49-F238E27FC236}">
                <a16:creationId xmlns:a16="http://schemas.microsoft.com/office/drawing/2014/main" id="{9416CA48-2C11-6C60-9F73-E48C88BAA42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21458" y="2877672"/>
            <a:ext cx="1304451" cy="869634"/>
          </a:xfrm>
          <a:prstGeom prst="rect">
            <a:avLst/>
          </a:prstGeom>
          <a:noFill/>
          <a:extLst>
            <a:ext uri="{909E8E84-426E-40DD-AFC4-6F175D3DCCD1}">
              <a14:hiddenFill xmlns:a14="http://schemas.microsoft.com/office/drawing/2010/main">
                <a:solidFill>
                  <a:srgbClr val="FFFFFF"/>
                </a:solidFill>
              </a14:hiddenFill>
            </a:ext>
          </a:extLst>
        </p:spPr>
      </p:pic>
      <p:sp>
        <p:nvSpPr>
          <p:cNvPr id="43" name="テキスト ボックス 42">
            <a:extLst>
              <a:ext uri="{FF2B5EF4-FFF2-40B4-BE49-F238E27FC236}">
                <a16:creationId xmlns:a16="http://schemas.microsoft.com/office/drawing/2014/main" id="{4871FAF6-E2A2-2910-1FE9-4603A425F520}"/>
              </a:ext>
            </a:extLst>
          </p:cNvPr>
          <p:cNvSpPr txBox="1"/>
          <p:nvPr/>
        </p:nvSpPr>
        <p:spPr>
          <a:xfrm>
            <a:off x="7801455" y="443345"/>
            <a:ext cx="1276422" cy="2062103"/>
          </a:xfrm>
          <a:prstGeom prst="rect">
            <a:avLst/>
          </a:prstGeom>
          <a:noFill/>
        </p:spPr>
        <p:txBody>
          <a:bodyPr wrap="square">
            <a:spAutoFit/>
          </a:bodyPr>
          <a:lstStyle/>
          <a:p>
            <a:r>
              <a:rPr lang="ja-JP" altLang="en-US" sz="1000" dirty="0">
                <a:latin typeface="Meiryo UI" panose="020B0604030504040204" pitchFamily="50" charset="-128"/>
                <a:ea typeface="Meiryo UI" panose="020B0604030504040204" pitchFamily="50" charset="-128"/>
              </a:rPr>
              <a:t>＜2002年6月＞</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ISO9001：</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2000認証取得</a:t>
            </a:r>
            <a:endParaRPr lang="ja-JP" altLang="en-US" sz="600" dirty="0">
              <a:latin typeface="Meiryo UI" panose="020B0604030504040204" pitchFamily="50" charset="-128"/>
              <a:ea typeface="Meiryo UI" panose="020B0604030504040204" pitchFamily="50" charset="-128"/>
            </a:endParaRPr>
          </a:p>
          <a:p>
            <a:endParaRPr lang="ja-JP" altLang="en-US" sz="6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＜2011年7月＞</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ISO22000：</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2005認証取得</a:t>
            </a:r>
            <a:endParaRPr lang="ja-JP" altLang="en-US" sz="600" dirty="0">
              <a:latin typeface="Meiryo UI" panose="020B0604030504040204" pitchFamily="50" charset="-128"/>
              <a:ea typeface="Meiryo UI" panose="020B0604030504040204" pitchFamily="50" charset="-128"/>
            </a:endParaRPr>
          </a:p>
          <a:p>
            <a:endParaRPr lang="ja-JP" altLang="en-US" sz="6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＜2013年12月＞</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FSSC2</a:t>
            </a:r>
            <a:r>
              <a:rPr lang="en-US" altLang="ja-JP" sz="1000" dirty="0">
                <a:latin typeface="Meiryo UI" panose="020B0604030504040204" pitchFamily="50" charset="-128"/>
                <a:ea typeface="Meiryo UI" panose="020B0604030504040204" pitchFamily="50" charset="-128"/>
              </a:rPr>
              <a:t>2</a:t>
            </a:r>
            <a:r>
              <a:rPr lang="ja-JP" altLang="en-US" sz="1000" dirty="0">
                <a:latin typeface="Meiryo UI" panose="020B0604030504040204" pitchFamily="50" charset="-128"/>
                <a:ea typeface="Meiryo UI" panose="020B0604030504040204" pitchFamily="50" charset="-128"/>
              </a:rPr>
              <a:t>000認証</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取得</a:t>
            </a:r>
            <a:endParaRPr lang="en-US" altLang="ja-JP" sz="1000" dirty="0">
              <a:latin typeface="Meiryo UI" panose="020B0604030504040204" pitchFamily="50" charset="-128"/>
              <a:ea typeface="Meiryo UI" panose="020B0604030504040204" pitchFamily="50" charset="-128"/>
            </a:endParaRPr>
          </a:p>
          <a:p>
            <a:endParaRPr lang="ja-JP" altLang="en-US" sz="6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＜2018年8月＞</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JIA-GMP認証取得</a:t>
            </a:r>
          </a:p>
        </p:txBody>
      </p:sp>
      <p:sp>
        <p:nvSpPr>
          <p:cNvPr id="44" name="テキスト ボックス 43">
            <a:extLst>
              <a:ext uri="{FF2B5EF4-FFF2-40B4-BE49-F238E27FC236}">
                <a16:creationId xmlns:a16="http://schemas.microsoft.com/office/drawing/2014/main" id="{0CE60B63-7C1C-273B-356D-E6B045D779E8}"/>
              </a:ext>
            </a:extLst>
          </p:cNvPr>
          <p:cNvSpPr txBox="1"/>
          <p:nvPr/>
        </p:nvSpPr>
        <p:spPr>
          <a:xfrm>
            <a:off x="7862637" y="2468146"/>
            <a:ext cx="1215240" cy="246221"/>
          </a:xfrm>
          <a:prstGeom prst="rect">
            <a:avLst/>
          </a:prstGeom>
          <a:noFill/>
        </p:spPr>
        <p:txBody>
          <a:bodyPr wrap="square">
            <a:spAutoFit/>
          </a:bodyPr>
          <a:lstStyle/>
          <a:p>
            <a:pPr algn="ctr">
              <a:lnSpc>
                <a:spcPts val="1200"/>
              </a:lnSpc>
            </a:pPr>
            <a:r>
              <a:rPr lang="en-US" altLang="ja-JP" sz="1200" b="1" dirty="0">
                <a:latin typeface="Meiryo UI" panose="020B0604030504040204" pitchFamily="50" charset="-128"/>
                <a:ea typeface="Meiryo UI" panose="020B0604030504040204" pitchFamily="50" charset="-128"/>
              </a:rPr>
              <a:t>【</a:t>
            </a:r>
            <a:r>
              <a:rPr lang="ja-JP" altLang="en-US" sz="1200" b="1" dirty="0">
                <a:latin typeface="Meiryo UI" panose="020B0604030504040204" pitchFamily="50" charset="-128"/>
                <a:ea typeface="Meiryo UI" panose="020B0604030504040204" pitchFamily="50" charset="-128"/>
              </a:rPr>
              <a:t>取り組み</a:t>
            </a:r>
            <a:r>
              <a:rPr lang="en-US" altLang="ja-JP" sz="1200" b="1" dirty="0">
                <a:latin typeface="Meiryo UI" panose="020B0604030504040204" pitchFamily="50" charset="-128"/>
                <a:ea typeface="Meiryo UI" panose="020B0604030504040204" pitchFamily="50" charset="-128"/>
              </a:rPr>
              <a:t>】</a:t>
            </a:r>
            <a:endParaRPr lang="ja-JP" altLang="en-US" sz="1200" b="1" dirty="0">
              <a:latin typeface="Meiryo UI" panose="020B0604030504040204" pitchFamily="50" charset="-128"/>
              <a:ea typeface="Meiryo UI" panose="020B0604030504040204" pitchFamily="50" charset="-128"/>
            </a:endParaRPr>
          </a:p>
        </p:txBody>
      </p:sp>
      <p:pic>
        <p:nvPicPr>
          <p:cNvPr id="1053" name="Picture 29" descr="健康経営優良法人">
            <a:extLst>
              <a:ext uri="{FF2B5EF4-FFF2-40B4-BE49-F238E27FC236}">
                <a16:creationId xmlns:a16="http://schemas.microsoft.com/office/drawing/2014/main" id="{28ADA578-767F-59A0-EE1E-46724AAC69D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41064" y="3247446"/>
            <a:ext cx="658384" cy="572508"/>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descr="女性が活躍しています！">
            <a:extLst>
              <a:ext uri="{FF2B5EF4-FFF2-40B4-BE49-F238E27FC236}">
                <a16:creationId xmlns:a16="http://schemas.microsoft.com/office/drawing/2014/main" id="{5839BBB1-2BAB-9883-1039-91495A5A309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10850" y="2652646"/>
            <a:ext cx="534833" cy="573154"/>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descr="いっしょに咲こう富山女性活躍企業">
            <a:extLst>
              <a:ext uri="{FF2B5EF4-FFF2-40B4-BE49-F238E27FC236}">
                <a16:creationId xmlns:a16="http://schemas.microsoft.com/office/drawing/2014/main" id="{CD67F0EA-0414-5359-42DC-FD058FC18C4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488327" y="2666013"/>
            <a:ext cx="563023" cy="559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7176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正方形/長方形 49">
            <a:extLst>
              <a:ext uri="{FF2B5EF4-FFF2-40B4-BE49-F238E27FC236}">
                <a16:creationId xmlns:a16="http://schemas.microsoft.com/office/drawing/2014/main" id="{D6AE77DB-F0FD-6477-FDF9-F8D3A82A2DEF}"/>
              </a:ext>
            </a:extLst>
          </p:cNvPr>
          <p:cNvSpPr/>
          <p:nvPr/>
        </p:nvSpPr>
        <p:spPr>
          <a:xfrm>
            <a:off x="38099" y="52008"/>
            <a:ext cx="9029696" cy="451296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6AB3493F-8DFD-C043-8867-DF3E846BE767}"/>
              </a:ext>
            </a:extLst>
          </p:cNvPr>
          <p:cNvSpPr/>
          <p:nvPr/>
        </p:nvSpPr>
        <p:spPr>
          <a:xfrm>
            <a:off x="5593828" y="1230868"/>
            <a:ext cx="3468687" cy="333410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C4844F58-FA31-8438-E94C-7410BE0C3DD7}"/>
              </a:ext>
            </a:extLst>
          </p:cNvPr>
          <p:cNvSpPr/>
          <p:nvPr/>
        </p:nvSpPr>
        <p:spPr>
          <a:xfrm>
            <a:off x="38099" y="1230868"/>
            <a:ext cx="5511805" cy="333410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11E0D69E-D806-1154-9F4A-274167333DE8}"/>
              </a:ext>
            </a:extLst>
          </p:cNvPr>
          <p:cNvSpPr/>
          <p:nvPr/>
        </p:nvSpPr>
        <p:spPr>
          <a:xfrm>
            <a:off x="3379384" y="52007"/>
            <a:ext cx="5688411" cy="113950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C2C6438C-CE46-17A9-BD88-46B4AA9E3725}"/>
              </a:ext>
            </a:extLst>
          </p:cNvPr>
          <p:cNvSpPr/>
          <p:nvPr/>
        </p:nvSpPr>
        <p:spPr>
          <a:xfrm>
            <a:off x="44450" y="52007"/>
            <a:ext cx="3263900" cy="115100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4DC4F0B3-3037-72B1-5A67-04232198ADFA}"/>
              </a:ext>
            </a:extLst>
          </p:cNvPr>
          <p:cNvSpPr txBox="1"/>
          <p:nvPr/>
        </p:nvSpPr>
        <p:spPr>
          <a:xfrm>
            <a:off x="121835" y="296294"/>
            <a:ext cx="3103965" cy="900246"/>
          </a:xfrm>
          <a:prstGeom prst="rect">
            <a:avLst/>
          </a:prstGeom>
          <a:noFill/>
        </p:spPr>
        <p:txBody>
          <a:bodyPr wrap="square">
            <a:spAutoFit/>
          </a:bodyPr>
          <a:lstStyle/>
          <a:p>
            <a:r>
              <a:rPr lang="ja-JP" altLang="en-US" sz="1050" dirty="0">
                <a:latin typeface="Meiryo UI" panose="020B0604030504040204" pitchFamily="50" charset="-128"/>
                <a:ea typeface="Meiryo UI" panose="020B0604030504040204" pitchFamily="50" charset="-128"/>
              </a:rPr>
              <a:t>ダイバーシティスパークリング・セレブレは、ノンアルコールながら本物のスパークリングワインの味わいときめ細やかな泡立ちを再現している。</a:t>
            </a:r>
          </a:p>
          <a:p>
            <a:r>
              <a:rPr lang="ja-JP" altLang="en-US" sz="1050" dirty="0">
                <a:latin typeface="Meiryo UI" panose="020B0604030504040204" pitchFamily="50" charset="-128"/>
                <a:ea typeface="Meiryo UI" panose="020B0604030504040204" pitchFamily="50" charset="-128"/>
              </a:rPr>
              <a:t>動物性原材料を使用しておらず、あらゆる文化や価値観を尊重したドリンクである。</a:t>
            </a:r>
          </a:p>
        </p:txBody>
      </p:sp>
      <p:sp>
        <p:nvSpPr>
          <p:cNvPr id="5" name="テキスト ボックス 4">
            <a:extLst>
              <a:ext uri="{FF2B5EF4-FFF2-40B4-BE49-F238E27FC236}">
                <a16:creationId xmlns:a16="http://schemas.microsoft.com/office/drawing/2014/main" id="{F0C5DB76-D969-346F-E45C-BFBAF471415C}"/>
              </a:ext>
            </a:extLst>
          </p:cNvPr>
          <p:cNvSpPr txBox="1"/>
          <p:nvPr/>
        </p:nvSpPr>
        <p:spPr>
          <a:xfrm>
            <a:off x="362355" y="40112"/>
            <a:ext cx="2546734" cy="276999"/>
          </a:xfrm>
          <a:prstGeom prst="rect">
            <a:avLst/>
          </a:prstGeom>
          <a:noFill/>
        </p:spPr>
        <p:txBody>
          <a:bodyPr wrap="square">
            <a:spAutoFit/>
          </a:bodyPr>
          <a:lstStyle/>
          <a:p>
            <a:pPr algn="l">
              <a:buNone/>
            </a:pPr>
            <a:r>
              <a:rPr lang="en-US" altLang="ja-JP" sz="1200" b="1" i="0" dirty="0" err="1">
                <a:effectLst/>
                <a:latin typeface="Meiryo UI" panose="020B0604030504040204" pitchFamily="50" charset="-128"/>
                <a:ea typeface="Meiryo UI" panose="020B0604030504040204" pitchFamily="50" charset="-128"/>
              </a:rPr>
              <a:t>Celeble</a:t>
            </a:r>
            <a:r>
              <a:rPr lang="ja-JP" altLang="en-US" sz="1200" b="1" i="0" dirty="0">
                <a:effectLst/>
                <a:latin typeface="Meiryo UI" panose="020B0604030504040204" pitchFamily="50" charset="-128"/>
                <a:ea typeface="Meiryo UI" panose="020B0604030504040204" pitchFamily="50" charset="-128"/>
              </a:rPr>
              <a:t>（セレブレ）とは</a:t>
            </a:r>
          </a:p>
        </p:txBody>
      </p:sp>
      <p:sp>
        <p:nvSpPr>
          <p:cNvPr id="12" name="テキスト ボックス 11">
            <a:extLst>
              <a:ext uri="{FF2B5EF4-FFF2-40B4-BE49-F238E27FC236}">
                <a16:creationId xmlns:a16="http://schemas.microsoft.com/office/drawing/2014/main" id="{9134AD6A-1A45-BEBE-841A-9424DD93A666}"/>
              </a:ext>
            </a:extLst>
          </p:cNvPr>
          <p:cNvSpPr txBox="1"/>
          <p:nvPr/>
        </p:nvSpPr>
        <p:spPr>
          <a:xfrm>
            <a:off x="3428999" y="45962"/>
            <a:ext cx="1822450" cy="276999"/>
          </a:xfrm>
          <a:prstGeom prst="rect">
            <a:avLst/>
          </a:prstGeom>
          <a:noFill/>
        </p:spPr>
        <p:txBody>
          <a:bodyPr wrap="square">
            <a:spAutoFit/>
          </a:bodyPr>
          <a:lstStyle/>
          <a:p>
            <a:pPr algn="l">
              <a:buNone/>
            </a:pPr>
            <a:r>
              <a:rPr lang="en-US" altLang="ja-JP" sz="1200" b="1" i="0" dirty="0" err="1">
                <a:effectLst/>
                <a:latin typeface="Meiryo UI" panose="020B0604030504040204" pitchFamily="50" charset="-128"/>
                <a:ea typeface="Meiryo UI" panose="020B0604030504040204" pitchFamily="50" charset="-128"/>
              </a:rPr>
              <a:t>Celeble</a:t>
            </a:r>
            <a:r>
              <a:rPr lang="ja-JP" altLang="en-US" sz="1200" b="1" i="0" dirty="0">
                <a:effectLst/>
                <a:latin typeface="Meiryo UI" panose="020B0604030504040204" pitchFamily="50" charset="-128"/>
                <a:ea typeface="Meiryo UI" panose="020B0604030504040204" pitchFamily="50" charset="-128"/>
              </a:rPr>
              <a:t>の特徴</a:t>
            </a:r>
          </a:p>
        </p:txBody>
      </p:sp>
      <p:sp>
        <p:nvSpPr>
          <p:cNvPr id="13" name="テキスト ボックス 12">
            <a:extLst>
              <a:ext uri="{FF2B5EF4-FFF2-40B4-BE49-F238E27FC236}">
                <a16:creationId xmlns:a16="http://schemas.microsoft.com/office/drawing/2014/main" id="{0B74BEC2-82DF-3B94-9FDD-F7BAD909DC3C}"/>
              </a:ext>
            </a:extLst>
          </p:cNvPr>
          <p:cNvSpPr txBox="1"/>
          <p:nvPr/>
        </p:nvSpPr>
        <p:spPr>
          <a:xfrm>
            <a:off x="3454401" y="256466"/>
            <a:ext cx="5613394" cy="900246"/>
          </a:xfrm>
          <a:prstGeom prst="rect">
            <a:avLst/>
          </a:prstGeom>
          <a:noFill/>
        </p:spPr>
        <p:txBody>
          <a:bodyPr wrap="square">
            <a:spAutoFit/>
          </a:bodyPr>
          <a:lstStyle/>
          <a:p>
            <a:r>
              <a:rPr lang="en-US" altLang="ja-JP" sz="1050" dirty="0">
                <a:latin typeface="Meiryo UI" panose="020B0604030504040204" pitchFamily="50" charset="-128"/>
                <a:ea typeface="Meiryo UI" panose="020B0604030504040204" pitchFamily="50" charset="-128"/>
              </a:rPr>
              <a:t>1.</a:t>
            </a:r>
            <a:r>
              <a:rPr lang="ja-JP" altLang="en-US" sz="1050" dirty="0">
                <a:latin typeface="Meiryo UI" panose="020B0604030504040204" pitchFamily="50" charset="-128"/>
                <a:ea typeface="Meiryo UI" panose="020B0604030504040204" pitchFamily="50" charset="-128"/>
              </a:rPr>
              <a:t>　アルコールを生成しない特殊な製法で発酵させたぶどう果汁を使用。果汁を発酵させることによってのみ得られる、ワイン特有の酸味やコクを実現。お酒を飲むときの気分や料理とのペアリングを愉しめる。</a:t>
            </a:r>
            <a:endParaRPr lang="en-US" altLang="ja-JP" sz="1050" dirty="0">
              <a:latin typeface="Meiryo UI" panose="020B0604030504040204" pitchFamily="50" charset="-128"/>
              <a:ea typeface="Meiryo UI" panose="020B0604030504040204" pitchFamily="50" charset="-128"/>
            </a:endParaRPr>
          </a:p>
          <a:p>
            <a:endParaRPr lang="en-US" altLang="ja-JP" sz="1050" dirty="0">
              <a:latin typeface="Meiryo UI" panose="020B0604030504040204" pitchFamily="50" charset="-128"/>
              <a:ea typeface="Meiryo UI" panose="020B0604030504040204" pitchFamily="50" charset="-128"/>
            </a:endParaRPr>
          </a:p>
          <a:p>
            <a:r>
              <a:rPr lang="en-US" altLang="ja-JP" sz="1050" dirty="0">
                <a:latin typeface="Meiryo UI" panose="020B0604030504040204" pitchFamily="50" charset="-128"/>
                <a:ea typeface="Meiryo UI" panose="020B0604030504040204" pitchFamily="50" charset="-128"/>
              </a:rPr>
              <a:t>2.</a:t>
            </a:r>
            <a:r>
              <a:rPr lang="ja-JP" altLang="en-US" sz="1050" dirty="0">
                <a:latin typeface="Meiryo UI" panose="020B0604030504040204" pitchFamily="50" charset="-128"/>
                <a:ea typeface="Meiryo UI" panose="020B0604030504040204" pitchFamily="50" charset="-128"/>
              </a:rPr>
              <a:t>　「アルコール</a:t>
            </a:r>
            <a:r>
              <a:rPr lang="en-US" altLang="ja-JP" sz="1050" dirty="0">
                <a:latin typeface="Meiryo UI" panose="020B0604030504040204" pitchFamily="50" charset="-128"/>
                <a:ea typeface="Meiryo UI" panose="020B0604030504040204" pitchFamily="50" charset="-128"/>
              </a:rPr>
              <a:t>0.00</a:t>
            </a:r>
            <a:r>
              <a:rPr lang="ja-JP" altLang="en-US" sz="1050" dirty="0">
                <a:latin typeface="Meiryo UI" panose="020B0604030504040204" pitchFamily="50" charset="-128"/>
                <a:ea typeface="Meiryo UI" panose="020B0604030504040204" pitchFamily="50" charset="-128"/>
              </a:rPr>
              <a:t>％」かつ「動物性原材料未使用」なので、ハンドルキーパー、妊娠、授乳中の方でも安心して飲めるうえ、宗教・嗜好・ヴィーガン等の多様性に配慮でき、同じボトルで乾杯ができる。</a:t>
            </a:r>
          </a:p>
        </p:txBody>
      </p:sp>
      <p:sp>
        <p:nvSpPr>
          <p:cNvPr id="25" name="テキスト ボックス 24">
            <a:extLst>
              <a:ext uri="{FF2B5EF4-FFF2-40B4-BE49-F238E27FC236}">
                <a16:creationId xmlns:a16="http://schemas.microsoft.com/office/drawing/2014/main" id="{6A85AF1F-0B72-5FA4-0131-2DFBF2AB55EF}"/>
              </a:ext>
            </a:extLst>
          </p:cNvPr>
          <p:cNvSpPr txBox="1"/>
          <p:nvPr/>
        </p:nvSpPr>
        <p:spPr>
          <a:xfrm>
            <a:off x="127001" y="1208559"/>
            <a:ext cx="2763837" cy="276999"/>
          </a:xfrm>
          <a:prstGeom prst="rect">
            <a:avLst/>
          </a:prstGeom>
          <a:noFill/>
        </p:spPr>
        <p:txBody>
          <a:bodyPr wrap="square">
            <a:spAutoFit/>
          </a:bodyPr>
          <a:lstStyle/>
          <a:p>
            <a:pPr algn="l">
              <a:buNone/>
            </a:pPr>
            <a:r>
              <a:rPr lang="en-US" altLang="ja-JP" sz="1200" b="1" i="0" dirty="0" err="1">
                <a:effectLst/>
                <a:latin typeface="Meiryo UI" panose="020B0604030504040204" pitchFamily="50" charset="-128"/>
                <a:ea typeface="Meiryo UI" panose="020B0604030504040204" pitchFamily="50" charset="-128"/>
              </a:rPr>
              <a:t>Celeble</a:t>
            </a:r>
            <a:r>
              <a:rPr lang="ja-JP" altLang="en-US" sz="1200" b="1" i="0" dirty="0">
                <a:effectLst/>
                <a:latin typeface="Meiryo UI" panose="020B0604030504040204" pitchFamily="50" charset="-128"/>
                <a:ea typeface="Meiryo UI" panose="020B0604030504040204" pitchFamily="50" charset="-128"/>
              </a:rPr>
              <a:t>（セレブレ）ラインナップ</a:t>
            </a:r>
          </a:p>
        </p:txBody>
      </p:sp>
      <p:sp>
        <p:nvSpPr>
          <p:cNvPr id="26" name="正方形/長方形 25">
            <a:extLst>
              <a:ext uri="{FF2B5EF4-FFF2-40B4-BE49-F238E27FC236}">
                <a16:creationId xmlns:a16="http://schemas.microsoft.com/office/drawing/2014/main" id="{7F32B01A-B93F-82C9-58A1-BAA561ECC9EF}"/>
              </a:ext>
            </a:extLst>
          </p:cNvPr>
          <p:cNvSpPr/>
          <p:nvPr/>
        </p:nvSpPr>
        <p:spPr>
          <a:xfrm>
            <a:off x="121835" y="1485558"/>
            <a:ext cx="5334513" cy="1112530"/>
          </a:xfrm>
          <a:prstGeom prst="rect">
            <a:avLst/>
          </a:prstGeom>
          <a:solidFill>
            <a:srgbClr val="F0EA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D1832C97-0CAA-C13F-148D-414B05A6DD04}"/>
              </a:ext>
            </a:extLst>
          </p:cNvPr>
          <p:cNvSpPr/>
          <p:nvPr/>
        </p:nvSpPr>
        <p:spPr>
          <a:xfrm>
            <a:off x="121835" y="2639741"/>
            <a:ext cx="5334514" cy="845708"/>
          </a:xfrm>
          <a:prstGeom prst="rect">
            <a:avLst/>
          </a:prstGeom>
          <a:solidFill>
            <a:srgbClr val="F0EA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5C2FC815-B1A6-2195-175E-7CA05B294889}"/>
              </a:ext>
            </a:extLst>
          </p:cNvPr>
          <p:cNvSpPr/>
          <p:nvPr/>
        </p:nvSpPr>
        <p:spPr>
          <a:xfrm>
            <a:off x="126999" y="3587643"/>
            <a:ext cx="5329349" cy="937612"/>
          </a:xfrm>
          <a:prstGeom prst="rect">
            <a:avLst/>
          </a:prstGeom>
          <a:solidFill>
            <a:srgbClr val="F0EA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0322464F-8631-B8C8-1162-89F77AEB76E6}"/>
              </a:ext>
            </a:extLst>
          </p:cNvPr>
          <p:cNvSpPr txBox="1"/>
          <p:nvPr/>
        </p:nvSpPr>
        <p:spPr>
          <a:xfrm>
            <a:off x="922337" y="1507617"/>
            <a:ext cx="4183063" cy="246221"/>
          </a:xfrm>
          <a:prstGeom prst="rect">
            <a:avLst/>
          </a:prstGeom>
          <a:noFill/>
        </p:spPr>
        <p:txBody>
          <a:bodyPr wrap="square">
            <a:spAutoFit/>
          </a:bodyPr>
          <a:lstStyle/>
          <a:p>
            <a:pPr algn="l">
              <a:buNone/>
            </a:pPr>
            <a:r>
              <a:rPr lang="en-US" altLang="ja-JP" sz="1000" b="1" i="0" u="sng" dirty="0" err="1">
                <a:effectLst/>
                <a:latin typeface="Zen Kaku Gothic New"/>
              </a:rPr>
              <a:t>Celeble</a:t>
            </a:r>
            <a:r>
              <a:rPr lang="ja-JP" altLang="en-US" sz="1000" b="1" i="0" u="sng" dirty="0">
                <a:effectLst/>
                <a:latin typeface="inherit"/>
              </a:rPr>
              <a:t>［セレブレ］</a:t>
            </a:r>
            <a:r>
              <a:rPr lang="ja-JP" altLang="en-US" sz="1000" b="1" i="0" u="sng" dirty="0">
                <a:effectLst/>
                <a:latin typeface="Zen Kaku Gothic New"/>
              </a:rPr>
              <a:t>ノンアルコールスパークリング</a:t>
            </a:r>
            <a:r>
              <a:rPr lang="ja-JP" altLang="en-US" sz="1000" b="1" i="0" dirty="0">
                <a:effectLst/>
                <a:latin typeface="Zen Kaku Gothic New"/>
              </a:rPr>
              <a:t>（</a:t>
            </a:r>
            <a:r>
              <a:rPr lang="en-US" altLang="ja-JP" sz="1000" b="1" i="0" dirty="0">
                <a:effectLst/>
                <a:latin typeface="Zen Kaku Gothic New"/>
              </a:rPr>
              <a:t>355</a:t>
            </a:r>
            <a:r>
              <a:rPr lang="en-US" altLang="ja-JP" sz="1000" b="1" dirty="0">
                <a:latin typeface="Zen Kaku Gothic New"/>
              </a:rPr>
              <a:t>ml</a:t>
            </a:r>
            <a:r>
              <a:rPr lang="en-US" altLang="ja-JP" sz="1000" b="1" i="0" dirty="0">
                <a:effectLst/>
                <a:latin typeface="Zen Kaku Gothic New"/>
              </a:rPr>
              <a:t>/200ml</a:t>
            </a:r>
            <a:r>
              <a:rPr lang="ja-JP" altLang="en-US" sz="1000" b="1" i="0" dirty="0">
                <a:effectLst/>
                <a:latin typeface="Zen Kaku Gothic New"/>
              </a:rPr>
              <a:t>）</a:t>
            </a:r>
          </a:p>
        </p:txBody>
      </p:sp>
      <p:sp>
        <p:nvSpPr>
          <p:cNvPr id="33" name="テキスト ボックス 32">
            <a:extLst>
              <a:ext uri="{FF2B5EF4-FFF2-40B4-BE49-F238E27FC236}">
                <a16:creationId xmlns:a16="http://schemas.microsoft.com/office/drawing/2014/main" id="{FAFEED85-1208-464A-061D-AE11C840D96E}"/>
              </a:ext>
            </a:extLst>
          </p:cNvPr>
          <p:cNvSpPr txBox="1"/>
          <p:nvPr/>
        </p:nvSpPr>
        <p:spPr>
          <a:xfrm>
            <a:off x="898130" y="1706482"/>
            <a:ext cx="4558908" cy="923330"/>
          </a:xfrm>
          <a:prstGeom prst="rect">
            <a:avLst/>
          </a:prstGeom>
          <a:noFill/>
        </p:spPr>
        <p:txBody>
          <a:bodyPr wrap="square">
            <a:spAutoFit/>
          </a:bodyPr>
          <a:lstStyle/>
          <a:p>
            <a:r>
              <a:rPr lang="ja-JP" altLang="en-US" sz="900" b="0" i="0" dirty="0">
                <a:effectLst/>
                <a:latin typeface="Zen Kaku Gothic New"/>
              </a:rPr>
              <a:t>安定した人気を持つスタンダードな</a:t>
            </a:r>
            <a:r>
              <a:rPr lang="en-US" altLang="ja-JP" sz="900" b="0" i="0" dirty="0">
                <a:effectLst/>
                <a:latin typeface="Zen Kaku Gothic New"/>
              </a:rPr>
              <a:t>[</a:t>
            </a:r>
            <a:r>
              <a:rPr lang="ja-JP" altLang="en-US" sz="900" b="0" i="0" dirty="0">
                <a:effectLst/>
                <a:latin typeface="Zen Kaku Gothic New"/>
              </a:rPr>
              <a:t>白</a:t>
            </a:r>
            <a:r>
              <a:rPr lang="en-US" altLang="ja-JP" sz="900" b="0" i="0" dirty="0">
                <a:effectLst/>
                <a:latin typeface="Zen Kaku Gothic New"/>
              </a:rPr>
              <a:t>]</a:t>
            </a:r>
            <a:r>
              <a:rPr lang="ja-JP" altLang="en-US" sz="900" b="0" i="0" dirty="0">
                <a:effectLst/>
                <a:latin typeface="Zen Kaku Gothic New"/>
              </a:rPr>
              <a:t>タイプ。しっかりとしたボディ感で、ほのかな甘みとコクのある味わいが特徴。ワイン特有の酸味やコクを存分に楽しむことができる。</a:t>
            </a:r>
            <a:br>
              <a:rPr lang="ja-JP" altLang="en-US" sz="900" dirty="0"/>
            </a:br>
            <a:r>
              <a:rPr lang="ja-JP" altLang="en-US" sz="900" b="0" i="0" dirty="0">
                <a:effectLst/>
                <a:latin typeface="Zen Kaku Gothic New"/>
              </a:rPr>
              <a:t>ゴールドイエローの鮮やかな色調。パイナップルやパッションフルーツ、アップルティーといったトロピカルでフルーティな芳香が印象的。繊細な泡で舌触りがよく、果実味がありつつも後味はさっぱり。</a:t>
            </a:r>
            <a:endParaRPr lang="ja-JP" altLang="en-US" sz="900" dirty="0"/>
          </a:p>
        </p:txBody>
      </p:sp>
      <p:sp>
        <p:nvSpPr>
          <p:cNvPr id="34" name="テキスト ボックス 33">
            <a:extLst>
              <a:ext uri="{FF2B5EF4-FFF2-40B4-BE49-F238E27FC236}">
                <a16:creationId xmlns:a16="http://schemas.microsoft.com/office/drawing/2014/main" id="{37839B09-EC2A-E096-008F-AC26C1D59C9A}"/>
              </a:ext>
            </a:extLst>
          </p:cNvPr>
          <p:cNvSpPr txBox="1"/>
          <p:nvPr/>
        </p:nvSpPr>
        <p:spPr>
          <a:xfrm>
            <a:off x="808831" y="2851755"/>
            <a:ext cx="4702181" cy="646331"/>
          </a:xfrm>
          <a:prstGeom prst="rect">
            <a:avLst/>
          </a:prstGeom>
          <a:noFill/>
        </p:spPr>
        <p:txBody>
          <a:bodyPr wrap="square">
            <a:spAutoFit/>
          </a:bodyPr>
          <a:lstStyle/>
          <a:p>
            <a:r>
              <a:rPr lang="ja-JP" altLang="en-US" sz="900" b="0" i="0" dirty="0">
                <a:effectLst/>
                <a:latin typeface="Zen Kaku Gothic New"/>
              </a:rPr>
              <a:t>女性に人気の色鮮やかな</a:t>
            </a:r>
            <a:r>
              <a:rPr lang="en-US" altLang="ja-JP" sz="900" b="0" i="0" dirty="0">
                <a:effectLst/>
                <a:latin typeface="Zen Kaku Gothic New"/>
              </a:rPr>
              <a:t>[</a:t>
            </a:r>
            <a:r>
              <a:rPr lang="ja-JP" altLang="en-US" sz="900" b="0" i="0" dirty="0">
                <a:effectLst/>
                <a:latin typeface="Zen Kaku Gothic New"/>
              </a:rPr>
              <a:t>ロゼ</a:t>
            </a:r>
            <a:r>
              <a:rPr lang="en-US" altLang="ja-JP" sz="900" b="0" i="0" dirty="0">
                <a:effectLst/>
                <a:latin typeface="Zen Kaku Gothic New"/>
              </a:rPr>
              <a:t>]</a:t>
            </a:r>
            <a:r>
              <a:rPr lang="ja-JP" altLang="en-US" sz="900" b="0" i="0" dirty="0">
                <a:effectLst/>
                <a:latin typeface="Zen Kaku Gothic New"/>
              </a:rPr>
              <a:t>タイプ。奥行きのあるベリー系の深い果実味が</a:t>
            </a:r>
            <a:r>
              <a:rPr lang="ja-JP" altLang="en-US" sz="900" dirty="0">
                <a:latin typeface="Zen Kaku Gothic New"/>
              </a:rPr>
              <a:t>ある</a:t>
            </a:r>
            <a:r>
              <a:rPr lang="ja-JP" altLang="en-US" sz="900" b="0" i="0" dirty="0">
                <a:effectLst/>
                <a:latin typeface="Zen Kaku Gothic New"/>
              </a:rPr>
              <a:t>。ロゼの美しい色合いは雰囲気を盛り上げる。</a:t>
            </a:r>
          </a:p>
          <a:p>
            <a:r>
              <a:rPr lang="ja-JP" altLang="en-US" sz="900" b="0" i="0" dirty="0">
                <a:effectLst/>
                <a:latin typeface="Zen Kaku Gothic New"/>
              </a:rPr>
              <a:t>いちごやラズベリーのような赤果実のチャーミングなアロマが印象的で、酸味と甘みがバランス良く溶け込んでいる。</a:t>
            </a:r>
            <a:endParaRPr lang="ja-JP" altLang="en-US" sz="900" dirty="0"/>
          </a:p>
        </p:txBody>
      </p:sp>
      <p:sp>
        <p:nvSpPr>
          <p:cNvPr id="38" name="テキスト ボックス 37">
            <a:extLst>
              <a:ext uri="{FF2B5EF4-FFF2-40B4-BE49-F238E27FC236}">
                <a16:creationId xmlns:a16="http://schemas.microsoft.com/office/drawing/2014/main" id="{E7B8DDEB-1EDB-F501-00D9-F58AF1EF6FA4}"/>
              </a:ext>
            </a:extLst>
          </p:cNvPr>
          <p:cNvSpPr txBox="1"/>
          <p:nvPr/>
        </p:nvSpPr>
        <p:spPr>
          <a:xfrm>
            <a:off x="847378" y="3828673"/>
            <a:ext cx="4702181" cy="646331"/>
          </a:xfrm>
          <a:prstGeom prst="rect">
            <a:avLst/>
          </a:prstGeom>
          <a:noFill/>
        </p:spPr>
        <p:txBody>
          <a:bodyPr wrap="square">
            <a:spAutoFit/>
          </a:bodyPr>
          <a:lstStyle/>
          <a:p>
            <a:r>
              <a:rPr lang="en-US" altLang="ja-JP" sz="900" dirty="0"/>
              <a:t>[</a:t>
            </a:r>
            <a:r>
              <a:rPr lang="ja-JP" altLang="en-US" sz="900" dirty="0"/>
              <a:t>ドライ</a:t>
            </a:r>
            <a:r>
              <a:rPr lang="en-US" altLang="ja-JP" sz="900" dirty="0"/>
              <a:t>]</a:t>
            </a:r>
            <a:r>
              <a:rPr lang="ja-JP" altLang="en-US" sz="900" dirty="0"/>
              <a:t>は甘さを抑えた白タイプ辛口バージョン。甘さ控えめでキレがあり、すこしスパイシーな味わい。そのすっきり爽やかな風味は、食事中の飲料にも最適。</a:t>
            </a:r>
          </a:p>
          <a:p>
            <a:r>
              <a:rPr lang="ja-JP" altLang="en-US" sz="900" dirty="0"/>
              <a:t>ラ・フランスやマスカットのアロマが感じられ、ほのかに茶葉のようなニュアンスが心地よく鼻に抜ける。いきいきとした酸味と心地よい発泡感で食事も進む一本。</a:t>
            </a:r>
          </a:p>
        </p:txBody>
      </p:sp>
      <p:sp>
        <p:nvSpPr>
          <p:cNvPr id="39" name="テキスト ボックス 38">
            <a:extLst>
              <a:ext uri="{FF2B5EF4-FFF2-40B4-BE49-F238E27FC236}">
                <a16:creationId xmlns:a16="http://schemas.microsoft.com/office/drawing/2014/main" id="{81B8A3A5-2E04-2B9F-3112-AB744A90D93F}"/>
              </a:ext>
            </a:extLst>
          </p:cNvPr>
          <p:cNvSpPr txBox="1"/>
          <p:nvPr/>
        </p:nvSpPr>
        <p:spPr>
          <a:xfrm>
            <a:off x="808832" y="2658147"/>
            <a:ext cx="4296568" cy="255043"/>
          </a:xfrm>
          <a:prstGeom prst="rect">
            <a:avLst/>
          </a:prstGeom>
          <a:noFill/>
        </p:spPr>
        <p:txBody>
          <a:bodyPr wrap="square">
            <a:spAutoFit/>
          </a:bodyPr>
          <a:lstStyle/>
          <a:p>
            <a:pPr algn="l">
              <a:buNone/>
            </a:pPr>
            <a:r>
              <a:rPr lang="en-US" altLang="ja-JP" sz="1000" b="1" i="0" u="sng" dirty="0" err="1">
                <a:effectLst/>
                <a:latin typeface="Zen Kaku Gothic New"/>
              </a:rPr>
              <a:t>Celeble</a:t>
            </a:r>
            <a:r>
              <a:rPr lang="ja-JP" altLang="en-US" sz="1000" b="1" i="0" u="sng" dirty="0">
                <a:effectLst/>
                <a:latin typeface="Zen Kaku Gothic New"/>
              </a:rPr>
              <a:t>［セレブレ］ノンアルコールスパークリング ロゼ</a:t>
            </a:r>
            <a:r>
              <a:rPr lang="ja-JP" altLang="en-US" sz="1000" b="1" dirty="0">
                <a:latin typeface="Zen Kaku Gothic New"/>
              </a:rPr>
              <a:t>（</a:t>
            </a:r>
            <a:r>
              <a:rPr lang="en-US" altLang="ja-JP" sz="1000" b="1" dirty="0">
                <a:latin typeface="Zen Kaku Gothic New"/>
              </a:rPr>
              <a:t>355ml</a:t>
            </a:r>
            <a:r>
              <a:rPr lang="ja-JP" altLang="en-US" sz="1000" b="1" dirty="0">
                <a:latin typeface="Zen Kaku Gothic New"/>
              </a:rPr>
              <a:t>）</a:t>
            </a:r>
            <a:endParaRPr lang="ja-JP" altLang="en-US" sz="1000" b="1" i="0" dirty="0">
              <a:effectLst/>
              <a:latin typeface="Zen Kaku Gothic New"/>
            </a:endParaRPr>
          </a:p>
        </p:txBody>
      </p:sp>
      <p:sp>
        <p:nvSpPr>
          <p:cNvPr id="40" name="テキスト ボックス 39">
            <a:extLst>
              <a:ext uri="{FF2B5EF4-FFF2-40B4-BE49-F238E27FC236}">
                <a16:creationId xmlns:a16="http://schemas.microsoft.com/office/drawing/2014/main" id="{60C70202-9FE3-2D82-DDA4-2468D4375E99}"/>
              </a:ext>
            </a:extLst>
          </p:cNvPr>
          <p:cNvSpPr txBox="1"/>
          <p:nvPr/>
        </p:nvSpPr>
        <p:spPr>
          <a:xfrm>
            <a:off x="826796" y="3596112"/>
            <a:ext cx="4441248" cy="246221"/>
          </a:xfrm>
          <a:prstGeom prst="rect">
            <a:avLst/>
          </a:prstGeom>
          <a:noFill/>
        </p:spPr>
        <p:txBody>
          <a:bodyPr wrap="square">
            <a:spAutoFit/>
          </a:bodyPr>
          <a:lstStyle/>
          <a:p>
            <a:r>
              <a:rPr lang="en-US" altLang="ja-JP" sz="1000" b="1" i="0" u="sng" dirty="0" err="1">
                <a:effectLst/>
                <a:latin typeface="Zen Kaku Gothic New"/>
              </a:rPr>
              <a:t>Celeble</a:t>
            </a:r>
            <a:r>
              <a:rPr lang="ja-JP" altLang="en-US" sz="1000" b="1" i="0" u="sng" dirty="0">
                <a:effectLst/>
                <a:latin typeface="Zen Kaku Gothic New"/>
              </a:rPr>
              <a:t>［セレブレ］ノンアルコールスパークリング ドライ</a:t>
            </a:r>
            <a:r>
              <a:rPr lang="ja-JP" altLang="en-US" sz="1000" b="1" dirty="0">
                <a:latin typeface="Zen Kaku Gothic New"/>
              </a:rPr>
              <a:t>（</a:t>
            </a:r>
            <a:r>
              <a:rPr lang="en-US" altLang="ja-JP" sz="1000" b="1" dirty="0">
                <a:latin typeface="Zen Kaku Gothic New"/>
              </a:rPr>
              <a:t>355ml</a:t>
            </a:r>
            <a:r>
              <a:rPr lang="ja-JP" altLang="en-US" sz="1000" b="1" dirty="0">
                <a:latin typeface="Zen Kaku Gothic New"/>
              </a:rPr>
              <a:t>）</a:t>
            </a:r>
            <a:endParaRPr lang="ja-JP" altLang="en-US" sz="1000" b="1" i="0" dirty="0">
              <a:effectLst/>
              <a:latin typeface="Zen Kaku Gothic New"/>
            </a:endParaRPr>
          </a:p>
        </p:txBody>
      </p:sp>
      <p:pic>
        <p:nvPicPr>
          <p:cNvPr id="2052" name="Picture 4">
            <a:extLst>
              <a:ext uri="{FF2B5EF4-FFF2-40B4-BE49-F238E27FC236}">
                <a16:creationId xmlns:a16="http://schemas.microsoft.com/office/drawing/2014/main" id="{906997FF-5688-9336-CBC7-65EAF6D47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970" y="1541981"/>
            <a:ext cx="601027" cy="99556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DEB6C61A-0E61-11A1-96FF-B0F53BEFBA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296" y="2654511"/>
            <a:ext cx="475959" cy="79757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E865E751-2C7E-AA4A-332E-770B692A7B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296" y="3657614"/>
            <a:ext cx="489110" cy="817390"/>
          </a:xfrm>
          <a:prstGeom prst="rect">
            <a:avLst/>
          </a:prstGeom>
          <a:noFill/>
          <a:extLst>
            <a:ext uri="{909E8E84-426E-40DD-AFC4-6F175D3DCCD1}">
              <a14:hiddenFill xmlns:a14="http://schemas.microsoft.com/office/drawing/2010/main">
                <a:solidFill>
                  <a:srgbClr val="FFFFFF"/>
                </a:solidFill>
              </a14:hiddenFill>
            </a:ext>
          </a:extLst>
        </p:spPr>
      </p:pic>
      <p:sp>
        <p:nvSpPr>
          <p:cNvPr id="44" name="テキスト ボックス 43">
            <a:extLst>
              <a:ext uri="{FF2B5EF4-FFF2-40B4-BE49-F238E27FC236}">
                <a16:creationId xmlns:a16="http://schemas.microsoft.com/office/drawing/2014/main" id="{DA8F4697-1A83-0E0C-E5C4-4C6B0AB85A11}"/>
              </a:ext>
            </a:extLst>
          </p:cNvPr>
          <p:cNvSpPr txBox="1"/>
          <p:nvPr/>
        </p:nvSpPr>
        <p:spPr>
          <a:xfrm>
            <a:off x="5637212" y="3663662"/>
            <a:ext cx="3489322" cy="861774"/>
          </a:xfrm>
          <a:prstGeom prst="rect">
            <a:avLst/>
          </a:prstGeom>
          <a:noFill/>
        </p:spPr>
        <p:txBody>
          <a:bodyPr wrap="square">
            <a:spAutoFit/>
          </a:bodyPr>
          <a:lstStyle/>
          <a:p>
            <a:r>
              <a:rPr lang="ja-JP" altLang="en-US" sz="1000" dirty="0">
                <a:latin typeface="Meiryo UI" panose="020B0604030504040204" pitchFamily="50" charset="-128"/>
                <a:ea typeface="Meiryo UI" panose="020B0604030504040204" pitchFamily="50" charset="-128"/>
              </a:rPr>
              <a:t>東京・自由が丘にあるヴィーガンレストラン「菜道（さいどう）」のシェフであり、東京観光大使も務める楠本勝三シェフ。</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フレンチと和食の技法を融合させた独自のスタイルで、</a:t>
            </a:r>
            <a:r>
              <a:rPr lang="en-US" altLang="ja-JP" sz="1000" dirty="0">
                <a:latin typeface="Meiryo UI" panose="020B0604030504040204" pitchFamily="50" charset="-128"/>
                <a:ea typeface="Meiryo UI" panose="020B0604030504040204" pitchFamily="50" charset="-128"/>
              </a:rPr>
              <a:t>2019</a:t>
            </a:r>
            <a:r>
              <a:rPr lang="ja-JP" altLang="en-US" sz="1000" dirty="0">
                <a:latin typeface="Meiryo UI" panose="020B0604030504040204" pitchFamily="50" charset="-128"/>
                <a:ea typeface="Meiryo UI" panose="020B0604030504040204" pitchFamily="50" charset="-128"/>
              </a:rPr>
              <a:t>年には世界最大のヴィーガンレストラン情報サイト「</a:t>
            </a:r>
            <a:r>
              <a:rPr lang="en-US" altLang="ja-JP" sz="1000" dirty="0" err="1">
                <a:latin typeface="Meiryo UI" panose="020B0604030504040204" pitchFamily="50" charset="-128"/>
                <a:ea typeface="Meiryo UI" panose="020B0604030504040204" pitchFamily="50" charset="-128"/>
              </a:rPr>
              <a:t>HappyCow</a:t>
            </a:r>
            <a:r>
              <a:rPr lang="ja-JP" altLang="en-US" sz="1000" dirty="0">
                <a:latin typeface="Meiryo UI" panose="020B0604030504040204" pitchFamily="50" charset="-128"/>
                <a:ea typeface="Meiryo UI" panose="020B0604030504040204" pitchFamily="50" charset="-128"/>
              </a:rPr>
              <a:t>」で世界</a:t>
            </a:r>
            <a:r>
              <a:rPr lang="en-US" altLang="ja-JP" sz="1000" dirty="0">
                <a:latin typeface="Meiryo UI" panose="020B0604030504040204" pitchFamily="50" charset="-128"/>
                <a:ea typeface="Meiryo UI" panose="020B0604030504040204" pitchFamily="50" charset="-128"/>
              </a:rPr>
              <a:t>1</a:t>
            </a:r>
            <a:r>
              <a:rPr lang="ja-JP" altLang="en-US" sz="1000" dirty="0">
                <a:latin typeface="Meiryo UI" panose="020B0604030504040204" pitchFamily="50" charset="-128"/>
                <a:ea typeface="Meiryo UI" panose="020B0604030504040204" pitchFamily="50" charset="-128"/>
              </a:rPr>
              <a:t>位を獲得するなど、国内外から高い評価を得ている。</a:t>
            </a:r>
          </a:p>
        </p:txBody>
      </p:sp>
      <p:pic>
        <p:nvPicPr>
          <p:cNvPr id="46" name="図 45">
            <a:extLst>
              <a:ext uri="{FF2B5EF4-FFF2-40B4-BE49-F238E27FC236}">
                <a16:creationId xmlns:a16="http://schemas.microsoft.com/office/drawing/2014/main" id="{221A0C7D-FA8B-901D-2944-E6C4229467EB}"/>
              </a:ext>
            </a:extLst>
          </p:cNvPr>
          <p:cNvPicPr>
            <a:picLocks noChangeAspect="1"/>
          </p:cNvPicPr>
          <p:nvPr/>
        </p:nvPicPr>
        <p:blipFill>
          <a:blip r:embed="rId6"/>
          <a:stretch>
            <a:fillRect/>
          </a:stretch>
        </p:blipFill>
        <p:spPr>
          <a:xfrm>
            <a:off x="5997573" y="1433990"/>
            <a:ext cx="2681291" cy="2264469"/>
          </a:xfrm>
          <a:prstGeom prst="rect">
            <a:avLst/>
          </a:prstGeom>
        </p:spPr>
      </p:pic>
      <p:sp>
        <p:nvSpPr>
          <p:cNvPr id="48" name="テキスト ボックス 47">
            <a:extLst>
              <a:ext uri="{FF2B5EF4-FFF2-40B4-BE49-F238E27FC236}">
                <a16:creationId xmlns:a16="http://schemas.microsoft.com/office/drawing/2014/main" id="{B56344B8-1498-61F9-EDCA-F47B20CBCC74}"/>
              </a:ext>
            </a:extLst>
          </p:cNvPr>
          <p:cNvSpPr txBox="1"/>
          <p:nvPr/>
        </p:nvSpPr>
        <p:spPr>
          <a:xfrm>
            <a:off x="5637212" y="1222621"/>
            <a:ext cx="3113088" cy="276999"/>
          </a:xfrm>
          <a:prstGeom prst="rect">
            <a:avLst/>
          </a:prstGeom>
          <a:noFill/>
        </p:spPr>
        <p:txBody>
          <a:bodyPr wrap="square">
            <a:spAutoFit/>
          </a:bodyPr>
          <a:lstStyle/>
          <a:p>
            <a:pPr algn="l">
              <a:buNone/>
            </a:pPr>
            <a:r>
              <a:rPr lang="en-US" altLang="ja-JP" sz="1200" b="1" i="0" dirty="0" err="1">
                <a:effectLst/>
                <a:latin typeface="Meiryo UI" panose="020B0604030504040204" pitchFamily="50" charset="-128"/>
                <a:ea typeface="Meiryo UI" panose="020B0604030504040204" pitchFamily="50" charset="-128"/>
              </a:rPr>
              <a:t>Celeble</a:t>
            </a:r>
            <a:r>
              <a:rPr lang="ja-JP" altLang="en-US" sz="1200" b="1" i="0" dirty="0">
                <a:effectLst/>
                <a:latin typeface="Meiryo UI" panose="020B0604030504040204" pitchFamily="50" charset="-128"/>
                <a:ea typeface="Meiryo UI" panose="020B0604030504040204" pitchFamily="50" charset="-128"/>
              </a:rPr>
              <a:t>のアンバサダーに楠本勝三氏を起用</a:t>
            </a:r>
          </a:p>
        </p:txBody>
      </p:sp>
      <p:sp>
        <p:nvSpPr>
          <p:cNvPr id="49" name="テキスト ボックス 48">
            <a:extLst>
              <a:ext uri="{FF2B5EF4-FFF2-40B4-BE49-F238E27FC236}">
                <a16:creationId xmlns:a16="http://schemas.microsoft.com/office/drawing/2014/main" id="{575BCBE5-D541-B0BA-76EF-4125F64502CE}"/>
              </a:ext>
            </a:extLst>
          </p:cNvPr>
          <p:cNvSpPr txBox="1"/>
          <p:nvPr/>
        </p:nvSpPr>
        <p:spPr>
          <a:xfrm>
            <a:off x="38099" y="29724"/>
            <a:ext cx="311554" cy="261025"/>
          </a:xfrm>
          <a:prstGeom prst="rect">
            <a:avLst/>
          </a:prstGeom>
          <a:solidFill>
            <a:srgbClr val="FFFF00"/>
          </a:solidFill>
        </p:spPr>
        <p:txBody>
          <a:bodyPr wrap="square" rtlCol="0">
            <a:spAutoFit/>
          </a:bodyPr>
          <a:lstStyle/>
          <a:p>
            <a:r>
              <a:rPr lang="ja-JP" altLang="en-US" sz="1050" b="1" dirty="0">
                <a:solidFill>
                  <a:srgbClr val="FF0000"/>
                </a:solidFill>
                <a:latin typeface="Meiryo UI" panose="020B0604030504040204" pitchFamily="50" charset="-128"/>
                <a:ea typeface="Meiryo UI" panose="020B0604030504040204" pitchFamily="50" charset="-128"/>
              </a:rPr>
              <a:t>③</a:t>
            </a:r>
          </a:p>
        </p:txBody>
      </p:sp>
      <p:sp>
        <p:nvSpPr>
          <p:cNvPr id="2" name="Rectangle 8">
            <a:extLst>
              <a:ext uri="{FF2B5EF4-FFF2-40B4-BE49-F238E27FC236}">
                <a16:creationId xmlns:a16="http://schemas.microsoft.com/office/drawing/2014/main" id="{3EBAFC35-E707-7C05-F7C6-12718EBCB234}"/>
              </a:ext>
            </a:extLst>
          </p:cNvPr>
          <p:cNvSpPr/>
          <p:nvPr/>
        </p:nvSpPr>
        <p:spPr>
          <a:xfrm>
            <a:off x="469709" y="5691877"/>
            <a:ext cx="2651409" cy="197209"/>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err="1">
                <a:solidFill>
                  <a:schemeClr val="tx1"/>
                </a:solidFill>
                <a:latin typeface="Meiryo UI" panose="020B0604030504040204" pitchFamily="50" charset="-128"/>
                <a:ea typeface="Meiryo UI" panose="020B0604030504040204" pitchFamily="50" charset="-128"/>
              </a:rPr>
              <a:t>当社の提供価値（本事業</a:t>
            </a:r>
            <a:r>
              <a:rPr sz="1600" b="1" dirty="0">
                <a:solidFill>
                  <a:schemeClr val="tx1"/>
                </a:solidFill>
                <a:latin typeface="Meiryo UI" panose="020B0604030504040204" pitchFamily="50" charset="-128"/>
                <a:ea typeface="Meiryo UI" panose="020B0604030504040204" pitchFamily="50" charset="-128"/>
              </a:rPr>
              <a:t>）</a:t>
            </a:r>
          </a:p>
        </p:txBody>
      </p:sp>
      <p:sp>
        <p:nvSpPr>
          <p:cNvPr id="3" name="Rounded Rectangle 9">
            <a:extLst>
              <a:ext uri="{FF2B5EF4-FFF2-40B4-BE49-F238E27FC236}">
                <a16:creationId xmlns:a16="http://schemas.microsoft.com/office/drawing/2014/main" id="{C338E547-3574-1E87-0DB9-FA1A131034E7}"/>
              </a:ext>
            </a:extLst>
          </p:cNvPr>
          <p:cNvSpPr/>
          <p:nvPr/>
        </p:nvSpPr>
        <p:spPr>
          <a:xfrm>
            <a:off x="469709" y="5929553"/>
            <a:ext cx="2651409" cy="806103"/>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200" dirty="0">
                <a:solidFill>
                  <a:schemeClr val="tx1"/>
                </a:solidFill>
                <a:latin typeface="Meiryo UI" panose="020B0604030504040204" pitchFamily="50" charset="-128"/>
                <a:ea typeface="Meiryo UI" panose="020B0604030504040204" pitchFamily="50" charset="-128"/>
              </a:rPr>
              <a:t>・受注～出荷の自動化で省力化</a:t>
            </a:r>
          </a:p>
          <a:p>
            <a:r>
              <a:rPr lang="ja-JP" altLang="en-US" sz="1200" dirty="0">
                <a:solidFill>
                  <a:schemeClr val="tx1"/>
                </a:solidFill>
                <a:latin typeface="Meiryo UI" panose="020B0604030504040204" pitchFamily="50" charset="-128"/>
                <a:ea typeface="Meiryo UI" panose="020B0604030504040204" pitchFamily="50" charset="-128"/>
              </a:rPr>
              <a:t>・欠品・返品の抑制</a:t>
            </a:r>
          </a:p>
          <a:p>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0.00</a:t>
            </a:r>
            <a:r>
              <a:rPr lang="ja-JP" altLang="en-US" sz="1200" dirty="0">
                <a:solidFill>
                  <a:schemeClr val="tx1"/>
                </a:solidFill>
                <a:latin typeface="Meiryo UI" panose="020B0604030504040204" pitchFamily="50" charset="-128"/>
                <a:ea typeface="Meiryo UI" panose="020B0604030504040204" pitchFamily="50" charset="-128"/>
              </a:rPr>
              <a:t>％ノンアルで多様性対応</a:t>
            </a:r>
          </a:p>
          <a:p>
            <a:r>
              <a:rPr lang="ja-JP" altLang="en-US" sz="1200" dirty="0">
                <a:solidFill>
                  <a:schemeClr val="tx1"/>
                </a:solidFill>
                <a:latin typeface="Meiryo UI" panose="020B0604030504040204" pitchFamily="50" charset="-128"/>
                <a:ea typeface="Meiryo UI" panose="020B0604030504040204" pitchFamily="50" charset="-128"/>
              </a:rPr>
              <a:t>・日本品質の安心感</a:t>
            </a:r>
          </a:p>
        </p:txBody>
      </p:sp>
      <p:sp>
        <p:nvSpPr>
          <p:cNvPr id="4" name="Rectangle 2">
            <a:extLst>
              <a:ext uri="{FF2B5EF4-FFF2-40B4-BE49-F238E27FC236}">
                <a16:creationId xmlns:a16="http://schemas.microsoft.com/office/drawing/2014/main" id="{DC83B261-9BAD-9C05-5B16-65A421D8391A}"/>
              </a:ext>
            </a:extLst>
          </p:cNvPr>
          <p:cNvSpPr/>
          <p:nvPr/>
        </p:nvSpPr>
        <p:spPr>
          <a:xfrm>
            <a:off x="3308350" y="5696159"/>
            <a:ext cx="2326880" cy="189323"/>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b="1" dirty="0">
                <a:solidFill>
                  <a:schemeClr val="tx1"/>
                </a:solidFill>
                <a:latin typeface="Meiryo UI" panose="020B0604030504040204" pitchFamily="50" charset="-128"/>
                <a:ea typeface="Meiryo UI" panose="020B0604030504040204" pitchFamily="50" charset="-128"/>
              </a:rPr>
              <a:t>発注者のニーズ</a:t>
            </a:r>
            <a:endParaRPr sz="1600" b="1" dirty="0">
              <a:solidFill>
                <a:schemeClr val="tx1"/>
              </a:solidFill>
              <a:latin typeface="Meiryo UI" panose="020B0604030504040204" pitchFamily="50" charset="-128"/>
              <a:ea typeface="Meiryo UI" panose="020B0604030504040204" pitchFamily="50" charset="-128"/>
            </a:endParaRPr>
          </a:p>
        </p:txBody>
      </p:sp>
      <p:sp>
        <p:nvSpPr>
          <p:cNvPr id="6" name="Rounded Rectangle 3">
            <a:extLst>
              <a:ext uri="{FF2B5EF4-FFF2-40B4-BE49-F238E27FC236}">
                <a16:creationId xmlns:a16="http://schemas.microsoft.com/office/drawing/2014/main" id="{F1719371-5FF0-789D-17BC-3ADD549048AB}"/>
              </a:ext>
            </a:extLst>
          </p:cNvPr>
          <p:cNvSpPr/>
          <p:nvPr/>
        </p:nvSpPr>
        <p:spPr>
          <a:xfrm>
            <a:off x="3308350" y="5929554"/>
            <a:ext cx="2326880" cy="806102"/>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200" dirty="0">
                <a:solidFill>
                  <a:schemeClr val="tx1"/>
                </a:solidFill>
                <a:latin typeface="Meiryo UI" panose="020B0604030504040204" pitchFamily="50" charset="-128"/>
                <a:ea typeface="Meiryo UI" panose="020B0604030504040204" pitchFamily="50" charset="-128"/>
              </a:rPr>
              <a:t>・安定供給・常温保管可</a:t>
            </a:r>
          </a:p>
          <a:p>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0.00</a:t>
            </a:r>
            <a:r>
              <a:rPr lang="ja-JP" altLang="en-US" sz="1200" dirty="0">
                <a:solidFill>
                  <a:schemeClr val="tx1"/>
                </a:solidFill>
                <a:latin typeface="Meiryo UI" panose="020B0604030504040204" pitchFamily="50" charset="-128"/>
                <a:ea typeface="Meiryo UI" panose="020B0604030504040204" pitchFamily="50" charset="-128"/>
              </a:rPr>
              <a:t>％表示で事故リスク低減</a:t>
            </a:r>
          </a:p>
          <a:p>
            <a:r>
              <a:rPr lang="ja-JP" altLang="en-US" sz="1200" dirty="0">
                <a:solidFill>
                  <a:schemeClr val="tx1"/>
                </a:solidFill>
                <a:latin typeface="Meiryo UI" panose="020B0604030504040204" pitchFamily="50" charset="-128"/>
                <a:ea typeface="Meiryo UI" panose="020B0604030504040204" pitchFamily="50" charset="-128"/>
              </a:rPr>
              <a:t>・多様性対応（宗教</a:t>
            </a:r>
            <a:r>
              <a:rPr lang="en-US" altLang="ja-JP" sz="1200" dirty="0">
                <a:solidFill>
                  <a:schemeClr val="tx1"/>
                </a:solidFill>
                <a:latin typeface="Meiryo UI" panose="020B0604030504040204" pitchFamily="50" charset="-128"/>
                <a:ea typeface="Meiryo UI" panose="020B0604030504040204" pitchFamily="50" charset="-128"/>
              </a:rPr>
              <a:t>/TPO</a:t>
            </a:r>
            <a:r>
              <a:rPr lang="ja-JP" altLang="en-US" sz="1200" dirty="0">
                <a:solidFill>
                  <a:schemeClr val="tx1"/>
                </a:solidFill>
                <a:latin typeface="Meiryo UI" panose="020B0604030504040204" pitchFamily="50" charset="-128"/>
                <a:ea typeface="Meiryo UI" panose="020B0604030504040204" pitchFamily="50" charset="-128"/>
              </a:rPr>
              <a:t>）</a:t>
            </a:r>
          </a:p>
          <a:p>
            <a:r>
              <a:rPr lang="ja-JP" altLang="en-US" sz="1200" dirty="0">
                <a:solidFill>
                  <a:schemeClr val="tx1"/>
                </a:solidFill>
                <a:latin typeface="Meiryo UI" panose="020B0604030504040204" pitchFamily="50" charset="-128"/>
                <a:ea typeface="Meiryo UI" panose="020B0604030504040204" pitchFamily="50" charset="-128"/>
              </a:rPr>
              <a:t>・差別化・</a:t>
            </a:r>
            <a:r>
              <a:rPr lang="en-US" altLang="ja-JP" sz="1200" dirty="0">
                <a:solidFill>
                  <a:schemeClr val="tx1"/>
                </a:solidFill>
                <a:latin typeface="Meiryo UI" panose="020B0604030504040204" pitchFamily="50" charset="-128"/>
                <a:ea typeface="Meiryo UI" panose="020B0604030504040204" pitchFamily="50" charset="-128"/>
              </a:rPr>
              <a:t>PR</a:t>
            </a:r>
            <a:r>
              <a:rPr lang="ja-JP" altLang="en-US" sz="1200" dirty="0">
                <a:solidFill>
                  <a:schemeClr val="tx1"/>
                </a:solidFill>
                <a:latin typeface="Meiryo UI" panose="020B0604030504040204" pitchFamily="50" charset="-128"/>
                <a:ea typeface="Meiryo UI" panose="020B0604030504040204" pitchFamily="50" charset="-128"/>
              </a:rPr>
              <a:t>効果</a:t>
            </a:r>
          </a:p>
        </p:txBody>
      </p:sp>
      <p:cxnSp>
        <p:nvCxnSpPr>
          <p:cNvPr id="7" name="Connector 4">
            <a:extLst>
              <a:ext uri="{FF2B5EF4-FFF2-40B4-BE49-F238E27FC236}">
                <a16:creationId xmlns:a16="http://schemas.microsoft.com/office/drawing/2014/main" id="{278204C1-D3C1-3052-CCBB-8C1D93E3B3CA}"/>
              </a:ext>
            </a:extLst>
          </p:cNvPr>
          <p:cNvCxnSpPr>
            <a:cxnSpLocks/>
            <a:stCxn id="3" idx="3"/>
            <a:endCxn id="6" idx="1"/>
          </p:cNvCxnSpPr>
          <p:nvPr/>
        </p:nvCxnSpPr>
        <p:spPr>
          <a:xfrm>
            <a:off x="3121118" y="6332605"/>
            <a:ext cx="187232"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8" name="Rectangle 2">
            <a:extLst>
              <a:ext uri="{FF2B5EF4-FFF2-40B4-BE49-F238E27FC236}">
                <a16:creationId xmlns:a16="http://schemas.microsoft.com/office/drawing/2014/main" id="{9421FE3D-7F70-0B44-CD41-03BE37A6E4A9}"/>
              </a:ext>
            </a:extLst>
          </p:cNvPr>
          <p:cNvSpPr/>
          <p:nvPr/>
        </p:nvSpPr>
        <p:spPr>
          <a:xfrm>
            <a:off x="5828698" y="5703552"/>
            <a:ext cx="2827345" cy="183699"/>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b="1" dirty="0">
                <a:solidFill>
                  <a:schemeClr val="tx1"/>
                </a:solidFill>
                <a:latin typeface="Meiryo UI" panose="020B0604030504040204" pitchFamily="50" charset="-128"/>
                <a:ea typeface="Meiryo UI" panose="020B0604030504040204" pitchFamily="50" charset="-128"/>
              </a:rPr>
              <a:t>エンドユーザーのニーズ</a:t>
            </a:r>
            <a:endParaRPr sz="1600" b="1" dirty="0">
              <a:solidFill>
                <a:schemeClr val="tx1"/>
              </a:solidFill>
              <a:latin typeface="Meiryo UI" panose="020B0604030504040204" pitchFamily="50" charset="-128"/>
              <a:ea typeface="Meiryo UI" panose="020B0604030504040204" pitchFamily="50" charset="-128"/>
            </a:endParaRPr>
          </a:p>
        </p:txBody>
      </p:sp>
      <p:sp>
        <p:nvSpPr>
          <p:cNvPr id="9" name="Rounded Rectangle 3">
            <a:extLst>
              <a:ext uri="{FF2B5EF4-FFF2-40B4-BE49-F238E27FC236}">
                <a16:creationId xmlns:a16="http://schemas.microsoft.com/office/drawing/2014/main" id="{0B8397F7-EF84-0A80-E11A-4B2F604577D6}"/>
              </a:ext>
            </a:extLst>
          </p:cNvPr>
          <p:cNvSpPr/>
          <p:nvPr/>
        </p:nvSpPr>
        <p:spPr>
          <a:xfrm>
            <a:off x="5828698" y="5936947"/>
            <a:ext cx="2827345" cy="806102"/>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200" dirty="0">
                <a:solidFill>
                  <a:schemeClr val="tx1"/>
                </a:solidFill>
                <a:latin typeface="Meiryo UI" panose="020B0604030504040204" pitchFamily="50" charset="-128"/>
                <a:ea typeface="Meiryo UI" panose="020B0604030504040204" pitchFamily="50" charset="-128"/>
              </a:rPr>
              <a:t>・食中に甘さが残らない上質な味</a:t>
            </a:r>
          </a:p>
          <a:p>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0.00</a:t>
            </a:r>
            <a:r>
              <a:rPr lang="ja-JP" altLang="en-US" sz="1200" dirty="0">
                <a:solidFill>
                  <a:schemeClr val="tx1"/>
                </a:solidFill>
                <a:latin typeface="Meiryo UI" panose="020B0604030504040204" pitchFamily="50" charset="-128"/>
                <a:ea typeface="Meiryo UI" panose="020B0604030504040204" pitchFamily="50" charset="-128"/>
              </a:rPr>
              <a:t>％表示による安心（運転・健康）</a:t>
            </a:r>
          </a:p>
          <a:p>
            <a:r>
              <a:rPr lang="ja-JP" altLang="en-US" sz="1200" dirty="0">
                <a:solidFill>
                  <a:schemeClr val="tx1"/>
                </a:solidFill>
                <a:latin typeface="Meiryo UI" panose="020B0604030504040204" pitchFamily="50" charset="-128"/>
                <a:ea typeface="Meiryo UI" panose="020B0604030504040204" pitchFamily="50" charset="-128"/>
              </a:rPr>
              <a:t>・宗教・嗜好の多様性に対応</a:t>
            </a:r>
          </a:p>
          <a:p>
            <a:r>
              <a:rPr lang="ja-JP" altLang="en-US" sz="1200" dirty="0">
                <a:solidFill>
                  <a:schemeClr val="tx1"/>
                </a:solidFill>
                <a:latin typeface="Meiryo UI" panose="020B0604030504040204" pitchFamily="50" charset="-128"/>
                <a:ea typeface="Meiryo UI" panose="020B0604030504040204" pitchFamily="50" charset="-128"/>
              </a:rPr>
              <a:t>・同じボトルで乾杯できる体験価値</a:t>
            </a:r>
          </a:p>
        </p:txBody>
      </p:sp>
      <p:cxnSp>
        <p:nvCxnSpPr>
          <p:cNvPr id="10" name="Connector 4">
            <a:extLst>
              <a:ext uri="{FF2B5EF4-FFF2-40B4-BE49-F238E27FC236}">
                <a16:creationId xmlns:a16="http://schemas.microsoft.com/office/drawing/2014/main" id="{0F374CB0-4025-F6E8-24FE-C8D539D6D2AB}"/>
              </a:ext>
            </a:extLst>
          </p:cNvPr>
          <p:cNvCxnSpPr>
            <a:cxnSpLocks/>
            <a:endCxn id="9" idx="1"/>
          </p:cNvCxnSpPr>
          <p:nvPr/>
        </p:nvCxnSpPr>
        <p:spPr>
          <a:xfrm>
            <a:off x="5641467" y="6339998"/>
            <a:ext cx="187231"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1" name="Rounded Rectangle 2">
            <a:extLst>
              <a:ext uri="{FF2B5EF4-FFF2-40B4-BE49-F238E27FC236}">
                <a16:creationId xmlns:a16="http://schemas.microsoft.com/office/drawing/2014/main" id="{F81190C8-80B0-91A5-F2BD-42F9F4B6A194}"/>
              </a:ext>
            </a:extLst>
          </p:cNvPr>
          <p:cNvSpPr/>
          <p:nvPr/>
        </p:nvSpPr>
        <p:spPr>
          <a:xfrm>
            <a:off x="1872591" y="4651809"/>
            <a:ext cx="5381644" cy="515981"/>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0080"/>
                </a:solidFill>
              </a:defRPr>
            </a:pPr>
            <a:r>
              <a:rPr lang="ja-JP" altLang="en-US" sz="1400" dirty="0">
                <a:solidFill>
                  <a:schemeClr val="tx1"/>
                </a:solidFill>
                <a:latin typeface="Meiryo UI" panose="020B0604030504040204" pitchFamily="50" charset="-128"/>
                <a:ea typeface="Meiryo UI" panose="020B0604030504040204" pitchFamily="50" charset="-128"/>
              </a:rPr>
              <a:t>中核：ベトナムを起点に越境</a:t>
            </a:r>
            <a:r>
              <a:rPr lang="en-US" altLang="ja-JP" sz="1400" dirty="0">
                <a:solidFill>
                  <a:schemeClr val="tx1"/>
                </a:solidFill>
                <a:latin typeface="Meiryo UI" panose="020B0604030504040204" pitchFamily="50" charset="-128"/>
                <a:ea typeface="Meiryo UI" panose="020B0604030504040204" pitchFamily="50" charset="-128"/>
              </a:rPr>
              <a:t>EC</a:t>
            </a:r>
            <a:r>
              <a:rPr lang="ja-JP" altLang="en-US" sz="1400" dirty="0">
                <a:solidFill>
                  <a:schemeClr val="tx1"/>
                </a:solidFill>
                <a:latin typeface="Meiryo UI" panose="020B0604030504040204" pitchFamily="50" charset="-128"/>
                <a:ea typeface="Meiryo UI" panose="020B0604030504040204" pitchFamily="50" charset="-128"/>
              </a:rPr>
              <a:t> </a:t>
            </a:r>
            <a:r>
              <a:rPr lang="en-US" altLang="ja-JP" sz="1400" dirty="0">
                <a:solidFill>
                  <a:schemeClr val="tx1"/>
                </a:solidFill>
                <a:latin typeface="Meiryo UI" panose="020B0604030504040204" pitchFamily="50" charset="-128"/>
                <a:ea typeface="Meiryo UI" panose="020B0604030504040204" pitchFamily="50" charset="-128"/>
              </a:rPr>
              <a:t>× </a:t>
            </a:r>
            <a:r>
              <a:rPr lang="ja-JP" altLang="en-US" sz="1400" dirty="0">
                <a:solidFill>
                  <a:schemeClr val="tx1"/>
                </a:solidFill>
                <a:latin typeface="Meiryo UI" panose="020B0604030504040204" pitchFamily="50" charset="-128"/>
                <a:ea typeface="Meiryo UI" panose="020B0604030504040204" pitchFamily="50" charset="-128"/>
              </a:rPr>
              <a:t>共通の型構築</a:t>
            </a:r>
            <a:endParaRPr lang="en-US" altLang="ja-JP" sz="1400" dirty="0">
              <a:solidFill>
                <a:schemeClr val="tx1"/>
              </a:solidFill>
              <a:latin typeface="Meiryo UI" panose="020B0604030504040204" pitchFamily="50" charset="-128"/>
              <a:ea typeface="Meiryo UI" panose="020B0604030504040204" pitchFamily="50" charset="-128"/>
            </a:endParaRPr>
          </a:p>
          <a:p>
            <a:pPr algn="ctr">
              <a:defRPr sz="1400" b="1">
                <a:solidFill>
                  <a:srgbClr val="000080"/>
                </a:solidFill>
              </a:defRPr>
            </a:pPr>
            <a:r>
              <a:rPr lang="ja-JP" altLang="en-US" sz="1400" dirty="0">
                <a:solidFill>
                  <a:schemeClr val="tx1"/>
                </a:solidFill>
                <a:latin typeface="Meiryo UI" panose="020B0604030504040204" pitchFamily="50" charset="-128"/>
                <a:ea typeface="Meiryo UI" panose="020B0604030504040204" pitchFamily="50" charset="-128"/>
              </a:rPr>
              <a:t>輸出仕様整備～受注～在庫～出荷まで一気通貫の可視化・自動化</a:t>
            </a:r>
          </a:p>
        </p:txBody>
      </p:sp>
      <p:cxnSp>
        <p:nvCxnSpPr>
          <p:cNvPr id="37" name="直線矢印コネクタ 36">
            <a:extLst>
              <a:ext uri="{FF2B5EF4-FFF2-40B4-BE49-F238E27FC236}">
                <a16:creationId xmlns:a16="http://schemas.microsoft.com/office/drawing/2014/main" id="{35D55D3D-E8A4-8D7F-A813-00E225A59E59}"/>
              </a:ext>
            </a:extLst>
          </p:cNvPr>
          <p:cNvCxnSpPr>
            <a:cxnSpLocks/>
            <a:stCxn id="11" idx="2"/>
            <a:endCxn id="42" idx="0"/>
          </p:cNvCxnSpPr>
          <p:nvPr/>
        </p:nvCxnSpPr>
        <p:spPr>
          <a:xfrm>
            <a:off x="4563413" y="5167790"/>
            <a:ext cx="3176" cy="1247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23703B09-6615-9A13-4750-3B5F7A0C24D7}"/>
              </a:ext>
            </a:extLst>
          </p:cNvPr>
          <p:cNvSpPr txBox="1"/>
          <p:nvPr/>
        </p:nvSpPr>
        <p:spPr>
          <a:xfrm>
            <a:off x="44450" y="5292575"/>
            <a:ext cx="9044277" cy="307777"/>
          </a:xfrm>
          <a:prstGeom prst="rect">
            <a:avLst/>
          </a:prstGeom>
          <a:solidFill>
            <a:schemeClr val="accent6">
              <a:lumMod val="20000"/>
              <a:lumOff val="80000"/>
            </a:schemeClr>
          </a:solidFill>
          <a:ln>
            <a:solidFill>
              <a:schemeClr val="accent5"/>
            </a:solidFill>
          </a:ln>
        </p:spPr>
        <p:txBody>
          <a:bodyPr wrap="square">
            <a:spAutoFit/>
          </a:bodyPr>
          <a:lstStyle/>
          <a:p>
            <a:pPr algn="ctr"/>
            <a:r>
              <a:rPr lang="ja-JP" altLang="en-US" sz="1400" b="1" kern="0" spc="25" dirty="0">
                <a:effectLst/>
                <a:latin typeface="Meiryo UI" panose="020B0604030504040204" pitchFamily="50" charset="-128"/>
                <a:ea typeface="Meiryo UI" panose="020B0604030504040204" pitchFamily="50" charset="-128"/>
                <a:cs typeface="Times New Roman" panose="02020603050405020304" pitchFamily="18" charset="0"/>
              </a:rPr>
              <a:t>多国展開で</a:t>
            </a:r>
            <a:r>
              <a:rPr lang="ja-JP" altLang="ja-JP" sz="1400" b="1" kern="0" spc="25" dirty="0">
                <a:effectLst/>
                <a:latin typeface="Meiryo UI" panose="020B0604030504040204" pitchFamily="50" charset="-128"/>
                <a:ea typeface="Meiryo UI" panose="020B0604030504040204" pitchFamily="50" charset="-128"/>
                <a:cs typeface="Times New Roman" panose="02020603050405020304" pitchFamily="18" charset="0"/>
              </a:rPr>
              <a:t>海外売上比率を高め、持続的成長と収益基盤</a:t>
            </a:r>
            <a:r>
              <a:rPr lang="ja-JP" altLang="en-US" sz="1400" b="1" kern="0" spc="25" dirty="0">
                <a:effectLst/>
                <a:latin typeface="Meiryo UI" panose="020B0604030504040204" pitchFamily="50" charset="-128"/>
                <a:ea typeface="Meiryo UI" panose="020B0604030504040204" pitchFamily="50" charset="-128"/>
                <a:cs typeface="Times New Roman" panose="02020603050405020304" pitchFamily="18" charset="0"/>
              </a:rPr>
              <a:t>を</a:t>
            </a:r>
            <a:r>
              <a:rPr lang="ja-JP" altLang="ja-JP" sz="1400" b="1" kern="0" spc="25" dirty="0">
                <a:effectLst/>
                <a:latin typeface="Meiryo UI" panose="020B0604030504040204" pitchFamily="50" charset="-128"/>
                <a:ea typeface="Meiryo UI" panose="020B0604030504040204" pitchFamily="50" charset="-128"/>
                <a:cs typeface="Times New Roman" panose="02020603050405020304" pitchFamily="18" charset="0"/>
              </a:rPr>
              <a:t>強化</a:t>
            </a:r>
            <a:endParaRPr lang="ja-JP" altLang="en-US" sz="1400" b="1" dirty="0">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05707A00-7E7D-51CB-D64A-9B70846046F4}"/>
              </a:ext>
            </a:extLst>
          </p:cNvPr>
          <p:cNvSpPr/>
          <p:nvPr/>
        </p:nvSpPr>
        <p:spPr>
          <a:xfrm>
            <a:off x="38099" y="4641298"/>
            <a:ext cx="9050628" cy="21646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EF7987FF-1C02-8171-26A3-0DA7851F5006}"/>
              </a:ext>
            </a:extLst>
          </p:cNvPr>
          <p:cNvSpPr txBox="1"/>
          <p:nvPr/>
        </p:nvSpPr>
        <p:spPr>
          <a:xfrm>
            <a:off x="50801" y="4659363"/>
            <a:ext cx="311554" cy="261025"/>
          </a:xfrm>
          <a:prstGeom prst="rect">
            <a:avLst/>
          </a:prstGeom>
          <a:solidFill>
            <a:srgbClr val="FFFF00"/>
          </a:solidFill>
        </p:spPr>
        <p:txBody>
          <a:bodyPr wrap="square" rtlCol="0">
            <a:spAutoFit/>
          </a:bodyPr>
          <a:lstStyle/>
          <a:p>
            <a:r>
              <a:rPr lang="ja-JP" altLang="en-US" sz="1050" b="1" dirty="0">
                <a:solidFill>
                  <a:srgbClr val="FF0000"/>
                </a:solidFill>
                <a:latin typeface="Meiryo UI" panose="020B0604030504040204" pitchFamily="50" charset="-128"/>
                <a:ea typeface="Meiryo UI" panose="020B0604030504040204" pitchFamily="50" charset="-128"/>
              </a:rPr>
              <a:t>④</a:t>
            </a:r>
          </a:p>
        </p:txBody>
      </p:sp>
      <p:sp>
        <p:nvSpPr>
          <p:cNvPr id="53" name="正方形/長方形 52">
            <a:extLst>
              <a:ext uri="{FF2B5EF4-FFF2-40B4-BE49-F238E27FC236}">
                <a16:creationId xmlns:a16="http://schemas.microsoft.com/office/drawing/2014/main" id="{2C348424-6F31-3DE9-3CF4-FEF789554853}"/>
              </a:ext>
            </a:extLst>
          </p:cNvPr>
          <p:cNvSpPr/>
          <p:nvPr/>
        </p:nvSpPr>
        <p:spPr>
          <a:xfrm>
            <a:off x="38099" y="27837"/>
            <a:ext cx="9024416" cy="45371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03353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テキスト ボックス 90">
            <a:extLst>
              <a:ext uri="{FF2B5EF4-FFF2-40B4-BE49-F238E27FC236}">
                <a16:creationId xmlns:a16="http://schemas.microsoft.com/office/drawing/2014/main" id="{DBF71449-72F5-385D-2FCF-5432CF604BA6}"/>
              </a:ext>
            </a:extLst>
          </p:cNvPr>
          <p:cNvSpPr txBox="1"/>
          <p:nvPr/>
        </p:nvSpPr>
        <p:spPr>
          <a:xfrm>
            <a:off x="0" y="50460"/>
            <a:ext cx="311554" cy="253916"/>
          </a:xfrm>
          <a:prstGeom prst="rect">
            <a:avLst/>
          </a:prstGeom>
          <a:solidFill>
            <a:srgbClr val="FFFF00"/>
          </a:solidFill>
        </p:spPr>
        <p:txBody>
          <a:bodyPr wrap="square" rtlCol="0">
            <a:spAutoFit/>
          </a:bodyPr>
          <a:lstStyle/>
          <a:p>
            <a:r>
              <a:rPr lang="ja-JP" altLang="en-US" sz="1050" b="1" dirty="0">
                <a:solidFill>
                  <a:srgbClr val="FF0000"/>
                </a:solidFill>
                <a:latin typeface="Meiryo UI" panose="020B0604030504040204" pitchFamily="50" charset="-128"/>
                <a:ea typeface="Meiryo UI" panose="020B0604030504040204" pitchFamily="50" charset="-128"/>
              </a:rPr>
              <a:t>⑤</a:t>
            </a:r>
          </a:p>
        </p:txBody>
      </p:sp>
      <p:pic>
        <p:nvPicPr>
          <p:cNvPr id="16" name="図 15">
            <a:extLst>
              <a:ext uri="{FF2B5EF4-FFF2-40B4-BE49-F238E27FC236}">
                <a16:creationId xmlns:a16="http://schemas.microsoft.com/office/drawing/2014/main" id="{4C7CF744-1C39-6565-03A9-70E231433FEB}"/>
              </a:ext>
            </a:extLst>
          </p:cNvPr>
          <p:cNvPicPr>
            <a:picLocks noChangeAspect="1"/>
          </p:cNvPicPr>
          <p:nvPr/>
        </p:nvPicPr>
        <p:blipFill>
          <a:blip r:embed="rId3"/>
          <a:stretch>
            <a:fillRect/>
          </a:stretch>
        </p:blipFill>
        <p:spPr>
          <a:xfrm>
            <a:off x="0" y="9525"/>
            <a:ext cx="9144000" cy="6848475"/>
          </a:xfrm>
          <a:prstGeom prst="rect">
            <a:avLst/>
          </a:prstGeom>
        </p:spPr>
      </p:pic>
    </p:spTree>
    <p:extLst>
      <p:ext uri="{BB962C8B-B14F-4D97-AF65-F5344CB8AC3E}">
        <p14:creationId xmlns:p14="http://schemas.microsoft.com/office/powerpoint/2010/main" val="174388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672EA-6A8E-D316-DF72-DAA1306BB9F8}"/>
            </a:ext>
          </a:extLst>
        </p:cNvPr>
        <p:cNvGrpSpPr/>
        <p:nvPr/>
      </p:nvGrpSpPr>
      <p:grpSpPr>
        <a:xfrm>
          <a:off x="0" y="0"/>
          <a:ext cx="0" cy="0"/>
          <a:chOff x="0" y="0"/>
          <a:chExt cx="0" cy="0"/>
        </a:xfrm>
      </p:grpSpPr>
      <p:graphicFrame>
        <p:nvGraphicFramePr>
          <p:cNvPr id="29" name="表 28">
            <a:extLst>
              <a:ext uri="{FF2B5EF4-FFF2-40B4-BE49-F238E27FC236}">
                <a16:creationId xmlns:a16="http://schemas.microsoft.com/office/drawing/2014/main" id="{125D4672-F01F-5346-D413-4A186F2E5A1E}"/>
              </a:ext>
            </a:extLst>
          </p:cNvPr>
          <p:cNvGraphicFramePr>
            <a:graphicFrameLocks noGrp="1"/>
          </p:cNvGraphicFramePr>
          <p:nvPr>
            <p:extLst>
              <p:ext uri="{D42A27DB-BD31-4B8C-83A1-F6EECF244321}">
                <p14:modId xmlns:p14="http://schemas.microsoft.com/office/powerpoint/2010/main" val="3842545013"/>
              </p:ext>
            </p:extLst>
          </p:nvPr>
        </p:nvGraphicFramePr>
        <p:xfrm>
          <a:off x="23090" y="10049"/>
          <a:ext cx="4003269" cy="3505201"/>
        </p:xfrm>
        <a:graphic>
          <a:graphicData uri="http://schemas.openxmlformats.org/drawingml/2006/table">
            <a:tbl>
              <a:tblPr firstRow="1" firstCol="1" bandRow="1">
                <a:tableStyleId>{5C22544A-7EE6-4342-B048-85BDC9FD1C3A}</a:tableStyleId>
              </a:tblPr>
              <a:tblGrid>
                <a:gridCol w="551806">
                  <a:extLst>
                    <a:ext uri="{9D8B030D-6E8A-4147-A177-3AD203B41FA5}">
                      <a16:colId xmlns:a16="http://schemas.microsoft.com/office/drawing/2014/main" val="69960311"/>
                    </a:ext>
                  </a:extLst>
                </a:gridCol>
                <a:gridCol w="512947">
                  <a:extLst>
                    <a:ext uri="{9D8B030D-6E8A-4147-A177-3AD203B41FA5}">
                      <a16:colId xmlns:a16="http://schemas.microsoft.com/office/drawing/2014/main" val="2050386788"/>
                    </a:ext>
                  </a:extLst>
                </a:gridCol>
                <a:gridCol w="523960">
                  <a:extLst>
                    <a:ext uri="{9D8B030D-6E8A-4147-A177-3AD203B41FA5}">
                      <a16:colId xmlns:a16="http://schemas.microsoft.com/office/drawing/2014/main" val="2690567618"/>
                    </a:ext>
                  </a:extLst>
                </a:gridCol>
                <a:gridCol w="2414556">
                  <a:extLst>
                    <a:ext uri="{9D8B030D-6E8A-4147-A177-3AD203B41FA5}">
                      <a16:colId xmlns:a16="http://schemas.microsoft.com/office/drawing/2014/main" val="3320362186"/>
                    </a:ext>
                  </a:extLst>
                </a:gridCol>
              </a:tblGrid>
              <a:tr h="259126">
                <a:tc gridSpan="4">
                  <a:txBody>
                    <a:bodyPr/>
                    <a:lstStyle/>
                    <a:p>
                      <a:pPr algn="ctr"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社内体制</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hMerge="1">
                  <a:txBody>
                    <a:bodyPr/>
                    <a:lstStyle/>
                    <a:p>
                      <a:pPr algn="ctr" fontAlgn="base" hangingPunct="0">
                        <a:lnSpc>
                          <a:spcPts val="1200"/>
                        </a:lnSpc>
                        <a:buNone/>
                      </a:pPr>
                      <a:endParaRPr lang="ja-JP" sz="100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tc>
                <a:tc hMerge="1">
                  <a:txBody>
                    <a:bodyPr/>
                    <a:lstStyle/>
                    <a:p>
                      <a:pPr algn="ctr" fontAlgn="base" hangingPunct="0">
                        <a:lnSpc>
                          <a:spcPts val="1200"/>
                        </a:lnSpc>
                        <a:buNone/>
                      </a:pPr>
                      <a:endParaRPr lang="ja-JP" sz="100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tc>
                <a:tc hMerge="1">
                  <a:txBody>
                    <a:bodyPr/>
                    <a:lstStyle/>
                    <a:p>
                      <a:pPr algn="ctr" fontAlgn="base" hangingPunct="0">
                        <a:lnSpc>
                          <a:spcPts val="1200"/>
                        </a:lnSpc>
                        <a:buNone/>
                      </a:pPr>
                      <a:endParaRPr lang="ja-JP" sz="100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tc>
                <a:extLst>
                  <a:ext uri="{0D108BD9-81ED-4DB2-BD59-A6C34878D82A}">
                    <a16:rowId xmlns:a16="http://schemas.microsoft.com/office/drawing/2014/main" val="1799109068"/>
                  </a:ext>
                </a:extLst>
              </a:tr>
              <a:tr h="259126">
                <a:tc>
                  <a:txBody>
                    <a:bodyPr/>
                    <a:lstStyle/>
                    <a:p>
                      <a:pPr algn="ctr"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氏名</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ctr"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役職</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ctr"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役割</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ctr" fontAlgn="base" hangingPunct="0">
                        <a:lnSpc>
                          <a:spcPts val="1200"/>
                        </a:lnSpc>
                        <a:buNone/>
                      </a:pPr>
                      <a:r>
                        <a:rPr lang="ja-JP" sz="1050" kern="100" dirty="0">
                          <a:effectLst/>
                          <a:latin typeface="Meiryo UI" panose="020B0604030504040204" pitchFamily="50" charset="-128"/>
                          <a:ea typeface="Meiryo UI" panose="020B0604030504040204" pitchFamily="50" charset="-128"/>
                        </a:rPr>
                        <a:t>経歴・遂行能力</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309160160"/>
                  </a:ext>
                </a:extLst>
              </a:tr>
              <a:tr h="518256">
                <a:tc>
                  <a:txBody>
                    <a:bodyPr/>
                    <a:lstStyle/>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翠田</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圭吾</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専務</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取締役</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統括責任者</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marL="0" marR="0" lvl="0" indent="0" algn="just"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全社経営戦略の策定、複数のプロジェクト立ち上げから執行までを担ってきた実績が豊富。本事業においても全体統括を担う。</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4026413352"/>
                  </a:ext>
                </a:extLst>
              </a:tr>
              <a:tr h="702586">
                <a:tc>
                  <a:txBody>
                    <a:bodyPr/>
                    <a:lstStyle/>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柴田</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佳織</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lnBlToTr w="12700" cap="flat" cmpd="sng" algn="ctr">
                      <a:noFill/>
                      <a:prstDash val="solid"/>
                      <a:round/>
                      <a:headEnd type="none" w="med" len="med"/>
                      <a:tailEnd type="none" w="med" len="med"/>
                    </a:lnBlToTr>
                  </a:tcP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課長</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推進責任者</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marL="0" marR="0" lvl="0" indent="0" algn="just"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既存事業での海外展開に従事。社内での</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DX</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化推進責任者としての実績も豊富で、</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IT</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やシステムに関するリテラシーが高い。本事業の遂行に問題は無い。</a:t>
                      </a:r>
                      <a:endParaRPr lang="ja-JP"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1204152187"/>
                  </a:ext>
                </a:extLst>
              </a:tr>
              <a:tr h="688958">
                <a:tc>
                  <a:txBody>
                    <a:bodyPr/>
                    <a:lstStyle/>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井上</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達裕</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lnBlToTr w="12700" cap="flat" cmpd="sng" algn="ctr">
                      <a:noFill/>
                      <a:prstDash val="solid"/>
                      <a:round/>
                      <a:headEnd type="none" w="med" len="med"/>
                      <a:tailEnd type="none" w="med" len="med"/>
                    </a:lnBlToTr>
                  </a:tcP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部長</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marL="0" marR="0" lvl="0" indent="0" algn="just"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営業責任者</a:t>
                      </a:r>
                      <a:endParaRPr lang="ja-JP"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marL="0" marR="0" lvl="0" indent="0" algn="just"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既存事業でのマーケティング戦略立案から実行までを数多く担当。顧客折衝や業者とのアライアンス経験も豊富であり、本事業の遂行に問題は無い。</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1056644162"/>
                  </a:ext>
                </a:extLst>
              </a:tr>
              <a:tr h="518256">
                <a:tc>
                  <a:txBody>
                    <a:bodyPr/>
                    <a:lstStyle/>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石井</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辰宏</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lnBlToTr w="12700" cap="flat" cmpd="sng" algn="ctr">
                      <a:noFill/>
                      <a:prstDash val="solid"/>
                      <a:round/>
                      <a:headEnd type="none" w="med" len="med"/>
                      <a:tailEnd type="none" w="med" len="med"/>
                    </a:lnBlToTr>
                  </a:tcP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課長</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推進スタッフ</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経理・法務での経験が長く、事務処理能力が高い。外国との取引文書作成実績も豊富であり、本事業の遂行に問題は無い。</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3259072240"/>
                  </a:ext>
                </a:extLst>
              </a:tr>
              <a:tr h="558893">
                <a:tc>
                  <a:txBody>
                    <a:bodyPr/>
                    <a:lstStyle/>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半沢</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algn="l"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多加江</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lnBlToTr w="12700" cap="flat" cmpd="sng" algn="ctr">
                      <a:noFill/>
                      <a:prstDash val="solid"/>
                      <a:round/>
                      <a:headEnd type="none" w="med" len="med"/>
                      <a:tailEnd type="none" w="med" len="med"/>
                    </a:lnBlToTr>
                  </a:tcP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係長</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営業</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スタッフ</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marL="0" marR="0" lvl="0" indent="0" algn="just"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既存事業での新規開拓プロジェクトをはじめ、営業に関わるプロジェクトマネジメント経験が豊富。本事業の遂行に問題は無い。</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3944824019"/>
                  </a:ext>
                </a:extLst>
              </a:tr>
            </a:tbl>
          </a:graphicData>
        </a:graphic>
      </p:graphicFrame>
      <p:graphicFrame>
        <p:nvGraphicFramePr>
          <p:cNvPr id="30" name="表 29">
            <a:extLst>
              <a:ext uri="{FF2B5EF4-FFF2-40B4-BE49-F238E27FC236}">
                <a16:creationId xmlns:a16="http://schemas.microsoft.com/office/drawing/2014/main" id="{077DD6F1-12FA-4079-C22A-3015BBAEB51D}"/>
              </a:ext>
            </a:extLst>
          </p:cNvPr>
          <p:cNvGraphicFramePr>
            <a:graphicFrameLocks noGrp="1"/>
          </p:cNvGraphicFramePr>
          <p:nvPr>
            <p:extLst>
              <p:ext uri="{D42A27DB-BD31-4B8C-83A1-F6EECF244321}">
                <p14:modId xmlns:p14="http://schemas.microsoft.com/office/powerpoint/2010/main" val="2023918485"/>
              </p:ext>
            </p:extLst>
          </p:nvPr>
        </p:nvGraphicFramePr>
        <p:xfrm>
          <a:off x="4049449" y="20096"/>
          <a:ext cx="5071461" cy="3505200"/>
        </p:xfrm>
        <a:graphic>
          <a:graphicData uri="http://schemas.openxmlformats.org/drawingml/2006/table">
            <a:tbl>
              <a:tblPr firstRow="1" firstCol="1" bandRow="1">
                <a:tableStyleId>{5C22544A-7EE6-4342-B048-85BDC9FD1C3A}</a:tableStyleId>
              </a:tblPr>
              <a:tblGrid>
                <a:gridCol w="1159125">
                  <a:extLst>
                    <a:ext uri="{9D8B030D-6E8A-4147-A177-3AD203B41FA5}">
                      <a16:colId xmlns:a16="http://schemas.microsoft.com/office/drawing/2014/main" val="1472725731"/>
                    </a:ext>
                  </a:extLst>
                </a:gridCol>
                <a:gridCol w="860630">
                  <a:extLst>
                    <a:ext uri="{9D8B030D-6E8A-4147-A177-3AD203B41FA5}">
                      <a16:colId xmlns:a16="http://schemas.microsoft.com/office/drawing/2014/main" val="69960311"/>
                    </a:ext>
                  </a:extLst>
                </a:gridCol>
                <a:gridCol w="3051706">
                  <a:extLst>
                    <a:ext uri="{9D8B030D-6E8A-4147-A177-3AD203B41FA5}">
                      <a16:colId xmlns:a16="http://schemas.microsoft.com/office/drawing/2014/main" val="3320362186"/>
                    </a:ext>
                  </a:extLst>
                </a:gridCol>
              </a:tblGrid>
              <a:tr h="115549">
                <a:tc gridSpan="3">
                  <a:txBody>
                    <a:bodyPr/>
                    <a:lstStyle/>
                    <a:p>
                      <a:pPr algn="ctr"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社外体制</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hMerge="1">
                  <a:txBody>
                    <a:bodyPr/>
                    <a:lstStyle/>
                    <a:p>
                      <a:pPr algn="ctr" fontAlgn="base" hangingPunct="0">
                        <a:lnSpc>
                          <a:spcPts val="1200"/>
                        </a:lnSpc>
                        <a:buNone/>
                      </a:pPr>
                      <a:endParaRPr lang="ja-JP" sz="100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tc>
                <a:tc hMerge="1">
                  <a:txBody>
                    <a:bodyPr/>
                    <a:lstStyle/>
                    <a:p>
                      <a:pPr algn="ctr" fontAlgn="base" hangingPunct="0">
                        <a:lnSpc>
                          <a:spcPts val="1200"/>
                        </a:lnSpc>
                        <a:buNone/>
                      </a:pPr>
                      <a:endParaRPr lang="ja-JP" sz="100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tc>
                <a:extLst>
                  <a:ext uri="{0D108BD9-81ED-4DB2-BD59-A6C34878D82A}">
                    <a16:rowId xmlns:a16="http://schemas.microsoft.com/office/drawing/2014/main" val="3246740766"/>
                  </a:ext>
                </a:extLst>
              </a:tr>
              <a:tr h="89662">
                <a:tc>
                  <a:txBody>
                    <a:bodyPr/>
                    <a:lstStyle/>
                    <a:p>
                      <a:pPr algn="ctr" fontAlgn="base" hangingPunct="0">
                        <a:lnSpc>
                          <a:spcPts val="1200"/>
                        </a:lnSpc>
                        <a:buNone/>
                      </a:pPr>
                      <a:r>
                        <a:rPr lang="ja-JP" sz="1050" kern="100" dirty="0">
                          <a:effectLst/>
                          <a:latin typeface="Meiryo UI" panose="020B0604030504040204" pitchFamily="50" charset="-128"/>
                          <a:ea typeface="Meiryo UI" panose="020B0604030504040204" pitchFamily="50" charset="-128"/>
                        </a:rPr>
                        <a:t>役割</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ctr" fontAlgn="base" hangingPunct="0">
                        <a:lnSpc>
                          <a:spcPts val="1200"/>
                        </a:lnSpc>
                        <a:buNone/>
                      </a:pPr>
                      <a:r>
                        <a:rPr lang="ja-JP" sz="1050" kern="100" dirty="0">
                          <a:effectLst/>
                          <a:latin typeface="Meiryo UI" panose="020B0604030504040204" pitchFamily="50" charset="-128"/>
                          <a:ea typeface="Meiryo UI" panose="020B0604030504040204" pitchFamily="50" charset="-128"/>
                        </a:rPr>
                        <a:t>社名</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ctr" fontAlgn="base" hangingPunct="0">
                        <a:lnSpc>
                          <a:spcPts val="1200"/>
                        </a:lnSpc>
                        <a:buNone/>
                      </a:pPr>
                      <a:r>
                        <a:rPr lang="ja-JP" sz="1050" kern="100" dirty="0">
                          <a:effectLst/>
                          <a:latin typeface="Meiryo UI" panose="020B0604030504040204" pitchFamily="50" charset="-128"/>
                          <a:ea typeface="Meiryo UI" panose="020B0604030504040204" pitchFamily="50" charset="-128"/>
                        </a:rPr>
                        <a:t>経歴・遂行能力</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309160160"/>
                  </a:ext>
                </a:extLst>
              </a:tr>
              <a:tr h="537970">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越境</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EC</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プラットフォームの構築</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マーケティングパートナー㈱</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l" fontAlgn="base" hangingPunct="0">
                        <a:lnSpc>
                          <a:spcPts val="1200"/>
                        </a:lnSpc>
                        <a:buNone/>
                      </a:pPr>
                      <a:r>
                        <a:rPr kumimoji="1" lang="en-US" altLang="ja-JP" sz="1050" kern="100" dirty="0">
                          <a:solidFill>
                            <a:schemeClr val="dk1"/>
                          </a:solidFill>
                          <a:effectLst/>
                          <a:latin typeface="Meiryo UI" panose="020B0604030504040204" pitchFamily="50" charset="-128"/>
                          <a:ea typeface="Meiryo UI" panose="020B0604030504040204" pitchFamily="50" charset="-128"/>
                        </a:rPr>
                        <a:t>SBS</a:t>
                      </a:r>
                      <a:r>
                        <a:rPr kumimoji="1" lang="ja-JP" altLang="en-US" sz="1050" kern="100" dirty="0">
                          <a:solidFill>
                            <a:schemeClr val="dk1"/>
                          </a:solidFill>
                          <a:effectLst/>
                          <a:latin typeface="Meiryo UI" panose="020B0604030504040204" pitchFamily="50" charset="-128"/>
                          <a:ea typeface="Meiryo UI" panose="020B0604030504040204" pitchFamily="50" charset="-128"/>
                        </a:rPr>
                        <a:t>子会社として</a:t>
                      </a:r>
                      <a:r>
                        <a:rPr kumimoji="1" lang="en-US" altLang="ja-JP" sz="1050" kern="100" dirty="0">
                          <a:solidFill>
                            <a:schemeClr val="dk1"/>
                          </a:solidFill>
                          <a:effectLst/>
                          <a:latin typeface="Meiryo UI" panose="020B0604030504040204" pitchFamily="50" charset="-128"/>
                          <a:ea typeface="Meiryo UI" panose="020B0604030504040204" pitchFamily="50" charset="-128"/>
                        </a:rPr>
                        <a:t>EC</a:t>
                      </a:r>
                      <a:r>
                        <a:rPr kumimoji="1" lang="ja-JP" altLang="en-US" sz="1050" kern="100" dirty="0">
                          <a:solidFill>
                            <a:schemeClr val="dk1"/>
                          </a:solidFill>
                          <a:effectLst/>
                          <a:latin typeface="Meiryo UI" panose="020B0604030504040204" pitchFamily="50" charset="-128"/>
                          <a:ea typeface="Meiryo UI" panose="020B0604030504040204" pitchFamily="50" charset="-128"/>
                        </a:rPr>
                        <a:t>構築・運営・集客・フルフィルメントを一気通貫で支援している企業。</a:t>
                      </a:r>
                      <a:endParaRPr kumimoji="1" lang="en-US" altLang="ja-JP" sz="1050" kern="100" dirty="0">
                        <a:solidFill>
                          <a:schemeClr val="dk1"/>
                        </a:solidFill>
                        <a:effectLst/>
                        <a:latin typeface="Meiryo UI" panose="020B0604030504040204" pitchFamily="50" charset="-128"/>
                        <a:ea typeface="Meiryo UI" panose="020B0604030504040204" pitchFamily="50" charset="-128"/>
                      </a:endParaRPr>
                    </a:p>
                    <a:p>
                      <a:pPr algn="l" fontAlgn="base" hangingPunct="0">
                        <a:lnSpc>
                          <a:spcPts val="1200"/>
                        </a:lnSpc>
                        <a:buNone/>
                      </a:pPr>
                      <a:r>
                        <a:rPr kumimoji="1" lang="ja-JP" altLang="en-US" sz="1050" kern="100" dirty="0">
                          <a:solidFill>
                            <a:schemeClr val="dk1"/>
                          </a:solidFill>
                          <a:effectLst/>
                          <a:latin typeface="Meiryo UI" panose="020B0604030504040204" pitchFamily="50" charset="-128"/>
                          <a:ea typeface="Meiryo UI" panose="020B0604030504040204" pitchFamily="50" charset="-128"/>
                        </a:rPr>
                        <a:t>食品・化粧品・医薬品に強みを持ち、自社</a:t>
                      </a:r>
                      <a:r>
                        <a:rPr kumimoji="1" lang="en-US" altLang="ja-JP" sz="1050" kern="100" dirty="0">
                          <a:solidFill>
                            <a:schemeClr val="dk1"/>
                          </a:solidFill>
                          <a:effectLst/>
                          <a:latin typeface="Meiryo UI" panose="020B0604030504040204" pitchFamily="50" charset="-128"/>
                          <a:ea typeface="Meiryo UI" panose="020B0604030504040204" pitchFamily="50" charset="-128"/>
                        </a:rPr>
                        <a:t>EC</a:t>
                      </a:r>
                      <a:r>
                        <a:rPr kumimoji="1" lang="ja-JP" altLang="en-US" sz="1050" kern="100" dirty="0">
                          <a:solidFill>
                            <a:schemeClr val="dk1"/>
                          </a:solidFill>
                          <a:effectLst/>
                          <a:latin typeface="Meiryo UI" panose="020B0604030504040204" pitchFamily="50" charset="-128"/>
                          <a:ea typeface="Meiryo UI" panose="020B0604030504040204" pitchFamily="50" charset="-128"/>
                        </a:rPr>
                        <a:t>「</a:t>
                      </a:r>
                      <a:r>
                        <a:rPr kumimoji="1" lang="en-US" altLang="ja-JP" sz="1050" kern="100" dirty="0">
                          <a:solidFill>
                            <a:schemeClr val="dk1"/>
                          </a:solidFill>
                          <a:effectLst/>
                          <a:latin typeface="Meiryo UI" panose="020B0604030504040204" pitchFamily="50" charset="-128"/>
                          <a:ea typeface="Meiryo UI" panose="020B0604030504040204" pitchFamily="50" charset="-128"/>
                        </a:rPr>
                        <a:t>POCHI</a:t>
                      </a:r>
                      <a:r>
                        <a:rPr kumimoji="1" lang="ja-JP" altLang="en-US" sz="1050" kern="100" dirty="0">
                          <a:solidFill>
                            <a:schemeClr val="dk1"/>
                          </a:solidFill>
                          <a:effectLst/>
                          <a:latin typeface="Meiryo UI" panose="020B0604030504040204" pitchFamily="50" charset="-128"/>
                          <a:ea typeface="Meiryo UI" panose="020B0604030504040204" pitchFamily="50" charset="-128"/>
                        </a:rPr>
                        <a:t>」「</a:t>
                      </a:r>
                      <a:r>
                        <a:rPr kumimoji="1" lang="en-US" altLang="ja-JP" sz="1050" kern="100" dirty="0" err="1">
                          <a:solidFill>
                            <a:schemeClr val="dk1"/>
                          </a:solidFill>
                          <a:effectLst/>
                          <a:latin typeface="Meiryo UI" panose="020B0604030504040204" pitchFamily="50" charset="-128"/>
                          <a:ea typeface="Meiryo UI" panose="020B0604030504040204" pitchFamily="50" charset="-128"/>
                        </a:rPr>
                        <a:t>tama</a:t>
                      </a:r>
                      <a:r>
                        <a:rPr kumimoji="1" lang="ja-JP" altLang="en-US" sz="1050" kern="100" dirty="0">
                          <a:solidFill>
                            <a:schemeClr val="dk1"/>
                          </a:solidFill>
                          <a:effectLst/>
                          <a:latin typeface="Meiryo UI" panose="020B0604030504040204" pitchFamily="50" charset="-128"/>
                          <a:ea typeface="Meiryo UI" panose="020B0604030504040204" pitchFamily="50" charset="-128"/>
                        </a:rPr>
                        <a:t>」も運営している。</a:t>
                      </a:r>
                      <a:endParaRPr kumimoji="1" lang="en-US" altLang="ja-JP" sz="1050" kern="100" dirty="0">
                        <a:solidFill>
                          <a:schemeClr val="dk1"/>
                        </a:solidFill>
                        <a:effectLst/>
                        <a:latin typeface="Meiryo UI" panose="020B0604030504040204" pitchFamily="50" charset="-128"/>
                        <a:ea typeface="Meiryo UI" panose="020B0604030504040204" pitchFamily="50" charset="-128"/>
                      </a:endParaRPr>
                    </a:p>
                    <a:p>
                      <a:pPr algn="l" fontAlgn="base" hangingPunct="0">
                        <a:lnSpc>
                          <a:spcPts val="1200"/>
                        </a:lnSpc>
                        <a:buNone/>
                      </a:pPr>
                      <a:r>
                        <a:rPr kumimoji="1" lang="en-US" altLang="ja-JP" sz="1050" kern="100" dirty="0">
                          <a:solidFill>
                            <a:schemeClr val="dk1"/>
                          </a:solidFill>
                          <a:effectLst/>
                          <a:latin typeface="Meiryo UI" panose="020B0604030504040204" pitchFamily="50" charset="-128"/>
                          <a:ea typeface="Meiryo UI" panose="020B0604030504040204" pitchFamily="50" charset="-128"/>
                        </a:rPr>
                        <a:t>P</a:t>
                      </a:r>
                      <a:r>
                        <a:rPr kumimoji="1" lang="ja-JP" altLang="en-US" sz="1050" kern="100" dirty="0">
                          <a:solidFill>
                            <a:schemeClr val="dk1"/>
                          </a:solidFill>
                          <a:effectLst/>
                          <a:latin typeface="Meiryo UI" panose="020B0604030504040204" pitchFamily="50" charset="-128"/>
                          <a:ea typeface="Meiryo UI" panose="020B0604030504040204" pitchFamily="50" charset="-128"/>
                        </a:rPr>
                        <a:t>マーク保持、国際物流・輸出入通関対応のノウハウを活かし、海外展開支援の実績がある。</a:t>
                      </a:r>
                      <a:endParaRPr kumimoji="1" lang="ja-JP" altLang="en-US" sz="1050" kern="100" dirty="0">
                        <a:solidFill>
                          <a:schemeClr val="dk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4026413352"/>
                  </a:ext>
                </a:extLst>
              </a:tr>
              <a:tr h="537970">
                <a:tc>
                  <a:txBody>
                    <a:bodyPr/>
                    <a:lstStyle/>
                    <a:p>
                      <a:pPr marL="0" marR="0" lvl="0" indent="0" algn="just"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プロモーション支援</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㈱日本エージェンシー</a:t>
                      </a:r>
                      <a:endParaRPr lang="ja-JP"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marL="0" marR="0" lvl="0" indent="0" algn="l"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金沢市に本社を構える広告・コミュニケーション会社。</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marL="0" marR="0" lvl="0" indent="0" algn="l"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金沢大学と連携し学生を“海外事業担当”としてタイ・インド・ベトナムに半年派遣し、現地市場調査とネットワーク構築を実施。</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marL="0" marR="0" lvl="0" indent="0" algn="l"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これを基にプロモーションやテストマーケティングをワンストップ支援するなど、越境実務支援の体制を具備している。</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1248302000"/>
                  </a:ext>
                </a:extLst>
              </a:tr>
              <a:tr h="806954">
                <a:tc>
                  <a:txBody>
                    <a:bodyPr/>
                    <a:lstStyle/>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輸出仕様対応助言</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algn="just" fontAlgn="base" hangingPunct="0">
                        <a:lnSpc>
                          <a:spcPts val="1200"/>
                        </a:lnSpc>
                        <a:buNone/>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現地アライアンス促進支援</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algn="just" fontAlgn="base" hangingPunct="0">
                        <a:lnSpc>
                          <a:spcPts val="1200"/>
                        </a:lnSpc>
                        <a:buNone/>
                      </a:pPr>
                      <a:r>
                        <a:rPr lang="en-US" altLang="ja-JP" sz="1050" kern="100" dirty="0" err="1">
                          <a:effectLst/>
                          <a:latin typeface="Meiryo UI" panose="020B0604030504040204" pitchFamily="50" charset="-128"/>
                          <a:ea typeface="Meiryo UI" panose="020B0604030504040204" pitchFamily="50" charset="-128"/>
                          <a:cs typeface="ＭＳ Ｐゴシック" panose="020B0600070205080204" pitchFamily="50" charset="-128"/>
                        </a:rPr>
                        <a:t>SimBa</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社</a:t>
                      </a:r>
                      <a:endParaRPr lang="ja-JP"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tc>
                  <a:txBody>
                    <a:bodyPr/>
                    <a:lstStyle/>
                    <a:p>
                      <a:pPr marL="0" marR="0" lvl="0" indent="0" algn="l" defTabSz="914400" rtl="0" eaLnBrk="1" fontAlgn="base" latinLnBrk="0" hangingPunct="0">
                        <a:lnSpc>
                          <a:spcPts val="1200"/>
                        </a:lnSpc>
                        <a:spcBef>
                          <a:spcPts val="0"/>
                        </a:spcBef>
                        <a:spcAft>
                          <a:spcPts val="0"/>
                        </a:spcAft>
                        <a:buClrTx/>
                        <a:buSzTx/>
                        <a:buFontTx/>
                        <a:buNone/>
                        <a:tabLst/>
                        <a:defRPr/>
                      </a:pPr>
                      <a:r>
                        <a:rPr lang="en-US" altLang="ja-JP" sz="1050" kern="100" dirty="0" err="1">
                          <a:effectLst/>
                          <a:latin typeface="Meiryo UI" panose="020B0604030504040204" pitchFamily="50" charset="-128"/>
                          <a:ea typeface="Meiryo UI" panose="020B0604030504040204" pitchFamily="50" charset="-128"/>
                          <a:cs typeface="ＭＳ Ｐゴシック" panose="020B0600070205080204" pitchFamily="50" charset="-128"/>
                        </a:rPr>
                        <a:t>SimBa</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SIM BA Trading JSC</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）は</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2004</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年ホーチミン設立の日本食材卸である。</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marL="0" marR="0" lvl="0" indent="0" algn="l"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レストラン／ホテル／小売向けに日本食・飲料を輸入供給し、全国</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5</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拠点の配送網を有する。</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marL="0" marR="0" lvl="0" indent="0" algn="l"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ベトナム全土の</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日系飲食</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3,000</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店超</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の仕入れを支え、現地調達と通関・保冷配送を一体で提供する。</a:t>
                      </a:r>
                      <a:endPar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marL="0" marR="0" lvl="0" indent="0" algn="l" defTabSz="914400" rtl="0" eaLnBrk="1" fontAlgn="base" latinLnBrk="0" hangingPunct="0">
                        <a:lnSpc>
                          <a:spcPts val="1200"/>
                        </a:lnSpc>
                        <a:spcBef>
                          <a:spcPts val="0"/>
                        </a:spcBef>
                        <a:spcAft>
                          <a:spcPts val="0"/>
                        </a:spcAft>
                        <a:buClrTx/>
                        <a:buSzTx/>
                        <a:buFontTx/>
                        <a:buNone/>
                        <a:tabLst/>
                        <a:defRPr/>
                      </a:pP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西本貿易（</a:t>
                      </a:r>
                      <a:r>
                        <a:rPr lang="en-US" altLang="ja-JP" sz="1050" kern="100" dirty="0" err="1">
                          <a:effectLst/>
                          <a:latin typeface="Meiryo UI" panose="020B0604030504040204" pitchFamily="50" charset="-128"/>
                          <a:ea typeface="Meiryo UI" panose="020B0604030504040204" pitchFamily="50" charset="-128"/>
                          <a:cs typeface="ＭＳ Ｐゴシック" panose="020B0600070205080204" pitchFamily="50" charset="-128"/>
                        </a:rPr>
                        <a:t>Wismettac</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）との資本・業務提携実績があり、</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EC</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窓口（</a:t>
                      </a:r>
                      <a:r>
                        <a:rPr lang="en-US" alt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rPr>
                        <a:t>Simba e-shop</a:t>
                      </a:r>
                      <a:r>
                        <a:rPr lang="ja-JP" altLang="en-US" sz="1050" kern="100" dirty="0">
                          <a:effectLst/>
                          <a:latin typeface="Meiryo UI" panose="020B0604030504040204" pitchFamily="50" charset="-128"/>
                          <a:ea typeface="Meiryo UI" panose="020B0604030504040204" pitchFamily="50" charset="-128"/>
                          <a:cs typeface="ＭＳ Ｐゴシック" panose="020B0600070205080204" pitchFamily="50" charset="-128"/>
                        </a:rPr>
                        <a:t>）や一般向け販売も展開する。</a:t>
                      </a:r>
                      <a:endParaRPr lang="ja-JP" sz="1050" kern="100" dirty="0">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55721" marR="55721" marT="0" marB="0" anchor="ctr"/>
                </a:tc>
                <a:extLst>
                  <a:ext uri="{0D108BD9-81ED-4DB2-BD59-A6C34878D82A}">
                    <a16:rowId xmlns:a16="http://schemas.microsoft.com/office/drawing/2014/main" val="1324734086"/>
                  </a:ext>
                </a:extLst>
              </a:tr>
            </a:tbl>
          </a:graphicData>
        </a:graphic>
      </p:graphicFrame>
      <p:sp>
        <p:nvSpPr>
          <p:cNvPr id="31" name="テキスト ボックス 30">
            <a:extLst>
              <a:ext uri="{FF2B5EF4-FFF2-40B4-BE49-F238E27FC236}">
                <a16:creationId xmlns:a16="http://schemas.microsoft.com/office/drawing/2014/main" id="{07319EF9-E474-4DD0-E49F-69AA755E010A}"/>
              </a:ext>
            </a:extLst>
          </p:cNvPr>
          <p:cNvSpPr txBox="1"/>
          <p:nvPr/>
        </p:nvSpPr>
        <p:spPr>
          <a:xfrm>
            <a:off x="0" y="25400"/>
            <a:ext cx="311554" cy="253916"/>
          </a:xfrm>
          <a:prstGeom prst="rect">
            <a:avLst/>
          </a:prstGeom>
          <a:solidFill>
            <a:srgbClr val="FFFF00"/>
          </a:solidFill>
        </p:spPr>
        <p:txBody>
          <a:bodyPr wrap="square" rtlCol="0">
            <a:spAutoFit/>
          </a:bodyPr>
          <a:lstStyle/>
          <a:p>
            <a:r>
              <a:rPr lang="ja-JP" altLang="en-US" sz="1050" b="1" dirty="0">
                <a:solidFill>
                  <a:srgbClr val="FF0000"/>
                </a:solidFill>
                <a:latin typeface="Meiryo UI" panose="020B0604030504040204" pitchFamily="50" charset="-128"/>
                <a:ea typeface="Meiryo UI" panose="020B0604030504040204" pitchFamily="50" charset="-128"/>
              </a:rPr>
              <a:t>⑥</a:t>
            </a:r>
          </a:p>
        </p:txBody>
      </p:sp>
      <p:sp>
        <p:nvSpPr>
          <p:cNvPr id="32" name="テキスト ボックス 31">
            <a:extLst>
              <a:ext uri="{FF2B5EF4-FFF2-40B4-BE49-F238E27FC236}">
                <a16:creationId xmlns:a16="http://schemas.microsoft.com/office/drawing/2014/main" id="{0E718E27-2268-D8B6-3382-261C9902BD7A}"/>
              </a:ext>
            </a:extLst>
          </p:cNvPr>
          <p:cNvSpPr txBox="1"/>
          <p:nvPr/>
        </p:nvSpPr>
        <p:spPr>
          <a:xfrm>
            <a:off x="4088963" y="34718"/>
            <a:ext cx="311554" cy="253916"/>
          </a:xfrm>
          <a:prstGeom prst="rect">
            <a:avLst/>
          </a:prstGeom>
          <a:solidFill>
            <a:srgbClr val="FFFF00"/>
          </a:solidFill>
        </p:spPr>
        <p:txBody>
          <a:bodyPr wrap="square" rtlCol="0">
            <a:spAutoFit/>
          </a:bodyPr>
          <a:lstStyle/>
          <a:p>
            <a:r>
              <a:rPr lang="ja-JP" altLang="en-US" sz="1050" b="1" dirty="0">
                <a:solidFill>
                  <a:srgbClr val="FF0000"/>
                </a:solidFill>
                <a:latin typeface="Meiryo UI" panose="020B0604030504040204" pitchFamily="50" charset="-128"/>
                <a:ea typeface="Meiryo UI" panose="020B0604030504040204" pitchFamily="50" charset="-128"/>
              </a:rPr>
              <a:t>⑦</a:t>
            </a:r>
          </a:p>
        </p:txBody>
      </p:sp>
      <p:pic>
        <p:nvPicPr>
          <p:cNvPr id="12" name="図 11">
            <a:extLst>
              <a:ext uri="{FF2B5EF4-FFF2-40B4-BE49-F238E27FC236}">
                <a16:creationId xmlns:a16="http://schemas.microsoft.com/office/drawing/2014/main" id="{FF32481C-4A06-3825-5D14-1AC95050140B}"/>
              </a:ext>
            </a:extLst>
          </p:cNvPr>
          <p:cNvPicPr>
            <a:picLocks noChangeAspect="1"/>
          </p:cNvPicPr>
          <p:nvPr/>
        </p:nvPicPr>
        <p:blipFill>
          <a:blip r:embed="rId3"/>
          <a:stretch>
            <a:fillRect/>
          </a:stretch>
        </p:blipFill>
        <p:spPr>
          <a:xfrm>
            <a:off x="0" y="3515250"/>
            <a:ext cx="9144000" cy="3342749"/>
          </a:xfrm>
          <a:prstGeom prst="rect">
            <a:avLst/>
          </a:prstGeom>
        </p:spPr>
      </p:pic>
      <p:sp>
        <p:nvSpPr>
          <p:cNvPr id="13" name="テキスト ボックス 12">
            <a:extLst>
              <a:ext uri="{FF2B5EF4-FFF2-40B4-BE49-F238E27FC236}">
                <a16:creationId xmlns:a16="http://schemas.microsoft.com/office/drawing/2014/main" id="{03646785-10D9-A310-898A-D5D5447C6E05}"/>
              </a:ext>
            </a:extLst>
          </p:cNvPr>
          <p:cNvSpPr txBox="1"/>
          <p:nvPr/>
        </p:nvSpPr>
        <p:spPr>
          <a:xfrm>
            <a:off x="23090" y="3644901"/>
            <a:ext cx="311554" cy="253916"/>
          </a:xfrm>
          <a:prstGeom prst="rect">
            <a:avLst/>
          </a:prstGeom>
          <a:solidFill>
            <a:srgbClr val="FFFF00"/>
          </a:solidFill>
        </p:spPr>
        <p:txBody>
          <a:bodyPr wrap="square" rtlCol="0">
            <a:spAutoFit/>
          </a:bodyPr>
          <a:lstStyle/>
          <a:p>
            <a:r>
              <a:rPr lang="ja-JP" altLang="en-US" sz="1050" b="1" dirty="0">
                <a:solidFill>
                  <a:srgbClr val="FF0000"/>
                </a:solidFill>
                <a:latin typeface="Meiryo UI" panose="020B0604030504040204" pitchFamily="50" charset="-128"/>
                <a:ea typeface="Meiryo UI" panose="020B0604030504040204" pitchFamily="50" charset="-128"/>
              </a:rPr>
              <a:t>⑧</a:t>
            </a:r>
          </a:p>
        </p:txBody>
      </p:sp>
    </p:spTree>
    <p:extLst>
      <p:ext uri="{BB962C8B-B14F-4D97-AF65-F5344CB8AC3E}">
        <p14:creationId xmlns:p14="http://schemas.microsoft.com/office/powerpoint/2010/main" val="2089511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3A85E3D3-858D-628F-A377-FA82E2110C25}"/>
              </a:ext>
            </a:extLst>
          </p:cNvPr>
          <p:cNvPicPr>
            <a:picLocks noChangeAspect="1"/>
          </p:cNvPicPr>
          <p:nvPr/>
        </p:nvPicPr>
        <p:blipFill>
          <a:blip r:embed="rId2"/>
          <a:stretch>
            <a:fillRect/>
          </a:stretch>
        </p:blipFill>
        <p:spPr>
          <a:xfrm>
            <a:off x="0" y="4759890"/>
            <a:ext cx="9144000" cy="2098110"/>
          </a:xfrm>
          <a:prstGeom prst="rect">
            <a:avLst/>
          </a:prstGeom>
        </p:spPr>
      </p:pic>
      <p:sp>
        <p:nvSpPr>
          <p:cNvPr id="8" name="テキスト ボックス 7">
            <a:extLst>
              <a:ext uri="{FF2B5EF4-FFF2-40B4-BE49-F238E27FC236}">
                <a16:creationId xmlns:a16="http://schemas.microsoft.com/office/drawing/2014/main" id="{10EED5BC-94F2-10A5-9876-986C4E66445C}"/>
              </a:ext>
            </a:extLst>
          </p:cNvPr>
          <p:cNvSpPr txBox="1"/>
          <p:nvPr/>
        </p:nvSpPr>
        <p:spPr>
          <a:xfrm>
            <a:off x="288925" y="0"/>
            <a:ext cx="311554" cy="253916"/>
          </a:xfrm>
          <a:prstGeom prst="rect">
            <a:avLst/>
          </a:prstGeom>
          <a:solidFill>
            <a:srgbClr val="FFFF00"/>
          </a:solidFill>
        </p:spPr>
        <p:txBody>
          <a:bodyPr wrap="square" rtlCol="0">
            <a:spAutoFit/>
          </a:bodyPr>
          <a:lstStyle/>
          <a:p>
            <a:r>
              <a:rPr lang="ja-JP" altLang="en-US" sz="1050" b="1" dirty="0">
                <a:solidFill>
                  <a:srgbClr val="FF0000"/>
                </a:solidFill>
                <a:latin typeface="Meiryo UI" panose="020B0604030504040204" pitchFamily="50" charset="-128"/>
                <a:ea typeface="Meiryo UI" panose="020B0604030504040204" pitchFamily="50" charset="-128"/>
              </a:rPr>
              <a:t>⑨</a:t>
            </a:r>
          </a:p>
        </p:txBody>
      </p:sp>
      <p:pic>
        <p:nvPicPr>
          <p:cNvPr id="5" name="図 4">
            <a:extLst>
              <a:ext uri="{FF2B5EF4-FFF2-40B4-BE49-F238E27FC236}">
                <a16:creationId xmlns:a16="http://schemas.microsoft.com/office/drawing/2014/main" id="{F6C5F2B5-8D8E-7EFA-90CC-573067AD3605}"/>
              </a:ext>
            </a:extLst>
          </p:cNvPr>
          <p:cNvPicPr>
            <a:picLocks noChangeAspect="1"/>
          </p:cNvPicPr>
          <p:nvPr/>
        </p:nvPicPr>
        <p:blipFill>
          <a:blip r:embed="rId3"/>
          <a:stretch>
            <a:fillRect/>
          </a:stretch>
        </p:blipFill>
        <p:spPr>
          <a:xfrm>
            <a:off x="600479" y="0"/>
            <a:ext cx="8124421" cy="4759890"/>
          </a:xfrm>
          <a:prstGeom prst="rect">
            <a:avLst/>
          </a:prstGeom>
          <a:ln>
            <a:solidFill>
              <a:schemeClr val="tx1"/>
            </a:solidFill>
          </a:ln>
        </p:spPr>
      </p:pic>
      <p:sp>
        <p:nvSpPr>
          <p:cNvPr id="4" name="テキスト ボックス 3">
            <a:extLst>
              <a:ext uri="{FF2B5EF4-FFF2-40B4-BE49-F238E27FC236}">
                <a16:creationId xmlns:a16="http://schemas.microsoft.com/office/drawing/2014/main" id="{B5955945-51E1-5B4C-8EA5-17EA819BD34F}"/>
              </a:ext>
            </a:extLst>
          </p:cNvPr>
          <p:cNvSpPr txBox="1"/>
          <p:nvPr/>
        </p:nvSpPr>
        <p:spPr>
          <a:xfrm>
            <a:off x="44248" y="4851399"/>
            <a:ext cx="311554" cy="253916"/>
          </a:xfrm>
          <a:prstGeom prst="rect">
            <a:avLst/>
          </a:prstGeom>
          <a:solidFill>
            <a:srgbClr val="FFFF00"/>
          </a:solidFill>
        </p:spPr>
        <p:txBody>
          <a:bodyPr wrap="square" rtlCol="0">
            <a:spAutoFit/>
          </a:bodyPr>
          <a:lstStyle/>
          <a:p>
            <a:r>
              <a:rPr lang="ja-JP" altLang="en-US" sz="1050" b="1" dirty="0">
                <a:solidFill>
                  <a:srgbClr val="FF0000"/>
                </a:solidFill>
                <a:latin typeface="Meiryo UI" panose="020B0604030504040204" pitchFamily="50" charset="-128"/>
                <a:ea typeface="Meiryo UI" panose="020B0604030504040204" pitchFamily="50" charset="-128"/>
              </a:rPr>
              <a:t>⑩</a:t>
            </a:r>
            <a:endParaRPr lang="en-US" altLang="ja-JP" sz="1050" b="1"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6163641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3489</TotalTime>
  <Words>1889</Words>
  <Application>Microsoft Office PowerPoint</Application>
  <PresentationFormat>画面に合わせる (4:3)</PresentationFormat>
  <Paragraphs>165</Paragraphs>
  <Slides>5</Slides>
  <Notes>3</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5</vt:i4>
      </vt:variant>
    </vt:vector>
  </HeadingPairs>
  <TitlesOfParts>
    <vt:vector size="13" baseType="lpstr">
      <vt:lpstr>inherit</vt:lpstr>
      <vt:lpstr>Meiryo UI</vt:lpstr>
      <vt:lpstr>Zen Kaku Gothic New</vt:lpstr>
      <vt:lpstr>游ゴシック</vt:lpstr>
      <vt:lpstr>Arial</vt:lpstr>
      <vt:lpstr>Calibri</vt:lpstr>
      <vt:lpstr>Calibri Light</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accelpartnars</dc:creator>
  <cp:lastModifiedBy>本木</cp:lastModifiedBy>
  <cp:revision>248</cp:revision>
  <cp:lastPrinted>2025-09-14T09:11:22Z</cp:lastPrinted>
  <dcterms:created xsi:type="dcterms:W3CDTF">2025-03-25T06:01:52Z</dcterms:created>
  <dcterms:modified xsi:type="dcterms:W3CDTF">2025-10-17T07:35:33Z</dcterms:modified>
</cp:coreProperties>
</file>