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108" y="6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73183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a:effectLst/>
      </p:bgPr>
    </p:bg>
    <p:spTree>
      <p:nvGrpSpPr>
        <p:cNvPr id="1" name=""/>
        <p:cNvGrpSpPr/>
        <p:nvPr/>
      </p:nvGrpSpPr>
      <p:grpSpPr>
        <a:xfrm>
          <a:off x="0" y="0"/>
          <a:ext cx="0" cy="0"/>
          <a:chOff x="0" y="0"/>
          <a:chExt cx="0" cy="0"/>
        </a:xfrm>
      </p:grpSpPr>
      <p:sp>
        <p:nvSpPr>
          <p:cNvPr id="2" name="Shape 0"/>
          <p:cNvSpPr/>
          <p:nvPr/>
        </p:nvSpPr>
        <p:spPr>
          <a:xfrm>
            <a:off x="640080" y="1417320"/>
            <a:ext cx="164592" cy="1325880"/>
          </a:xfrm>
          <a:prstGeom prst="rect">
            <a:avLst/>
          </a:prstGeom>
          <a:solidFill>
            <a:srgbClr val="F26B1D"/>
          </a:solidFill>
          <a:ln w="12700">
            <a:solidFill>
              <a:srgbClr val="F26B1D"/>
            </a:solidFill>
            <a:prstDash val="solid"/>
          </a:ln>
        </p:spPr>
      </p:sp>
      <p:sp>
        <p:nvSpPr>
          <p:cNvPr id="3" name="Text 1"/>
          <p:cNvSpPr/>
          <p:nvPr/>
        </p:nvSpPr>
        <p:spPr>
          <a:xfrm>
            <a:off x="960120" y="1371600"/>
            <a:ext cx="7589520" cy="731520"/>
          </a:xfrm>
          <a:prstGeom prst="rect">
            <a:avLst/>
          </a:prstGeom>
          <a:noFill/>
          <a:ln/>
        </p:spPr>
        <p:txBody>
          <a:bodyPr wrap="square" lIns="0" tIns="0" rIns="0" bIns="0" rtlCol="0" anchor="ctr"/>
          <a:lstStyle/>
          <a:p>
            <a:pPr marL="0" indent="0">
              <a:buNone/>
            </a:pPr>
            <a:r>
              <a:rPr lang="en-US" sz="3200" b="1" dirty="0">
                <a:solidFill>
                  <a:srgbClr val="FFFFFF"/>
                </a:solidFill>
                <a:latin typeface="BIZ UDPGothic" pitchFamily="34" charset="0"/>
                <a:ea typeface="BIZ UDPGothic" pitchFamily="34" charset="-122"/>
                <a:cs typeface="BIZ UDPGothic" pitchFamily="34" charset="-120"/>
              </a:rPr>
              <a:t>Gライン パウチ自動供給装置の導入</a:t>
            </a:r>
            <a:endParaRPr lang="en-US" sz="3200" dirty="0"/>
          </a:p>
        </p:txBody>
      </p:sp>
      <p:sp>
        <p:nvSpPr>
          <p:cNvPr id="4" name="Text 2"/>
          <p:cNvSpPr/>
          <p:nvPr/>
        </p:nvSpPr>
        <p:spPr>
          <a:xfrm>
            <a:off x="960120" y="2103120"/>
            <a:ext cx="7589520" cy="457200"/>
          </a:xfrm>
          <a:prstGeom prst="rect">
            <a:avLst/>
          </a:prstGeom>
          <a:noFill/>
          <a:ln/>
        </p:spPr>
        <p:txBody>
          <a:bodyPr wrap="square" lIns="0" tIns="0" rIns="0" bIns="0" rtlCol="0" anchor="ctr"/>
          <a:lstStyle/>
          <a:p>
            <a:pPr marL="0" indent="0">
              <a:buNone/>
            </a:pPr>
            <a:r>
              <a:rPr lang="en-US" sz="1600" dirty="0">
                <a:solidFill>
                  <a:srgbClr val="CADCFC"/>
                </a:solidFill>
                <a:latin typeface="BIZ UDPGothic" pitchFamily="34" charset="0"/>
                <a:ea typeface="BIZ UDPGothic" pitchFamily="34" charset="-122"/>
                <a:cs typeface="BIZ UDPGothic" pitchFamily="34" charset="-120"/>
              </a:rPr>
              <a:t>レイアウトと工程のビフォー・アフター／人の配置・担当人数・工数</a:t>
            </a:r>
            <a:endParaRPr lang="en-US" sz="1600" dirty="0"/>
          </a:p>
        </p:txBody>
      </p:sp>
      <p:sp>
        <p:nvSpPr>
          <p:cNvPr id="5" name="Text 3"/>
          <p:cNvSpPr/>
          <p:nvPr/>
        </p:nvSpPr>
        <p:spPr>
          <a:xfrm>
            <a:off x="960120" y="3063240"/>
            <a:ext cx="5486400" cy="411480"/>
          </a:xfrm>
          <a:prstGeom prst="rect">
            <a:avLst/>
          </a:prstGeom>
          <a:noFill/>
          <a:ln/>
        </p:spPr>
        <p:txBody>
          <a:bodyPr wrap="square" lIns="0" tIns="0" rIns="0" bIns="0" rtlCol="0" anchor="ctr"/>
          <a:lstStyle/>
          <a:p>
            <a:pPr marL="0" indent="0">
              <a:buNone/>
            </a:pPr>
            <a:r>
              <a:rPr lang="en-US" sz="1800" b="1" dirty="0">
                <a:solidFill>
                  <a:srgbClr val="FFFFFF"/>
                </a:solidFill>
                <a:latin typeface="BIZ UDPGothic" pitchFamily="34" charset="0"/>
                <a:ea typeface="BIZ UDPGothic" pitchFamily="34" charset="-122"/>
                <a:cs typeface="BIZ UDPGothic" pitchFamily="34" charset="-120"/>
              </a:rPr>
              <a:t>株式会社トンボ飲料 様</a:t>
            </a:r>
            <a:endParaRPr lang="en-US" sz="1800" dirty="0"/>
          </a:p>
        </p:txBody>
      </p:sp>
      <p:sp>
        <p:nvSpPr>
          <p:cNvPr id="6" name="Text 4"/>
          <p:cNvSpPr/>
          <p:nvPr/>
        </p:nvSpPr>
        <p:spPr>
          <a:xfrm>
            <a:off x="960120" y="3520440"/>
            <a:ext cx="5486400" cy="320040"/>
          </a:xfrm>
          <a:prstGeom prst="rect">
            <a:avLst/>
          </a:prstGeom>
          <a:noFill/>
          <a:ln/>
        </p:spPr>
        <p:txBody>
          <a:bodyPr wrap="square" lIns="0" tIns="0" rIns="0" bIns="0" rtlCol="0" anchor="ctr"/>
          <a:lstStyle/>
          <a:p>
            <a:pPr marL="0" indent="0">
              <a:buNone/>
            </a:pPr>
            <a:r>
              <a:rPr lang="en-US" sz="1300" dirty="0">
                <a:solidFill>
                  <a:srgbClr val="CADCFC"/>
                </a:solidFill>
                <a:latin typeface="BIZ UDPGothic" pitchFamily="34" charset="0"/>
                <a:ea typeface="BIZ UDPGothic" pitchFamily="34" charset="-122"/>
                <a:cs typeface="BIZ UDPGothic" pitchFamily="34" charset="-120"/>
              </a:rPr>
              <a:t>2026年9月30日</a:t>
            </a:r>
            <a:endParaRPr lang="en-US" sz="1300" dirty="0"/>
          </a:p>
        </p:txBody>
      </p:sp>
      <p:sp>
        <p:nvSpPr>
          <p:cNvPr id="7" name="Text 5"/>
          <p:cNvSpPr/>
          <p:nvPr/>
        </p:nvSpPr>
        <p:spPr>
          <a:xfrm>
            <a:off x="960120" y="4343400"/>
            <a:ext cx="7589520" cy="365760"/>
          </a:xfrm>
          <a:prstGeom prst="rect">
            <a:avLst/>
          </a:prstGeom>
          <a:noFill/>
          <a:ln/>
        </p:spPr>
        <p:txBody>
          <a:bodyPr wrap="square" lIns="0" tIns="0" rIns="0" bIns="0" rtlCol="0" anchor="ctr"/>
          <a:lstStyle/>
          <a:p>
            <a:pPr marL="0" indent="0">
              <a:buNone/>
            </a:pPr>
            <a:r>
              <a:rPr lang="en-US" sz="850" dirty="0">
                <a:solidFill>
                  <a:srgbClr val="B7CBD6"/>
                </a:solidFill>
                <a:latin typeface="BIZ UDPGothic" pitchFamily="34" charset="0"/>
                <a:ea typeface="BIZ UDPGothic" pitchFamily="34" charset="-122"/>
                <a:cs typeface="BIZ UDPGothic" pitchFamily="34" charset="-120"/>
              </a:rPr>
              <a:t>出所：フジシール提案資料（2025/12/22・2026/3/25）、御見積書（2026/9/24）、ヒアリングリスト（v5）、配置図面、事業計画書（その３）別紙1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5C"/>
          </a:solidFill>
          <a:ln w="12700">
            <a:solidFill>
              <a:srgbClr val="0F4C5C"/>
            </a:solidFill>
            <a:prstDash val="solid"/>
          </a:ln>
        </p:spPr>
      </p:sp>
      <p:sp>
        <p:nvSpPr>
          <p:cNvPr id="3" name="Shape 1"/>
          <p:cNvSpPr/>
          <p:nvPr/>
        </p:nvSpPr>
        <p:spPr>
          <a:xfrm>
            <a:off x="320040" y="182880"/>
            <a:ext cx="109728" cy="320040"/>
          </a:xfrm>
          <a:prstGeom prst="rect">
            <a:avLst/>
          </a:prstGeom>
          <a:solidFill>
            <a:srgbClr val="F26B1D"/>
          </a:solidFill>
          <a:ln w="12700">
            <a:solidFill>
              <a:srgbClr val="F26B1D"/>
            </a:solidFill>
            <a:prstDash val="solid"/>
          </a:ln>
        </p:spPr>
      </p:sp>
      <p:sp>
        <p:nvSpPr>
          <p:cNvPr id="4" name="Text 2"/>
          <p:cNvSpPr/>
          <p:nvPr/>
        </p:nvSpPr>
        <p:spPr>
          <a:xfrm>
            <a:off x="530352" y="73152"/>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BIZ UDPGothic" pitchFamily="34" charset="0"/>
                <a:ea typeface="BIZ UDPGothic" pitchFamily="34" charset="-122"/>
                <a:cs typeface="BIZ UDPGothic" pitchFamily="34" charset="-120"/>
              </a:rPr>
              <a:t>1. Gライン全体の流れと人の配置（現状）</a:t>
            </a:r>
            <a:endParaRPr lang="en-US" sz="2200" dirty="0"/>
          </a:p>
        </p:txBody>
      </p:sp>
      <p:sp>
        <p:nvSpPr>
          <p:cNvPr id="5" name="Text 3"/>
          <p:cNvSpPr/>
          <p:nvPr/>
        </p:nvSpPr>
        <p:spPr>
          <a:xfrm>
            <a:off x="320040" y="731520"/>
            <a:ext cx="8503920" cy="310896"/>
          </a:xfrm>
          <a:prstGeom prst="rect">
            <a:avLst/>
          </a:prstGeom>
          <a:noFill/>
          <a:ln/>
        </p:spPr>
        <p:txBody>
          <a:bodyPr wrap="square" lIns="0" tIns="0" rIns="0" bIns="0" rtlCol="0" anchor="ctr"/>
          <a:lstStyle/>
          <a:p>
            <a:pPr marL="0" indent="0">
              <a:buNone/>
            </a:pPr>
            <a:r>
              <a:rPr lang="en-US" sz="1100" dirty="0">
                <a:solidFill>
                  <a:srgbClr val="5B6770"/>
                </a:solidFill>
                <a:latin typeface="BIZ UDPGothic" pitchFamily="34" charset="0"/>
                <a:ea typeface="BIZ UDPGothic" pitchFamily="34" charset="-122"/>
                <a:cs typeface="BIZ UDPGothic" pitchFamily="34" charset="-120"/>
              </a:rPr>
              <a:t>本事業の対象はGライン全体。装置は製袋室に導入し、投入の自動化でライン全体の安定稼働と人員の再配置につなげます。</a:t>
            </a:r>
            <a:endParaRPr lang="en-US" sz="1100" dirty="0"/>
          </a:p>
        </p:txBody>
      </p:sp>
      <p:sp>
        <p:nvSpPr>
          <p:cNvPr id="6" name="Text 4"/>
          <p:cNvSpPr/>
          <p:nvPr/>
        </p:nvSpPr>
        <p:spPr>
          <a:xfrm>
            <a:off x="320040" y="4828032"/>
            <a:ext cx="6400800" cy="228600"/>
          </a:xfrm>
          <a:prstGeom prst="rect">
            <a:avLst/>
          </a:prstGeom>
          <a:noFill/>
          <a:ln/>
        </p:spPr>
        <p:txBody>
          <a:bodyPr wrap="square" lIns="0" tIns="0" rIns="0" bIns="0" rtlCol="0" anchor="ctr"/>
          <a:lstStyle/>
          <a:p>
            <a:pPr marL="0" indent="0">
              <a:buNone/>
            </a:pPr>
            <a:r>
              <a:rPr lang="en-US" sz="900" dirty="0">
                <a:solidFill>
                  <a:srgbClr val="8A9BA8"/>
                </a:solidFill>
                <a:latin typeface="BIZ UDPGothic" pitchFamily="34" charset="0"/>
                <a:ea typeface="BIZ UDPGothic" pitchFamily="34" charset="-122"/>
                <a:cs typeface="BIZ UDPGothic" pitchFamily="34" charset="-120"/>
              </a:rPr>
              <a:t>株式会社トンボ飲料様　Gライン パウチ自動供給装置の導入</a:t>
            </a:r>
            <a:endParaRPr lang="en-US" sz="900" dirty="0"/>
          </a:p>
        </p:txBody>
      </p:sp>
      <p:sp>
        <p:nvSpPr>
          <p:cNvPr id="7" name="Text 5"/>
          <p:cNvSpPr/>
          <p:nvPr/>
        </p:nvSpPr>
        <p:spPr>
          <a:xfrm>
            <a:off x="8321040" y="4828032"/>
            <a:ext cx="502920" cy="228600"/>
          </a:xfrm>
          <a:prstGeom prst="rect">
            <a:avLst/>
          </a:prstGeom>
          <a:noFill/>
          <a:ln/>
        </p:spPr>
        <p:txBody>
          <a:bodyPr wrap="square" lIns="0" tIns="0" rIns="0" bIns="0" rtlCol="0" anchor="ctr"/>
          <a:lstStyle/>
          <a:p>
            <a:pPr marL="0" indent="0" algn="r">
              <a:buNone/>
            </a:pPr>
            <a:r>
              <a:rPr lang="en-US" sz="900" dirty="0">
                <a:solidFill>
                  <a:srgbClr val="8A9BA8"/>
                </a:solidFill>
                <a:latin typeface="BIZ UDPGothic" pitchFamily="34" charset="0"/>
                <a:ea typeface="BIZ UDPGothic" pitchFamily="34" charset="-122"/>
                <a:cs typeface="BIZ UDPGothic" pitchFamily="34" charset="-120"/>
              </a:rPr>
              <a:t>2</a:t>
            </a:r>
            <a:endParaRPr lang="en-US" sz="900" dirty="0"/>
          </a:p>
        </p:txBody>
      </p:sp>
      <p:sp>
        <p:nvSpPr>
          <p:cNvPr id="8" name="Shape 6"/>
          <p:cNvSpPr/>
          <p:nvPr/>
        </p:nvSpPr>
        <p:spPr>
          <a:xfrm>
            <a:off x="201168" y="1060704"/>
            <a:ext cx="8741664" cy="2688336"/>
          </a:xfrm>
          <a:prstGeom prst="rect">
            <a:avLst/>
          </a:prstGeom>
          <a:solidFill>
            <a:srgbClr val="F3F8F9"/>
          </a:solidFill>
          <a:ln w="19050">
            <a:solidFill>
              <a:srgbClr val="0F4C5C"/>
            </a:solidFill>
            <a:prstDash val="dash"/>
          </a:ln>
        </p:spPr>
      </p:sp>
      <p:sp>
        <p:nvSpPr>
          <p:cNvPr id="9" name="Shape 7"/>
          <p:cNvSpPr/>
          <p:nvPr/>
        </p:nvSpPr>
        <p:spPr>
          <a:xfrm>
            <a:off x="201168" y="1054291"/>
            <a:ext cx="4206240" cy="206987"/>
          </a:xfrm>
          <a:prstGeom prst="rect">
            <a:avLst/>
          </a:prstGeom>
          <a:solidFill>
            <a:srgbClr val="0F4C5C"/>
          </a:solidFill>
          <a:ln w="12700">
            <a:solidFill>
              <a:srgbClr val="0F4C5C"/>
            </a:solidFill>
            <a:prstDash val="solid"/>
          </a:ln>
        </p:spPr>
      </p:sp>
      <p:sp>
        <p:nvSpPr>
          <p:cNvPr id="10" name="Text 8"/>
          <p:cNvSpPr/>
          <p:nvPr/>
        </p:nvSpPr>
        <p:spPr>
          <a:xfrm>
            <a:off x="274320" y="1048829"/>
            <a:ext cx="4114800" cy="246888"/>
          </a:xfrm>
          <a:prstGeom prst="rect">
            <a:avLst/>
          </a:prstGeom>
          <a:noFill/>
          <a:ln/>
        </p:spPr>
        <p:txBody>
          <a:bodyPr wrap="square" lIns="0" tIns="0" rIns="0" bIns="0" rtlCol="0" anchor="ctr"/>
          <a:lstStyle/>
          <a:p>
            <a:pPr marL="0" indent="0">
              <a:buNone/>
            </a:pPr>
            <a:r>
              <a:rPr lang="en-US" sz="1000" b="1" dirty="0">
                <a:solidFill>
                  <a:srgbClr val="FFFFFF"/>
                </a:solidFill>
                <a:latin typeface="BIZ UDPGothic" pitchFamily="34" charset="0"/>
                <a:ea typeface="BIZ UDPGothic" pitchFamily="34" charset="-122"/>
                <a:cs typeface="BIZ UDPGothic" pitchFamily="34" charset="-120"/>
              </a:rPr>
              <a:t>本事業の対象：Gライン全体（パウチゼリーの製造工程）</a:t>
            </a:r>
            <a:endParaRPr lang="en-US" sz="1000" dirty="0"/>
          </a:p>
        </p:txBody>
      </p:sp>
      <p:sp>
        <p:nvSpPr>
          <p:cNvPr id="12" name="Text 10"/>
          <p:cNvSpPr/>
          <p:nvPr/>
        </p:nvSpPr>
        <p:spPr>
          <a:xfrm>
            <a:off x="320040" y="3511296"/>
            <a:ext cx="8503920" cy="219456"/>
          </a:xfrm>
          <a:prstGeom prst="rect">
            <a:avLst/>
          </a:prstGeom>
          <a:noFill/>
          <a:ln/>
        </p:spPr>
        <p:txBody>
          <a:bodyPr wrap="square" lIns="0" tIns="0" rIns="0" bIns="0" rtlCol="0" anchor="ctr"/>
          <a:lstStyle/>
          <a:p>
            <a:pPr marL="0" indent="0">
              <a:buNone/>
            </a:pPr>
            <a:r>
              <a:rPr lang="en-US" sz="900" b="1" dirty="0">
                <a:solidFill>
                  <a:srgbClr val="0F4C5C"/>
                </a:solidFill>
                <a:latin typeface="BIZ UDPGothic" pitchFamily="34" charset="0"/>
                <a:ea typeface="BIZ UDPGothic" pitchFamily="34" charset="-122"/>
                <a:cs typeface="BIZ UDPGothic" pitchFamily="34" charset="-120"/>
              </a:rPr>
              <a:t>効果：投入担当の確保に左右されず17.5時間稼働を維持。搬入はまとめて行えるようになり、創出した時間は品質管理・多能工化へ再配分</a:t>
            </a:r>
            <a:endParaRPr lang="en-US" sz="900" dirty="0"/>
          </a:p>
        </p:txBody>
      </p:sp>
      <p:sp>
        <p:nvSpPr>
          <p:cNvPr id="13" name="Shape 11"/>
          <p:cNvSpPr/>
          <p:nvPr/>
        </p:nvSpPr>
        <p:spPr>
          <a:xfrm>
            <a:off x="320040" y="1609344"/>
            <a:ext cx="1234440" cy="1847088"/>
          </a:xfrm>
          <a:prstGeom prst="rect">
            <a:avLst/>
          </a:prstGeom>
          <a:solidFill>
            <a:srgbClr val="EEF4F5"/>
          </a:solidFill>
          <a:ln w="12700">
            <a:solidFill>
              <a:srgbClr val="0F4C5C"/>
            </a:solidFill>
            <a:prstDash val="solid"/>
          </a:ln>
        </p:spPr>
      </p:sp>
      <p:sp>
        <p:nvSpPr>
          <p:cNvPr id="14" name="Shape 12"/>
          <p:cNvSpPr/>
          <p:nvPr/>
        </p:nvSpPr>
        <p:spPr>
          <a:xfrm>
            <a:off x="320040" y="1609344"/>
            <a:ext cx="1234440" cy="347472"/>
          </a:xfrm>
          <a:prstGeom prst="rect">
            <a:avLst/>
          </a:prstGeom>
          <a:solidFill>
            <a:srgbClr val="0F4C5C"/>
          </a:solidFill>
          <a:ln w="12700">
            <a:solidFill>
              <a:srgbClr val="0F4C5C"/>
            </a:solidFill>
            <a:prstDash val="solid"/>
          </a:ln>
        </p:spPr>
      </p:sp>
      <p:sp>
        <p:nvSpPr>
          <p:cNvPr id="15" name="Text 13"/>
          <p:cNvSpPr/>
          <p:nvPr/>
        </p:nvSpPr>
        <p:spPr>
          <a:xfrm>
            <a:off x="320040" y="1609344"/>
            <a:ext cx="12344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資材保管室（1F）</a:t>
            </a:r>
            <a:endParaRPr lang="en-US" sz="1200" dirty="0"/>
          </a:p>
        </p:txBody>
      </p:sp>
      <p:sp>
        <p:nvSpPr>
          <p:cNvPr id="16" name="Text 14"/>
          <p:cNvSpPr/>
          <p:nvPr/>
        </p:nvSpPr>
        <p:spPr>
          <a:xfrm>
            <a:off x="393192" y="2002536"/>
            <a:ext cx="1088136" cy="932688"/>
          </a:xfrm>
          <a:prstGeom prst="rect">
            <a:avLst/>
          </a:prstGeom>
          <a:noFill/>
          <a:ln/>
        </p:spPr>
        <p:txBody>
          <a:bodyPr wrap="square" lIns="0" tIns="0" rIns="0" bIns="0" rtlCol="0" anchor="t"/>
          <a:lstStyle/>
          <a:p>
            <a:pPr marL="0" indent="0">
              <a:spcAft>
                <a:spcPts val="100"/>
              </a:spcAft>
              <a:buNone/>
            </a:pPr>
            <a:r>
              <a:rPr lang="en-US" sz="900" dirty="0">
                <a:solidFill>
                  <a:srgbClr val="1F2A30"/>
                </a:solidFill>
                <a:latin typeface="BIZ UDPGothic" pitchFamily="34" charset="0"/>
                <a:ea typeface="BIZ UDPGothic" pitchFamily="34" charset="-122"/>
                <a:cs typeface="BIZ UDPGothic" pitchFamily="34" charset="-120"/>
              </a:rPr>
              <a:t>空パウチ（1束50袋・段ボール）</a:t>
            </a:r>
            <a:endParaRPr lang="en-US" sz="900" dirty="0"/>
          </a:p>
          <a:p>
            <a:pPr marL="0" indent="0">
              <a:spcAft>
                <a:spcPts val="100"/>
              </a:spcAft>
              <a:buNone/>
            </a:pPr>
            <a:r>
              <a:rPr lang="en-US" sz="900" b="1" u="sng" dirty="0">
                <a:solidFill>
                  <a:srgbClr val="0F4C5C"/>
                </a:solidFill>
                <a:latin typeface="BIZ UDPGothic" pitchFamily="34" charset="0"/>
                <a:ea typeface="BIZ UDPGothic" pitchFamily="34" charset="-122"/>
                <a:cs typeface="BIZ UDPGothic" pitchFamily="34" charset="-120"/>
              </a:rPr>
              <a:t>人手 ① 搬入</a:t>
            </a:r>
            <a:endParaRPr lang="en-US" sz="900" u="sng" dirty="0"/>
          </a:p>
          <a:p>
            <a:pPr marL="0" indent="0">
              <a:spcAft>
                <a:spcPts val="100"/>
              </a:spcAft>
              <a:buNone/>
            </a:pPr>
            <a:r>
              <a:rPr lang="en-US" sz="900" dirty="0">
                <a:solidFill>
                  <a:srgbClr val="1F2A30"/>
                </a:solidFill>
                <a:latin typeface="BIZ UDPGothic" pitchFamily="34" charset="0"/>
                <a:ea typeface="BIZ UDPGothic" pitchFamily="34" charset="-122"/>
                <a:cs typeface="BIZ UDPGothic" pitchFamily="34" charset="-120"/>
              </a:rPr>
              <a:t>投入担当が1箱ずつ製袋室へ運ぶ</a:t>
            </a:r>
            <a:endParaRPr lang="en-US" sz="900" dirty="0"/>
          </a:p>
        </p:txBody>
      </p:sp>
      <p:sp>
        <p:nvSpPr>
          <p:cNvPr id="17" name="Shape 15"/>
          <p:cNvSpPr/>
          <p:nvPr/>
        </p:nvSpPr>
        <p:spPr>
          <a:xfrm>
            <a:off x="1728216" y="1335024"/>
            <a:ext cx="2304288" cy="2157984"/>
          </a:xfrm>
          <a:prstGeom prst="rect">
            <a:avLst/>
          </a:prstGeom>
          <a:solidFill>
            <a:srgbClr val="FDE8DC"/>
          </a:solidFill>
          <a:ln w="38100">
            <a:solidFill>
              <a:srgbClr val="F26B1D"/>
            </a:solidFill>
            <a:prstDash val="solid"/>
          </a:ln>
        </p:spPr>
      </p:sp>
      <p:sp>
        <p:nvSpPr>
          <p:cNvPr id="18" name="Shape 16"/>
          <p:cNvSpPr/>
          <p:nvPr/>
        </p:nvSpPr>
        <p:spPr>
          <a:xfrm>
            <a:off x="1728216" y="1335024"/>
            <a:ext cx="2304288" cy="237744"/>
          </a:xfrm>
          <a:prstGeom prst="rect">
            <a:avLst/>
          </a:prstGeom>
          <a:solidFill>
            <a:srgbClr val="F26B1D"/>
          </a:solidFill>
          <a:ln w="12700">
            <a:solidFill>
              <a:srgbClr val="F26B1D"/>
            </a:solidFill>
            <a:prstDash val="solid"/>
          </a:ln>
        </p:spPr>
      </p:sp>
      <p:sp>
        <p:nvSpPr>
          <p:cNvPr id="19" name="Text 17"/>
          <p:cNvSpPr/>
          <p:nvPr/>
        </p:nvSpPr>
        <p:spPr>
          <a:xfrm>
            <a:off x="1728216" y="1344168"/>
            <a:ext cx="2304288"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BIZ UDPGothic" pitchFamily="34" charset="0"/>
                <a:ea typeface="BIZ UDPGothic" pitchFamily="34" charset="-122"/>
                <a:cs typeface="BIZ UDPGothic" pitchFamily="34" charset="-120"/>
              </a:rPr>
              <a:t>装置を導入する範囲：製袋室</a:t>
            </a:r>
            <a:endParaRPr lang="en-US" sz="1000" dirty="0"/>
          </a:p>
        </p:txBody>
      </p:sp>
      <p:sp>
        <p:nvSpPr>
          <p:cNvPr id="20" name="Shape 18"/>
          <p:cNvSpPr/>
          <p:nvPr/>
        </p:nvSpPr>
        <p:spPr>
          <a:xfrm>
            <a:off x="1783080" y="1609344"/>
            <a:ext cx="2194560" cy="1847088"/>
          </a:xfrm>
          <a:prstGeom prst="rect">
            <a:avLst/>
          </a:prstGeom>
          <a:solidFill>
            <a:srgbClr val="EEF4F5"/>
          </a:solidFill>
          <a:ln w="12700">
            <a:solidFill>
              <a:srgbClr val="0F4C5C"/>
            </a:solidFill>
            <a:prstDash val="solid"/>
          </a:ln>
        </p:spPr>
      </p:sp>
      <p:sp>
        <p:nvSpPr>
          <p:cNvPr id="21" name="Shape 19"/>
          <p:cNvSpPr/>
          <p:nvPr/>
        </p:nvSpPr>
        <p:spPr>
          <a:xfrm>
            <a:off x="1783080" y="1609344"/>
            <a:ext cx="2194560" cy="347472"/>
          </a:xfrm>
          <a:prstGeom prst="rect">
            <a:avLst/>
          </a:prstGeom>
          <a:solidFill>
            <a:srgbClr val="0F4C5C"/>
          </a:solidFill>
          <a:ln w="12700">
            <a:solidFill>
              <a:srgbClr val="0F4C5C"/>
            </a:solidFill>
            <a:prstDash val="solid"/>
          </a:ln>
        </p:spPr>
      </p:sp>
      <p:sp>
        <p:nvSpPr>
          <p:cNvPr id="22" name="Text 20"/>
          <p:cNvSpPr/>
          <p:nvPr/>
        </p:nvSpPr>
        <p:spPr>
          <a:xfrm>
            <a:off x="1783080" y="1609344"/>
            <a:ext cx="21945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製袋室（1F）</a:t>
            </a:r>
            <a:endParaRPr lang="en-US" sz="1200" dirty="0"/>
          </a:p>
        </p:txBody>
      </p:sp>
      <p:sp>
        <p:nvSpPr>
          <p:cNvPr id="23" name="Text 21"/>
          <p:cNvSpPr/>
          <p:nvPr/>
        </p:nvSpPr>
        <p:spPr>
          <a:xfrm>
            <a:off x="1856232" y="2002536"/>
            <a:ext cx="2048256" cy="932688"/>
          </a:xfrm>
          <a:prstGeom prst="rect">
            <a:avLst/>
          </a:prstGeom>
          <a:noFill/>
          <a:ln/>
        </p:spPr>
        <p:txBody>
          <a:bodyPr wrap="square" lIns="0" tIns="0" rIns="0" bIns="0" rtlCol="0" anchor="t"/>
          <a:lstStyle/>
          <a:p>
            <a:pPr marL="0" indent="0">
              <a:spcAft>
                <a:spcPts val="100"/>
              </a:spcAft>
              <a:buNone/>
            </a:pPr>
            <a:r>
              <a:rPr lang="en-US" sz="900" b="1" u="sng" dirty="0">
                <a:solidFill>
                  <a:srgbClr val="0F4C5C"/>
                </a:solidFill>
                <a:latin typeface="BIZ UDPGothic" pitchFamily="34" charset="0"/>
                <a:ea typeface="BIZ UDPGothic" pitchFamily="34" charset="-122"/>
                <a:cs typeface="BIZ UDPGothic" pitchFamily="34" charset="-120"/>
              </a:rPr>
              <a:t>人手 投入担当（②〜⑥）</a:t>
            </a:r>
            <a:endParaRPr lang="en-US" sz="900" u="sng" dirty="0"/>
          </a:p>
          <a:p>
            <a:pPr marL="0" indent="0">
              <a:spcAft>
                <a:spcPts val="100"/>
              </a:spcAft>
              <a:buNone/>
            </a:pPr>
            <a:r>
              <a:rPr lang="en-US" sz="900" dirty="0">
                <a:solidFill>
                  <a:srgbClr val="1F2A30"/>
                </a:solidFill>
                <a:latin typeface="BIZ UDPGothic" pitchFamily="34" charset="0"/>
                <a:ea typeface="BIZ UDPGothic" pitchFamily="34" charset="-122"/>
                <a:cs typeface="BIZ UDPGothic" pitchFamily="34" charset="-120"/>
              </a:rPr>
              <a:t>開梱・束出し→空箱片付け→ほぐし→踏み台昇降・残量確認→手投入</a:t>
            </a:r>
            <a:endParaRPr lang="en-US" sz="900" dirty="0"/>
          </a:p>
          <a:p>
            <a:pPr marL="0" indent="0">
              <a:spcAft>
                <a:spcPts val="100"/>
              </a:spcAft>
              <a:buNone/>
            </a:pPr>
            <a:r>
              <a:rPr lang="en-US" sz="900" b="1" u="sng" dirty="0">
                <a:solidFill>
                  <a:srgbClr val="0F4C5C"/>
                </a:solidFill>
                <a:latin typeface="BIZ UDPGothic" pitchFamily="34" charset="0"/>
                <a:ea typeface="BIZ UDPGothic" pitchFamily="34" charset="-122"/>
                <a:cs typeface="BIZ UDPGothic" pitchFamily="34" charset="-120"/>
              </a:rPr>
              <a:t>人手 オペレーター（⑦）</a:t>
            </a:r>
            <a:endParaRPr lang="en-US" sz="900" u="sng" dirty="0"/>
          </a:p>
          <a:p>
            <a:pPr marL="0" indent="0">
              <a:spcAft>
                <a:spcPts val="100"/>
              </a:spcAft>
              <a:buNone/>
            </a:pPr>
            <a:r>
              <a:rPr lang="en-US" sz="900" dirty="0">
                <a:solidFill>
                  <a:srgbClr val="1F2A30"/>
                </a:solidFill>
                <a:latin typeface="BIZ UDPGothic" pitchFamily="34" charset="0"/>
                <a:ea typeface="BIZ UDPGothic" pitchFamily="34" charset="-122"/>
                <a:cs typeface="BIZ UDPGothic" pitchFamily="34" charset="-120"/>
              </a:rPr>
              <a:t>製袋機の運転・監視</a:t>
            </a:r>
            <a:endParaRPr lang="en-US" sz="900" dirty="0"/>
          </a:p>
          <a:p>
            <a:pPr marL="0" indent="0">
              <a:spcAft>
                <a:spcPts val="100"/>
              </a:spcAft>
              <a:buNone/>
            </a:pPr>
            <a:r>
              <a:rPr lang="en-US" sz="900" dirty="0">
                <a:solidFill>
                  <a:srgbClr val="5B6770"/>
                </a:solidFill>
                <a:latin typeface="BIZ UDPGothic" pitchFamily="34" charset="0"/>
                <a:ea typeface="BIZ UDPGothic" pitchFamily="34" charset="-122"/>
                <a:cs typeface="BIZ UDPGothic" pitchFamily="34" charset="-120"/>
              </a:rPr>
              <a:t>自動：スパウト熱圧着→漏れ検査</a:t>
            </a:r>
            <a:endParaRPr lang="en-US" sz="900" dirty="0"/>
          </a:p>
        </p:txBody>
      </p:sp>
      <p:sp>
        <p:nvSpPr>
          <p:cNvPr id="24" name="Shape 22"/>
          <p:cNvSpPr/>
          <p:nvPr/>
        </p:nvSpPr>
        <p:spPr>
          <a:xfrm>
            <a:off x="1952244" y="2962656"/>
            <a:ext cx="137160" cy="137160"/>
          </a:xfrm>
          <a:prstGeom prst="ellipse">
            <a:avLst/>
          </a:prstGeom>
          <a:solidFill>
            <a:srgbClr val="2F5D8A"/>
          </a:solidFill>
          <a:ln w="6350">
            <a:solidFill>
              <a:srgbClr val="2F5D8A"/>
            </a:solidFill>
            <a:prstDash val="solid"/>
          </a:ln>
        </p:spPr>
      </p:sp>
      <p:sp>
        <p:nvSpPr>
          <p:cNvPr id="25" name="Shape 23"/>
          <p:cNvSpPr/>
          <p:nvPr/>
        </p:nvSpPr>
        <p:spPr>
          <a:xfrm>
            <a:off x="1892808" y="3113532"/>
            <a:ext cx="256032" cy="274320"/>
          </a:xfrm>
          <a:prstGeom prst="roundRect">
            <a:avLst>
              <a:gd name="adj" fmla="val 25000"/>
            </a:avLst>
          </a:prstGeom>
          <a:solidFill>
            <a:srgbClr val="2F5D8A"/>
          </a:solidFill>
          <a:ln w="6350">
            <a:solidFill>
              <a:srgbClr val="2F5D8A"/>
            </a:solidFill>
            <a:prstDash val="solid"/>
          </a:ln>
        </p:spPr>
      </p:sp>
      <p:sp>
        <p:nvSpPr>
          <p:cNvPr id="26" name="Shape 24"/>
          <p:cNvSpPr/>
          <p:nvPr/>
        </p:nvSpPr>
        <p:spPr>
          <a:xfrm>
            <a:off x="2263140" y="2962656"/>
            <a:ext cx="137160" cy="137160"/>
          </a:xfrm>
          <a:prstGeom prst="ellipse">
            <a:avLst/>
          </a:prstGeom>
          <a:solidFill>
            <a:srgbClr val="2F5D8A"/>
          </a:solidFill>
          <a:ln w="6350">
            <a:solidFill>
              <a:srgbClr val="2F5D8A"/>
            </a:solidFill>
            <a:prstDash val="solid"/>
          </a:ln>
        </p:spPr>
      </p:sp>
      <p:sp>
        <p:nvSpPr>
          <p:cNvPr id="27" name="Shape 25"/>
          <p:cNvSpPr/>
          <p:nvPr/>
        </p:nvSpPr>
        <p:spPr>
          <a:xfrm>
            <a:off x="2203704" y="3113532"/>
            <a:ext cx="256032" cy="274320"/>
          </a:xfrm>
          <a:prstGeom prst="roundRect">
            <a:avLst>
              <a:gd name="adj" fmla="val 25000"/>
            </a:avLst>
          </a:prstGeom>
          <a:solidFill>
            <a:srgbClr val="2F5D8A"/>
          </a:solidFill>
          <a:ln w="6350">
            <a:solidFill>
              <a:srgbClr val="2F5D8A"/>
            </a:solidFill>
            <a:prstDash val="solid"/>
          </a:ln>
        </p:spPr>
      </p:sp>
      <p:sp>
        <p:nvSpPr>
          <p:cNvPr id="28" name="Text 26"/>
          <p:cNvSpPr/>
          <p:nvPr/>
        </p:nvSpPr>
        <p:spPr>
          <a:xfrm>
            <a:off x="2560320" y="2926080"/>
            <a:ext cx="1389888" cy="493776"/>
          </a:xfrm>
          <a:prstGeom prst="rect">
            <a:avLst/>
          </a:prstGeom>
          <a:noFill/>
          <a:ln/>
        </p:spPr>
        <p:txBody>
          <a:bodyPr wrap="square" lIns="0" tIns="0" rIns="0" bIns="0" rtlCol="0" anchor="ct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2名／シフト</a:t>
            </a:r>
            <a:endParaRPr lang="en-US" sz="950" dirty="0"/>
          </a:p>
          <a:p>
            <a:pPr marL="0" indent="0">
              <a:buNone/>
            </a:pPr>
            <a:r>
              <a:rPr lang="en-US" sz="950" b="1" dirty="0">
                <a:solidFill>
                  <a:srgbClr val="0F4C5C"/>
                </a:solidFill>
                <a:latin typeface="BIZ UDPGothic" pitchFamily="34" charset="0"/>
                <a:ea typeface="BIZ UDPGothic" pitchFamily="34" charset="-122"/>
                <a:cs typeface="BIZ UDPGothic" pitchFamily="34" charset="-120"/>
              </a:rPr>
              <a:t>オペレーター1</a:t>
            </a:r>
            <a:endParaRPr lang="en-US" sz="950" dirty="0"/>
          </a:p>
          <a:p>
            <a:pPr marL="0" indent="0">
              <a:buNone/>
            </a:pPr>
            <a:r>
              <a:rPr lang="en-US" sz="950" b="1" dirty="0">
                <a:solidFill>
                  <a:srgbClr val="0F4C5C"/>
                </a:solidFill>
                <a:latin typeface="BIZ UDPGothic" pitchFamily="34" charset="0"/>
                <a:ea typeface="BIZ UDPGothic" pitchFamily="34" charset="-122"/>
                <a:cs typeface="BIZ UDPGothic" pitchFamily="34" charset="-120"/>
              </a:rPr>
              <a:t>投入パート1</a:t>
            </a:r>
            <a:endParaRPr lang="en-US" sz="950" dirty="0"/>
          </a:p>
        </p:txBody>
      </p:sp>
      <p:sp>
        <p:nvSpPr>
          <p:cNvPr id="29" name="Shape 27"/>
          <p:cNvSpPr/>
          <p:nvPr/>
        </p:nvSpPr>
        <p:spPr>
          <a:xfrm>
            <a:off x="4206240" y="1609344"/>
            <a:ext cx="2194560" cy="1847088"/>
          </a:xfrm>
          <a:prstGeom prst="rect">
            <a:avLst/>
          </a:prstGeom>
          <a:solidFill>
            <a:srgbClr val="EEF4F5"/>
          </a:solidFill>
          <a:ln w="12700">
            <a:solidFill>
              <a:srgbClr val="0F4C5C"/>
            </a:solidFill>
            <a:prstDash val="solid"/>
          </a:ln>
        </p:spPr>
      </p:sp>
      <p:sp>
        <p:nvSpPr>
          <p:cNvPr id="30" name="Shape 28"/>
          <p:cNvSpPr/>
          <p:nvPr/>
        </p:nvSpPr>
        <p:spPr>
          <a:xfrm>
            <a:off x="4206240" y="1609344"/>
            <a:ext cx="2194560" cy="347472"/>
          </a:xfrm>
          <a:prstGeom prst="rect">
            <a:avLst/>
          </a:prstGeom>
          <a:solidFill>
            <a:srgbClr val="0F4C5C"/>
          </a:solidFill>
          <a:ln w="12700">
            <a:solidFill>
              <a:srgbClr val="0F4C5C"/>
            </a:solidFill>
            <a:prstDash val="solid"/>
          </a:ln>
        </p:spPr>
      </p:sp>
      <p:sp>
        <p:nvSpPr>
          <p:cNvPr id="31" name="Text 29"/>
          <p:cNvSpPr/>
          <p:nvPr/>
        </p:nvSpPr>
        <p:spPr>
          <a:xfrm>
            <a:off x="4206240" y="1609344"/>
            <a:ext cx="21945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充填室（1F）</a:t>
            </a:r>
            <a:endParaRPr lang="en-US" sz="1200" dirty="0"/>
          </a:p>
        </p:txBody>
      </p:sp>
      <p:sp>
        <p:nvSpPr>
          <p:cNvPr id="32" name="Text 30"/>
          <p:cNvSpPr/>
          <p:nvPr/>
        </p:nvSpPr>
        <p:spPr>
          <a:xfrm>
            <a:off x="4279392" y="2002536"/>
            <a:ext cx="2048256" cy="932688"/>
          </a:xfrm>
          <a:prstGeom prst="rect">
            <a:avLst/>
          </a:prstGeom>
          <a:noFill/>
          <a:ln/>
        </p:spPr>
        <p:txBody>
          <a:bodyPr wrap="square" lIns="0" tIns="0" rIns="0" bIns="0" rtlCol="0" anchor="t"/>
          <a:lstStyle/>
          <a:p>
            <a:pPr marL="0" indent="0">
              <a:spcAft>
                <a:spcPts val="100"/>
              </a:spcAft>
              <a:buNone/>
            </a:pPr>
            <a:r>
              <a:rPr lang="en-US" sz="900" b="1" u="sng" dirty="0">
                <a:solidFill>
                  <a:srgbClr val="0F4C5C"/>
                </a:solidFill>
                <a:latin typeface="BIZ UDPGothic" pitchFamily="34" charset="0"/>
                <a:ea typeface="BIZ UDPGothic" pitchFamily="34" charset="-122"/>
                <a:cs typeface="BIZ UDPGothic" pitchFamily="34" charset="-120"/>
              </a:rPr>
              <a:t>人手 充填担当1名（⑧）</a:t>
            </a:r>
            <a:endParaRPr lang="en-US" sz="900" u="sng" dirty="0"/>
          </a:p>
          <a:p>
            <a:pPr marL="0" indent="0">
              <a:spcAft>
                <a:spcPts val="100"/>
              </a:spcAft>
              <a:buNone/>
            </a:pPr>
            <a:r>
              <a:rPr lang="en-US" sz="900" dirty="0">
                <a:solidFill>
                  <a:srgbClr val="1F2A30"/>
                </a:solidFill>
                <a:latin typeface="BIZ UDPGothic" pitchFamily="34" charset="0"/>
                <a:ea typeface="BIZ UDPGothic" pitchFamily="34" charset="-122"/>
                <a:cs typeface="BIZ UDPGothic" pitchFamily="34" charset="-120"/>
              </a:rPr>
              <a:t>調合液の殺菌→充填→容器ごと殺菌</a:t>
            </a:r>
            <a:endParaRPr lang="en-US" sz="900" dirty="0"/>
          </a:p>
          <a:p>
            <a:pPr marL="0" indent="0">
              <a:spcAft>
                <a:spcPts val="100"/>
              </a:spcAft>
              <a:buNone/>
            </a:pPr>
            <a:r>
              <a:rPr lang="en-US" sz="900" dirty="0">
                <a:solidFill>
                  <a:srgbClr val="5B6770"/>
                </a:solidFill>
                <a:latin typeface="BIZ UDPGothic" pitchFamily="34" charset="0"/>
                <a:ea typeface="BIZ UDPGothic" pitchFamily="34" charset="-122"/>
                <a:cs typeface="BIZ UDPGothic" pitchFamily="34" charset="-120"/>
              </a:rPr>
              <a:t>自動：キャップ供給（ホッパローダ）</a:t>
            </a:r>
            <a:endParaRPr lang="en-US" sz="900" dirty="0"/>
          </a:p>
        </p:txBody>
      </p:sp>
      <p:sp>
        <p:nvSpPr>
          <p:cNvPr id="33" name="Shape 31"/>
          <p:cNvSpPr/>
          <p:nvPr/>
        </p:nvSpPr>
        <p:spPr>
          <a:xfrm>
            <a:off x="4375404" y="2962656"/>
            <a:ext cx="137160" cy="137160"/>
          </a:xfrm>
          <a:prstGeom prst="ellipse">
            <a:avLst/>
          </a:prstGeom>
          <a:solidFill>
            <a:srgbClr val="2F5D8A"/>
          </a:solidFill>
          <a:ln w="6350">
            <a:solidFill>
              <a:srgbClr val="2F5D8A"/>
            </a:solidFill>
            <a:prstDash val="solid"/>
          </a:ln>
        </p:spPr>
      </p:sp>
      <p:sp>
        <p:nvSpPr>
          <p:cNvPr id="34" name="Shape 32"/>
          <p:cNvSpPr/>
          <p:nvPr/>
        </p:nvSpPr>
        <p:spPr>
          <a:xfrm>
            <a:off x="4315968" y="3113532"/>
            <a:ext cx="256032" cy="274320"/>
          </a:xfrm>
          <a:prstGeom prst="roundRect">
            <a:avLst>
              <a:gd name="adj" fmla="val 25000"/>
            </a:avLst>
          </a:prstGeom>
          <a:solidFill>
            <a:srgbClr val="2F5D8A"/>
          </a:solidFill>
          <a:ln w="6350">
            <a:solidFill>
              <a:srgbClr val="2F5D8A"/>
            </a:solidFill>
            <a:prstDash val="solid"/>
          </a:ln>
        </p:spPr>
      </p:sp>
      <p:sp>
        <p:nvSpPr>
          <p:cNvPr id="35" name="Text 33"/>
          <p:cNvSpPr/>
          <p:nvPr/>
        </p:nvSpPr>
        <p:spPr>
          <a:xfrm>
            <a:off x="4672584" y="2926080"/>
            <a:ext cx="1700784" cy="493776"/>
          </a:xfrm>
          <a:prstGeom prst="rect">
            <a:avLst/>
          </a:prstGeom>
          <a:noFill/>
          <a:ln/>
        </p:spPr>
        <p:txBody>
          <a:bodyPr wrap="square" lIns="0" tIns="0" rIns="0" bIns="0" rtlCol="0" anchor="ct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1名／シフト</a:t>
            </a:r>
            <a:endParaRPr lang="en-US" sz="950" dirty="0"/>
          </a:p>
        </p:txBody>
      </p:sp>
      <p:sp>
        <p:nvSpPr>
          <p:cNvPr id="36" name="Shape 34"/>
          <p:cNvSpPr/>
          <p:nvPr/>
        </p:nvSpPr>
        <p:spPr>
          <a:xfrm>
            <a:off x="6629400" y="1609344"/>
            <a:ext cx="2194560" cy="1847088"/>
          </a:xfrm>
          <a:prstGeom prst="rect">
            <a:avLst/>
          </a:prstGeom>
          <a:solidFill>
            <a:srgbClr val="EEF4F5"/>
          </a:solidFill>
          <a:ln w="12700">
            <a:solidFill>
              <a:srgbClr val="0F4C5C"/>
            </a:solidFill>
            <a:prstDash val="solid"/>
          </a:ln>
        </p:spPr>
      </p:sp>
      <p:sp>
        <p:nvSpPr>
          <p:cNvPr id="37" name="Shape 35"/>
          <p:cNvSpPr/>
          <p:nvPr/>
        </p:nvSpPr>
        <p:spPr>
          <a:xfrm>
            <a:off x="6629400" y="1609344"/>
            <a:ext cx="2194560" cy="347472"/>
          </a:xfrm>
          <a:prstGeom prst="rect">
            <a:avLst/>
          </a:prstGeom>
          <a:solidFill>
            <a:srgbClr val="0F4C5C"/>
          </a:solidFill>
          <a:ln w="12700">
            <a:solidFill>
              <a:srgbClr val="0F4C5C"/>
            </a:solidFill>
            <a:prstDash val="solid"/>
          </a:ln>
        </p:spPr>
      </p:sp>
      <p:sp>
        <p:nvSpPr>
          <p:cNvPr id="38" name="Text 36"/>
          <p:cNvSpPr/>
          <p:nvPr/>
        </p:nvSpPr>
        <p:spPr>
          <a:xfrm>
            <a:off x="6629400" y="1609344"/>
            <a:ext cx="21945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包装室（2F）</a:t>
            </a:r>
            <a:endParaRPr lang="en-US" sz="1200" dirty="0"/>
          </a:p>
        </p:txBody>
      </p:sp>
      <p:sp>
        <p:nvSpPr>
          <p:cNvPr id="39" name="Text 37"/>
          <p:cNvSpPr/>
          <p:nvPr/>
        </p:nvSpPr>
        <p:spPr>
          <a:xfrm>
            <a:off x="6702552" y="2002536"/>
            <a:ext cx="2048256" cy="932688"/>
          </a:xfrm>
          <a:prstGeom prst="rect">
            <a:avLst/>
          </a:prstGeom>
          <a:noFill/>
          <a:ln/>
        </p:spPr>
        <p:txBody>
          <a:bodyPr wrap="square" lIns="0" tIns="0" rIns="0" bIns="0" rtlCol="0" anchor="t"/>
          <a:lstStyle/>
          <a:p>
            <a:pPr marL="0" indent="0">
              <a:spcAft>
                <a:spcPts val="100"/>
              </a:spcAft>
              <a:buNone/>
            </a:pPr>
            <a:r>
              <a:rPr lang="en-US" sz="900" b="1" u="sng" dirty="0">
                <a:solidFill>
                  <a:srgbClr val="0F4C5C"/>
                </a:solidFill>
                <a:latin typeface="BIZ UDPGothic" pitchFamily="34" charset="0"/>
                <a:ea typeface="BIZ UDPGothic" pitchFamily="34" charset="-122"/>
                <a:cs typeface="BIZ UDPGothic" pitchFamily="34" charset="-120"/>
              </a:rPr>
              <a:t>人手 包装担当2〜3名（⑨）</a:t>
            </a:r>
            <a:endParaRPr lang="en-US" sz="900" u="sng" dirty="0"/>
          </a:p>
          <a:p>
            <a:pPr marL="0" indent="0">
              <a:spcAft>
                <a:spcPts val="100"/>
              </a:spcAft>
              <a:buNone/>
            </a:pPr>
            <a:r>
              <a:rPr lang="en-US" sz="900" dirty="0">
                <a:solidFill>
                  <a:srgbClr val="1F2A30"/>
                </a:solidFill>
                <a:latin typeface="BIZ UDPGothic" pitchFamily="34" charset="0"/>
                <a:ea typeface="BIZ UDPGothic" pitchFamily="34" charset="-122"/>
                <a:cs typeface="BIZ UDPGothic" pitchFamily="34" charset="-120"/>
              </a:rPr>
              <a:t>包装・箱詰め→1階へ下ろして製品倉庫・出荷</a:t>
            </a:r>
            <a:endParaRPr lang="en-US" sz="900" dirty="0"/>
          </a:p>
        </p:txBody>
      </p:sp>
      <p:sp>
        <p:nvSpPr>
          <p:cNvPr id="40" name="Shape 38"/>
          <p:cNvSpPr/>
          <p:nvPr/>
        </p:nvSpPr>
        <p:spPr>
          <a:xfrm>
            <a:off x="6798564" y="2962656"/>
            <a:ext cx="137160" cy="137160"/>
          </a:xfrm>
          <a:prstGeom prst="ellipse">
            <a:avLst/>
          </a:prstGeom>
          <a:solidFill>
            <a:srgbClr val="2F5D8A"/>
          </a:solidFill>
          <a:ln w="6350">
            <a:solidFill>
              <a:srgbClr val="2F5D8A"/>
            </a:solidFill>
            <a:prstDash val="solid"/>
          </a:ln>
        </p:spPr>
      </p:sp>
      <p:sp>
        <p:nvSpPr>
          <p:cNvPr id="41" name="Shape 39"/>
          <p:cNvSpPr/>
          <p:nvPr/>
        </p:nvSpPr>
        <p:spPr>
          <a:xfrm>
            <a:off x="6739128" y="3113532"/>
            <a:ext cx="256032" cy="274320"/>
          </a:xfrm>
          <a:prstGeom prst="roundRect">
            <a:avLst>
              <a:gd name="adj" fmla="val 25000"/>
            </a:avLst>
          </a:prstGeom>
          <a:solidFill>
            <a:srgbClr val="2F5D8A"/>
          </a:solidFill>
          <a:ln w="6350">
            <a:solidFill>
              <a:srgbClr val="2F5D8A"/>
            </a:solidFill>
            <a:prstDash val="solid"/>
          </a:ln>
        </p:spPr>
      </p:sp>
      <p:sp>
        <p:nvSpPr>
          <p:cNvPr id="42" name="Shape 40"/>
          <p:cNvSpPr/>
          <p:nvPr/>
        </p:nvSpPr>
        <p:spPr>
          <a:xfrm>
            <a:off x="7109460" y="2962656"/>
            <a:ext cx="137160" cy="137160"/>
          </a:xfrm>
          <a:prstGeom prst="ellipse">
            <a:avLst/>
          </a:prstGeom>
          <a:solidFill>
            <a:srgbClr val="2F5D8A"/>
          </a:solidFill>
          <a:ln w="6350">
            <a:solidFill>
              <a:srgbClr val="2F5D8A"/>
            </a:solidFill>
            <a:prstDash val="solid"/>
          </a:ln>
        </p:spPr>
      </p:sp>
      <p:sp>
        <p:nvSpPr>
          <p:cNvPr id="43" name="Shape 41"/>
          <p:cNvSpPr/>
          <p:nvPr/>
        </p:nvSpPr>
        <p:spPr>
          <a:xfrm>
            <a:off x="7050024" y="3113532"/>
            <a:ext cx="256032" cy="274320"/>
          </a:xfrm>
          <a:prstGeom prst="roundRect">
            <a:avLst>
              <a:gd name="adj" fmla="val 25000"/>
            </a:avLst>
          </a:prstGeom>
          <a:solidFill>
            <a:srgbClr val="2F5D8A"/>
          </a:solidFill>
          <a:ln w="6350">
            <a:solidFill>
              <a:srgbClr val="2F5D8A"/>
            </a:solidFill>
            <a:prstDash val="solid"/>
          </a:ln>
        </p:spPr>
      </p:sp>
      <p:sp>
        <p:nvSpPr>
          <p:cNvPr id="44" name="Shape 42"/>
          <p:cNvSpPr/>
          <p:nvPr/>
        </p:nvSpPr>
        <p:spPr>
          <a:xfrm>
            <a:off x="7420356" y="2962656"/>
            <a:ext cx="137160" cy="137160"/>
          </a:xfrm>
          <a:prstGeom prst="ellipse">
            <a:avLst/>
          </a:prstGeom>
          <a:solidFill>
            <a:srgbClr val="2F5D8A"/>
          </a:solidFill>
          <a:ln w="6350">
            <a:solidFill>
              <a:srgbClr val="2F5D8A"/>
            </a:solidFill>
            <a:prstDash val="solid"/>
          </a:ln>
        </p:spPr>
      </p:sp>
      <p:sp>
        <p:nvSpPr>
          <p:cNvPr id="45" name="Shape 43"/>
          <p:cNvSpPr/>
          <p:nvPr/>
        </p:nvSpPr>
        <p:spPr>
          <a:xfrm>
            <a:off x="7360920" y="3113532"/>
            <a:ext cx="256032" cy="274320"/>
          </a:xfrm>
          <a:prstGeom prst="roundRect">
            <a:avLst>
              <a:gd name="adj" fmla="val 25000"/>
            </a:avLst>
          </a:prstGeom>
          <a:solidFill>
            <a:srgbClr val="2F5D8A"/>
          </a:solidFill>
          <a:ln w="6350">
            <a:solidFill>
              <a:srgbClr val="2F5D8A"/>
            </a:solidFill>
            <a:prstDash val="solid"/>
          </a:ln>
        </p:spPr>
      </p:sp>
      <p:sp>
        <p:nvSpPr>
          <p:cNvPr id="46" name="Text 44"/>
          <p:cNvSpPr/>
          <p:nvPr/>
        </p:nvSpPr>
        <p:spPr>
          <a:xfrm>
            <a:off x="7717536" y="2926080"/>
            <a:ext cx="1078992" cy="493776"/>
          </a:xfrm>
          <a:prstGeom prst="rect">
            <a:avLst/>
          </a:prstGeom>
          <a:noFill/>
          <a:ln/>
        </p:spPr>
        <p:txBody>
          <a:bodyPr wrap="square" lIns="0" tIns="0" rIns="0" bIns="0" rtlCol="0" anchor="ct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2〜3名／シフト</a:t>
            </a:r>
            <a:endParaRPr lang="en-US" sz="950" dirty="0"/>
          </a:p>
        </p:txBody>
      </p:sp>
      <p:sp>
        <p:nvSpPr>
          <p:cNvPr id="47" name="Shape 45"/>
          <p:cNvSpPr/>
          <p:nvPr/>
        </p:nvSpPr>
        <p:spPr>
          <a:xfrm>
            <a:off x="1572768" y="2432304"/>
            <a:ext cx="128016" cy="274320"/>
          </a:xfrm>
          <a:prstGeom prst="rightArrow">
            <a:avLst/>
          </a:prstGeom>
          <a:solidFill>
            <a:srgbClr val="8A9BA8"/>
          </a:solidFill>
          <a:ln w="12700">
            <a:solidFill>
              <a:srgbClr val="8A9BA8"/>
            </a:solidFill>
            <a:prstDash val="solid"/>
          </a:ln>
        </p:spPr>
      </p:sp>
      <p:sp>
        <p:nvSpPr>
          <p:cNvPr id="48" name="Shape 46"/>
          <p:cNvSpPr/>
          <p:nvPr/>
        </p:nvSpPr>
        <p:spPr>
          <a:xfrm>
            <a:off x="4059936" y="2432304"/>
            <a:ext cx="128016" cy="274320"/>
          </a:xfrm>
          <a:prstGeom prst="rightArrow">
            <a:avLst/>
          </a:prstGeom>
          <a:solidFill>
            <a:srgbClr val="8A9BA8"/>
          </a:solidFill>
          <a:ln w="12700">
            <a:solidFill>
              <a:srgbClr val="8A9BA8"/>
            </a:solidFill>
            <a:prstDash val="solid"/>
          </a:ln>
        </p:spPr>
      </p:sp>
      <p:sp>
        <p:nvSpPr>
          <p:cNvPr id="49" name="Shape 47"/>
          <p:cNvSpPr/>
          <p:nvPr/>
        </p:nvSpPr>
        <p:spPr>
          <a:xfrm>
            <a:off x="6419088" y="2432304"/>
            <a:ext cx="192024" cy="274320"/>
          </a:xfrm>
          <a:prstGeom prst="rightArrow">
            <a:avLst/>
          </a:prstGeom>
          <a:solidFill>
            <a:srgbClr val="8A9BA8"/>
          </a:solidFill>
          <a:ln w="12700">
            <a:solidFill>
              <a:srgbClr val="8A9BA8"/>
            </a:solidFill>
            <a:prstDash val="solid"/>
          </a:ln>
        </p:spPr>
      </p:sp>
      <p:sp>
        <p:nvSpPr>
          <p:cNvPr id="50" name="Shape 48"/>
          <p:cNvSpPr/>
          <p:nvPr/>
        </p:nvSpPr>
        <p:spPr>
          <a:xfrm>
            <a:off x="320040" y="3822192"/>
            <a:ext cx="2724912" cy="950976"/>
          </a:xfrm>
          <a:prstGeom prst="rect">
            <a:avLst/>
          </a:prstGeom>
          <a:solidFill>
            <a:srgbClr val="FFFFFF"/>
          </a:solidFill>
          <a:ln w="12700">
            <a:solidFill>
              <a:srgbClr val="D5DEE2"/>
            </a:solidFill>
            <a:prstDash val="solid"/>
          </a:ln>
        </p:spPr>
      </p:sp>
      <p:sp>
        <p:nvSpPr>
          <p:cNvPr id="51" name="Shape 49"/>
          <p:cNvSpPr/>
          <p:nvPr/>
        </p:nvSpPr>
        <p:spPr>
          <a:xfrm>
            <a:off x="320040" y="3822192"/>
            <a:ext cx="73152" cy="950976"/>
          </a:xfrm>
          <a:prstGeom prst="rect">
            <a:avLst/>
          </a:prstGeom>
          <a:solidFill>
            <a:srgbClr val="F26B1D"/>
          </a:solidFill>
          <a:ln w="12700">
            <a:solidFill>
              <a:srgbClr val="F26B1D"/>
            </a:solidFill>
            <a:prstDash val="solid"/>
          </a:ln>
        </p:spPr>
      </p:sp>
      <p:sp>
        <p:nvSpPr>
          <p:cNvPr id="52" name="Text 50"/>
          <p:cNvSpPr/>
          <p:nvPr/>
        </p:nvSpPr>
        <p:spPr>
          <a:xfrm>
            <a:off x="502920" y="3849624"/>
            <a:ext cx="2450592" cy="237744"/>
          </a:xfrm>
          <a:prstGeom prst="rect">
            <a:avLst/>
          </a:prstGeom>
          <a:noFill/>
          <a:ln/>
        </p:spPr>
        <p:txBody>
          <a:bodyPr wrap="square" lIns="0" tIns="0" rIns="0" bIns="0" rtlCol="0" anchor="ctr"/>
          <a:lstStyle/>
          <a:p>
            <a:pPr marL="0" indent="0">
              <a:buNone/>
            </a:pPr>
            <a:r>
              <a:rPr lang="en-US" sz="1050" b="1" dirty="0">
                <a:solidFill>
                  <a:srgbClr val="0F4C5C"/>
                </a:solidFill>
                <a:latin typeface="BIZ UDPGothic" pitchFamily="34" charset="0"/>
                <a:ea typeface="BIZ UDPGothic" pitchFamily="34" charset="-122"/>
                <a:cs typeface="BIZ UDPGothic" pitchFamily="34" charset="-120"/>
              </a:rPr>
              <a:t>稼働時間・シフト</a:t>
            </a:r>
            <a:endParaRPr lang="en-US" sz="1050" dirty="0"/>
          </a:p>
        </p:txBody>
      </p:sp>
      <p:sp>
        <p:nvSpPr>
          <p:cNvPr id="53" name="Text 51"/>
          <p:cNvSpPr/>
          <p:nvPr/>
        </p:nvSpPr>
        <p:spPr>
          <a:xfrm>
            <a:off x="502920" y="4096512"/>
            <a:ext cx="2450592" cy="658368"/>
          </a:xfrm>
          <a:prstGeom prst="rect">
            <a:avLst/>
          </a:prstGeom>
          <a:noFill/>
          <a:ln/>
        </p:spPr>
        <p:txBody>
          <a:bodyPr wrap="square" lIns="0" tIns="0" rIns="0" bIns="0" rtlCol="0" anchor="t"/>
          <a:lstStyle/>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稼働 8:30〜26:00（17.5時間）</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早番 6:30〜11:00・中番 11:00〜19:00</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遅番 19:00〜26:00（夜勤）</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夜勤の投入担当は派遣が確保できず社員が代替</a:t>
            </a:r>
            <a:endParaRPr lang="en-US" sz="850" dirty="0"/>
          </a:p>
        </p:txBody>
      </p:sp>
      <p:sp>
        <p:nvSpPr>
          <p:cNvPr id="54" name="Shape 52"/>
          <p:cNvSpPr/>
          <p:nvPr/>
        </p:nvSpPr>
        <p:spPr>
          <a:xfrm>
            <a:off x="3209544" y="3822192"/>
            <a:ext cx="2724912" cy="950976"/>
          </a:xfrm>
          <a:prstGeom prst="rect">
            <a:avLst/>
          </a:prstGeom>
          <a:solidFill>
            <a:srgbClr val="FFFFFF"/>
          </a:solidFill>
          <a:ln w="12700">
            <a:solidFill>
              <a:srgbClr val="D5DEE2"/>
            </a:solidFill>
            <a:prstDash val="solid"/>
          </a:ln>
        </p:spPr>
      </p:sp>
      <p:sp>
        <p:nvSpPr>
          <p:cNvPr id="55" name="Shape 53"/>
          <p:cNvSpPr/>
          <p:nvPr/>
        </p:nvSpPr>
        <p:spPr>
          <a:xfrm>
            <a:off x="3209544" y="3822192"/>
            <a:ext cx="73152" cy="950976"/>
          </a:xfrm>
          <a:prstGeom prst="rect">
            <a:avLst/>
          </a:prstGeom>
          <a:solidFill>
            <a:srgbClr val="F26B1D"/>
          </a:solidFill>
          <a:ln w="12700">
            <a:solidFill>
              <a:srgbClr val="F26B1D"/>
            </a:solidFill>
            <a:prstDash val="solid"/>
          </a:ln>
        </p:spPr>
      </p:sp>
      <p:sp>
        <p:nvSpPr>
          <p:cNvPr id="56" name="Text 54"/>
          <p:cNvSpPr/>
          <p:nvPr/>
        </p:nvSpPr>
        <p:spPr>
          <a:xfrm>
            <a:off x="3392424" y="3849624"/>
            <a:ext cx="2450592" cy="237744"/>
          </a:xfrm>
          <a:prstGeom prst="rect">
            <a:avLst/>
          </a:prstGeom>
          <a:noFill/>
          <a:ln/>
        </p:spPr>
        <p:txBody>
          <a:bodyPr wrap="square" lIns="0" tIns="0" rIns="0" bIns="0" rtlCol="0" anchor="ctr"/>
          <a:lstStyle/>
          <a:p>
            <a:pPr marL="0" indent="0">
              <a:buNone/>
            </a:pPr>
            <a:r>
              <a:rPr lang="en-US" sz="1050" b="1" dirty="0">
                <a:solidFill>
                  <a:srgbClr val="0F4C5C"/>
                </a:solidFill>
                <a:latin typeface="BIZ UDPGothic" pitchFamily="34" charset="0"/>
                <a:ea typeface="BIZ UDPGothic" pitchFamily="34" charset="-122"/>
                <a:cs typeface="BIZ UDPGothic" pitchFamily="34" charset="-120"/>
              </a:rPr>
              <a:t>生産量（計画）</a:t>
            </a:r>
            <a:endParaRPr lang="en-US" sz="1050" dirty="0"/>
          </a:p>
        </p:txBody>
      </p:sp>
      <p:sp>
        <p:nvSpPr>
          <p:cNvPr id="57" name="Text 55"/>
          <p:cNvSpPr/>
          <p:nvPr/>
        </p:nvSpPr>
        <p:spPr>
          <a:xfrm>
            <a:off x="3392424" y="4096512"/>
            <a:ext cx="2450592" cy="658368"/>
          </a:xfrm>
          <a:prstGeom prst="rect">
            <a:avLst/>
          </a:prstGeom>
          <a:noFill/>
          <a:ln/>
        </p:spPr>
        <p:txBody>
          <a:bodyPr wrap="square" lIns="0" tIns="0" rIns="0" bIns="0" rtlCol="0" anchor="t"/>
          <a:lstStyle/>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1品種の日 15万袋／日（月11日）</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2品種の日 10万袋／日（月11日）</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製袋機の能力 150袋／分</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Gライン売上 約14億円（内製の2割弱）</a:t>
            </a:r>
            <a:endParaRPr lang="en-US" sz="850" dirty="0"/>
          </a:p>
        </p:txBody>
      </p:sp>
      <p:sp>
        <p:nvSpPr>
          <p:cNvPr id="58" name="Shape 56"/>
          <p:cNvSpPr/>
          <p:nvPr/>
        </p:nvSpPr>
        <p:spPr>
          <a:xfrm>
            <a:off x="6099048" y="3822192"/>
            <a:ext cx="2724912" cy="950976"/>
          </a:xfrm>
          <a:prstGeom prst="rect">
            <a:avLst/>
          </a:prstGeom>
          <a:solidFill>
            <a:srgbClr val="FFFFFF"/>
          </a:solidFill>
          <a:ln w="12700">
            <a:solidFill>
              <a:srgbClr val="D5DEE2"/>
            </a:solidFill>
            <a:prstDash val="solid"/>
          </a:ln>
        </p:spPr>
      </p:sp>
      <p:sp>
        <p:nvSpPr>
          <p:cNvPr id="59" name="Shape 57"/>
          <p:cNvSpPr/>
          <p:nvPr/>
        </p:nvSpPr>
        <p:spPr>
          <a:xfrm>
            <a:off x="6099048" y="3822192"/>
            <a:ext cx="73152" cy="950976"/>
          </a:xfrm>
          <a:prstGeom prst="rect">
            <a:avLst/>
          </a:prstGeom>
          <a:solidFill>
            <a:srgbClr val="F26B1D"/>
          </a:solidFill>
          <a:ln w="12700">
            <a:solidFill>
              <a:srgbClr val="F26B1D"/>
            </a:solidFill>
            <a:prstDash val="solid"/>
          </a:ln>
        </p:spPr>
      </p:sp>
      <p:sp>
        <p:nvSpPr>
          <p:cNvPr id="60" name="Text 58"/>
          <p:cNvSpPr/>
          <p:nvPr/>
        </p:nvSpPr>
        <p:spPr>
          <a:xfrm>
            <a:off x="6281928" y="3849624"/>
            <a:ext cx="2450592" cy="237744"/>
          </a:xfrm>
          <a:prstGeom prst="rect">
            <a:avLst/>
          </a:prstGeom>
          <a:noFill/>
          <a:ln/>
        </p:spPr>
        <p:txBody>
          <a:bodyPr wrap="square" lIns="0" tIns="0" rIns="0" bIns="0" rtlCol="0" anchor="ctr"/>
          <a:lstStyle/>
          <a:p>
            <a:pPr marL="0" indent="0">
              <a:buNone/>
            </a:pPr>
            <a:r>
              <a:rPr lang="en-US" sz="1050" b="1" dirty="0">
                <a:solidFill>
                  <a:srgbClr val="0F4C5C"/>
                </a:solidFill>
                <a:latin typeface="BIZ UDPGothic" pitchFamily="34" charset="0"/>
                <a:ea typeface="BIZ UDPGothic" pitchFamily="34" charset="-122"/>
                <a:cs typeface="BIZ UDPGothic" pitchFamily="34" charset="-120"/>
              </a:rPr>
              <a:t>人員配置（各シフト）</a:t>
            </a:r>
            <a:endParaRPr lang="en-US" sz="1050" dirty="0"/>
          </a:p>
        </p:txBody>
      </p:sp>
      <p:sp>
        <p:nvSpPr>
          <p:cNvPr id="61" name="Text 59"/>
          <p:cNvSpPr/>
          <p:nvPr/>
        </p:nvSpPr>
        <p:spPr>
          <a:xfrm>
            <a:off x="6281928" y="4096512"/>
            <a:ext cx="2450592" cy="658368"/>
          </a:xfrm>
          <a:prstGeom prst="rect">
            <a:avLst/>
          </a:prstGeom>
          <a:noFill/>
          <a:ln/>
        </p:spPr>
        <p:txBody>
          <a:bodyPr wrap="square" lIns="0" tIns="0" rIns="0" bIns="0" rtlCol="0" anchor="t"/>
          <a:lstStyle/>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製袋室 2名（オペレーター＋投入パート）</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充填室 1名／包装室 2〜3名</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合計 5〜6名／シフト（日勤・夜勤同じ）</a:t>
            </a:r>
            <a:endParaRPr lang="en-US" sz="850" dirty="0"/>
          </a:p>
          <a:p>
            <a:pPr marL="127000" indent="-127000">
              <a:buSzPct val="100000"/>
              <a:buChar char="•"/>
            </a:pPr>
            <a:r>
              <a:rPr lang="en-US" sz="850" dirty="0">
                <a:solidFill>
                  <a:srgbClr val="1F2A30"/>
                </a:solidFill>
                <a:latin typeface="BIZ UDPGothic" pitchFamily="34" charset="0"/>
                <a:ea typeface="BIZ UDPGothic" pitchFamily="34" charset="-122"/>
                <a:cs typeface="BIZ UDPGothic" pitchFamily="34" charset="-120"/>
              </a:rPr>
              <a:t>投入パートの作業を自動化するのが本事業</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5C"/>
          </a:solidFill>
          <a:ln w="12700">
            <a:solidFill>
              <a:srgbClr val="0F4C5C"/>
            </a:solidFill>
            <a:prstDash val="solid"/>
          </a:ln>
        </p:spPr>
      </p:sp>
      <p:sp>
        <p:nvSpPr>
          <p:cNvPr id="3" name="Shape 1"/>
          <p:cNvSpPr/>
          <p:nvPr/>
        </p:nvSpPr>
        <p:spPr>
          <a:xfrm>
            <a:off x="320040" y="182880"/>
            <a:ext cx="109728" cy="320040"/>
          </a:xfrm>
          <a:prstGeom prst="rect">
            <a:avLst/>
          </a:prstGeom>
          <a:solidFill>
            <a:srgbClr val="F26B1D"/>
          </a:solidFill>
          <a:ln w="12700">
            <a:solidFill>
              <a:srgbClr val="F26B1D"/>
            </a:solidFill>
            <a:prstDash val="solid"/>
          </a:ln>
        </p:spPr>
      </p:sp>
      <p:sp>
        <p:nvSpPr>
          <p:cNvPr id="4" name="Text 2"/>
          <p:cNvSpPr/>
          <p:nvPr/>
        </p:nvSpPr>
        <p:spPr>
          <a:xfrm>
            <a:off x="530352" y="73152"/>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BIZ UDPGothic" pitchFamily="34" charset="0"/>
                <a:ea typeface="BIZ UDPGothic" pitchFamily="34" charset="-122"/>
                <a:cs typeface="BIZ UDPGothic" pitchFamily="34" charset="-120"/>
              </a:rPr>
              <a:t>2. 製袋室のレイアウト ビフォー・アフター（デフォルメ図）</a:t>
            </a:r>
            <a:endParaRPr lang="en-US" sz="2200" dirty="0"/>
          </a:p>
        </p:txBody>
      </p:sp>
      <p:sp>
        <p:nvSpPr>
          <p:cNvPr id="5" name="Text 3"/>
          <p:cNvSpPr/>
          <p:nvPr/>
        </p:nvSpPr>
        <p:spPr>
          <a:xfrm>
            <a:off x="320040" y="731520"/>
            <a:ext cx="8503920" cy="310896"/>
          </a:xfrm>
          <a:prstGeom prst="rect">
            <a:avLst/>
          </a:prstGeom>
          <a:noFill/>
          <a:ln/>
        </p:spPr>
        <p:txBody>
          <a:bodyPr wrap="square" lIns="0" tIns="0" rIns="0" bIns="0" rtlCol="0" anchor="ctr"/>
          <a:lstStyle/>
          <a:p>
            <a:pPr marL="0" indent="0">
              <a:buNone/>
            </a:pPr>
            <a:r>
              <a:rPr lang="en-US" sz="1100" dirty="0">
                <a:solidFill>
                  <a:srgbClr val="5B6770"/>
                </a:solidFill>
                <a:latin typeface="BIZ UDPGothic" pitchFamily="34" charset="0"/>
                <a:ea typeface="BIZ UDPGothic" pitchFamily="34" charset="-122"/>
                <a:cs typeface="BIZ UDPGothic" pitchFamily="34" charset="-120"/>
              </a:rPr>
              <a:t>a〜iは機械の記号で、次ページ「各機械の役割」と対応（①〜は別紙1の工程番号）。寸法・角度・位置は簡略化しています。</a:t>
            </a:r>
            <a:endParaRPr lang="en-US" sz="1100" dirty="0"/>
          </a:p>
        </p:txBody>
      </p:sp>
      <p:sp>
        <p:nvSpPr>
          <p:cNvPr id="6" name="Text 4"/>
          <p:cNvSpPr/>
          <p:nvPr/>
        </p:nvSpPr>
        <p:spPr>
          <a:xfrm>
            <a:off x="320040" y="4828032"/>
            <a:ext cx="6400800" cy="228600"/>
          </a:xfrm>
          <a:prstGeom prst="rect">
            <a:avLst/>
          </a:prstGeom>
          <a:noFill/>
          <a:ln/>
        </p:spPr>
        <p:txBody>
          <a:bodyPr wrap="square" lIns="0" tIns="0" rIns="0" bIns="0" rtlCol="0" anchor="ctr"/>
          <a:lstStyle/>
          <a:p>
            <a:pPr marL="0" indent="0">
              <a:buNone/>
            </a:pPr>
            <a:r>
              <a:rPr lang="en-US" sz="900" dirty="0">
                <a:solidFill>
                  <a:srgbClr val="8A9BA8"/>
                </a:solidFill>
                <a:latin typeface="BIZ UDPGothic" pitchFamily="34" charset="0"/>
                <a:ea typeface="BIZ UDPGothic" pitchFamily="34" charset="-122"/>
                <a:cs typeface="BIZ UDPGothic" pitchFamily="34" charset="-120"/>
              </a:rPr>
              <a:t>株式会社トンボ飲料様　Gライン パウチ自動供給装置の導入</a:t>
            </a:r>
            <a:endParaRPr lang="en-US" sz="900" dirty="0"/>
          </a:p>
        </p:txBody>
      </p:sp>
      <p:sp>
        <p:nvSpPr>
          <p:cNvPr id="7" name="Text 5"/>
          <p:cNvSpPr/>
          <p:nvPr/>
        </p:nvSpPr>
        <p:spPr>
          <a:xfrm>
            <a:off x="8321040" y="4828032"/>
            <a:ext cx="502920" cy="228600"/>
          </a:xfrm>
          <a:prstGeom prst="rect">
            <a:avLst/>
          </a:prstGeom>
          <a:noFill/>
          <a:ln/>
        </p:spPr>
        <p:txBody>
          <a:bodyPr wrap="square" lIns="0" tIns="0" rIns="0" bIns="0" rtlCol="0" anchor="ctr"/>
          <a:lstStyle/>
          <a:p>
            <a:pPr marL="0" indent="0" algn="r">
              <a:buNone/>
            </a:pPr>
            <a:r>
              <a:rPr lang="en-US" sz="900" dirty="0">
                <a:solidFill>
                  <a:srgbClr val="8A9BA8"/>
                </a:solidFill>
                <a:latin typeface="BIZ UDPGothic" pitchFamily="34" charset="0"/>
                <a:ea typeface="BIZ UDPGothic" pitchFamily="34" charset="-122"/>
                <a:cs typeface="BIZ UDPGothic" pitchFamily="34" charset="-120"/>
              </a:rPr>
              <a:t>3</a:t>
            </a:r>
            <a:endParaRPr lang="en-US" sz="900" dirty="0"/>
          </a:p>
        </p:txBody>
      </p:sp>
      <p:sp>
        <p:nvSpPr>
          <p:cNvPr id="8" name="Shape 6"/>
          <p:cNvSpPr/>
          <p:nvPr/>
        </p:nvSpPr>
        <p:spPr>
          <a:xfrm>
            <a:off x="320040" y="1097280"/>
            <a:ext cx="4114800" cy="2971800"/>
          </a:xfrm>
          <a:prstGeom prst="rect">
            <a:avLst/>
          </a:prstGeom>
          <a:solidFill>
            <a:srgbClr val="F7F9FA"/>
          </a:solidFill>
          <a:ln w="19050">
            <a:solidFill>
              <a:srgbClr val="0F4C5C"/>
            </a:solidFill>
            <a:prstDash val="solid"/>
          </a:ln>
        </p:spPr>
      </p:sp>
      <p:sp>
        <p:nvSpPr>
          <p:cNvPr id="9" name="Shape 7"/>
          <p:cNvSpPr/>
          <p:nvPr/>
        </p:nvSpPr>
        <p:spPr>
          <a:xfrm>
            <a:off x="320040" y="1097280"/>
            <a:ext cx="914400" cy="292608"/>
          </a:xfrm>
          <a:prstGeom prst="rect">
            <a:avLst/>
          </a:prstGeom>
          <a:solidFill>
            <a:srgbClr val="5B6770"/>
          </a:solidFill>
          <a:ln w="12700">
            <a:solidFill>
              <a:srgbClr val="5B6770"/>
            </a:solidFill>
            <a:prstDash val="solid"/>
          </a:ln>
        </p:spPr>
      </p:sp>
      <p:sp>
        <p:nvSpPr>
          <p:cNvPr id="10" name="Text 8"/>
          <p:cNvSpPr/>
          <p:nvPr/>
        </p:nvSpPr>
        <p:spPr>
          <a:xfrm>
            <a:off x="320040" y="1097280"/>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現状</a:t>
            </a:r>
            <a:endParaRPr lang="en-US" sz="1200" dirty="0"/>
          </a:p>
        </p:txBody>
      </p:sp>
      <p:sp>
        <p:nvSpPr>
          <p:cNvPr id="11" name="Text 9"/>
          <p:cNvSpPr/>
          <p:nvPr/>
        </p:nvSpPr>
        <p:spPr>
          <a:xfrm>
            <a:off x="1325880" y="1097280"/>
            <a:ext cx="1828800" cy="292608"/>
          </a:xfrm>
          <a:prstGeom prst="rect">
            <a:avLst/>
          </a:prstGeom>
          <a:noFill/>
          <a:ln/>
        </p:spPr>
        <p:txBody>
          <a:bodyPr wrap="square" lIns="0" tIns="0" rIns="0" bIns="0" rtlCol="0" anchor="ctr"/>
          <a:lstStyle/>
          <a:p>
            <a:pPr marL="0" indent="0">
              <a:buNone/>
            </a:pPr>
            <a:r>
              <a:rPr lang="en-US" sz="1100" b="1" dirty="0">
                <a:solidFill>
                  <a:srgbClr val="0F4C5C"/>
                </a:solidFill>
                <a:latin typeface="BIZ UDPGothic" pitchFamily="34" charset="0"/>
                <a:ea typeface="BIZ UDPGothic" pitchFamily="34" charset="-122"/>
                <a:cs typeface="BIZ UDPGothic" pitchFamily="34" charset="-120"/>
              </a:rPr>
              <a:t>製袋室</a:t>
            </a:r>
            <a:endParaRPr lang="en-US" sz="1100" dirty="0"/>
          </a:p>
        </p:txBody>
      </p:sp>
      <p:sp>
        <p:nvSpPr>
          <p:cNvPr id="12" name="Text 10"/>
          <p:cNvSpPr/>
          <p:nvPr/>
        </p:nvSpPr>
        <p:spPr>
          <a:xfrm>
            <a:off x="393192" y="1444752"/>
            <a:ext cx="1371600" cy="347472"/>
          </a:xfrm>
          <a:prstGeom prst="rect">
            <a:avLst/>
          </a:prstGeom>
          <a:noFill/>
          <a:ln/>
        </p:spPr>
        <p:txBody>
          <a:bodyPr wrap="square" lIns="0" tIns="0" rIns="0" bIns="0" rtlCol="0" anchor="t"/>
          <a:lstStyle/>
          <a:p>
            <a:pPr marL="0" indent="0">
              <a:buNone/>
            </a:pPr>
            <a:r>
              <a:rPr lang="en-US" sz="800" dirty="0">
                <a:solidFill>
                  <a:srgbClr val="5B6770"/>
                </a:solidFill>
                <a:latin typeface="BIZ UDPGothic" pitchFamily="34" charset="0"/>
                <a:ea typeface="BIZ UDPGothic" pitchFamily="34" charset="-122"/>
                <a:cs typeface="BIZ UDPGothic" pitchFamily="34" charset="-120"/>
              </a:rPr>
              <a:t>◀ 資材保管室から1箱ずつ</a:t>
            </a:r>
            <a:endParaRPr lang="en-US" sz="800" dirty="0"/>
          </a:p>
          <a:p>
            <a:pPr marL="0" indent="0">
              <a:buNone/>
            </a:pPr>
            <a:r>
              <a:rPr lang="en-US" sz="800" dirty="0">
                <a:solidFill>
                  <a:srgbClr val="5B6770"/>
                </a:solidFill>
                <a:latin typeface="BIZ UDPGothic" pitchFamily="34" charset="0"/>
                <a:ea typeface="BIZ UDPGothic" pitchFamily="34" charset="-122"/>
                <a:cs typeface="BIZ UDPGothic" pitchFamily="34" charset="-120"/>
              </a:rPr>
              <a:t>　搬入（約20分おき）</a:t>
            </a:r>
            <a:endParaRPr lang="en-US" sz="800" dirty="0"/>
          </a:p>
        </p:txBody>
      </p:sp>
      <p:sp>
        <p:nvSpPr>
          <p:cNvPr id="13" name="Shape 11"/>
          <p:cNvSpPr/>
          <p:nvPr/>
        </p:nvSpPr>
        <p:spPr>
          <a:xfrm>
            <a:off x="731520" y="1965960"/>
            <a:ext cx="1234440" cy="1234440"/>
          </a:xfrm>
          <a:prstGeom prst="rect">
            <a:avLst/>
          </a:prstGeom>
          <a:solidFill>
            <a:srgbClr val="FFF2CC"/>
          </a:solidFill>
          <a:ln w="15875">
            <a:solidFill>
              <a:srgbClr val="E6A100"/>
            </a:solidFill>
            <a:prstDash val="solid"/>
          </a:ln>
        </p:spPr>
      </p:sp>
      <p:sp>
        <p:nvSpPr>
          <p:cNvPr id="14" name="Text 12"/>
          <p:cNvSpPr/>
          <p:nvPr/>
        </p:nvSpPr>
        <p:spPr>
          <a:xfrm>
            <a:off x="731520" y="1965960"/>
            <a:ext cx="1234440" cy="1234440"/>
          </a:xfrm>
          <a:prstGeom prst="rect">
            <a:avLst/>
          </a:prstGeom>
          <a:noFill/>
          <a:ln/>
        </p:spPr>
        <p:txBody>
          <a:bodyPr wrap="square" lIns="25400" tIns="25400" rIns="25400" bIns="25400" rtlCol="0" anchor="ctr"/>
          <a:lstStyle/>
          <a:p>
            <a:pPr marL="0" indent="0" algn="ctr">
              <a:buNone/>
            </a:pPr>
            <a:r>
              <a:rPr lang="en-US" sz="950" b="1" u="sng" dirty="0">
                <a:solidFill>
                  <a:srgbClr val="1F2A30"/>
                </a:solidFill>
                <a:latin typeface="BIZ UDPGothic" pitchFamily="34" charset="0"/>
                <a:ea typeface="BIZ UDPGothic" pitchFamily="34" charset="-122"/>
                <a:cs typeface="BIZ UDPGothic" pitchFamily="34" charset="-120"/>
              </a:rPr>
              <a:t>a. 製袋機</a:t>
            </a:r>
            <a:endParaRPr lang="en-US" sz="950" u="sng" dirty="0"/>
          </a:p>
          <a:p>
            <a:pPr marL="0" indent="0" algn="ctr">
              <a:buNone/>
            </a:pPr>
            <a:r>
              <a:rPr lang="en-US" sz="950" b="1" dirty="0">
                <a:solidFill>
                  <a:srgbClr val="1F2A30"/>
                </a:solidFill>
                <a:latin typeface="BIZ UDPGothic" pitchFamily="34" charset="0"/>
                <a:ea typeface="BIZ UDPGothic" pitchFamily="34" charset="-122"/>
                <a:cs typeface="BIZ UDPGothic" pitchFamily="34" charset="-120"/>
              </a:rPr>
              <a:t>（既設SPM機）</a:t>
            </a:r>
            <a:endParaRPr lang="en-US" sz="950" dirty="0"/>
          </a:p>
          <a:p>
            <a:pPr marL="0" indent="0" algn="ctr">
              <a:buNone/>
            </a:pPr>
            <a:r>
              <a:rPr lang="en-US" sz="950" b="1" dirty="0">
                <a:solidFill>
                  <a:srgbClr val="1F2A30"/>
                </a:solidFill>
                <a:latin typeface="BIZ UDPGothic" pitchFamily="34" charset="0"/>
                <a:ea typeface="BIZ UDPGothic" pitchFamily="34" charset="-122"/>
                <a:cs typeface="BIZ UDPGothic" pitchFamily="34" charset="-120"/>
              </a:rPr>
              <a:t>スパウト熱圧着</a:t>
            </a:r>
            <a:endParaRPr lang="en-US" sz="950" dirty="0"/>
          </a:p>
        </p:txBody>
      </p:sp>
      <p:sp>
        <p:nvSpPr>
          <p:cNvPr id="15" name="Shape 13"/>
          <p:cNvSpPr/>
          <p:nvPr/>
        </p:nvSpPr>
        <p:spPr>
          <a:xfrm>
            <a:off x="1965960" y="1810512"/>
            <a:ext cx="182880" cy="777240"/>
          </a:xfrm>
          <a:prstGeom prst="rect">
            <a:avLst/>
          </a:prstGeom>
          <a:solidFill>
            <a:srgbClr val="DDEBF7"/>
          </a:solidFill>
          <a:ln w="15875">
            <a:solidFill>
              <a:srgbClr val="0070C0"/>
            </a:solidFill>
            <a:prstDash val="solid"/>
          </a:ln>
        </p:spPr>
      </p:sp>
      <p:sp>
        <p:nvSpPr>
          <p:cNvPr id="16" name="Text 14"/>
          <p:cNvSpPr/>
          <p:nvPr/>
        </p:nvSpPr>
        <p:spPr>
          <a:xfrm>
            <a:off x="1563624" y="1600200"/>
            <a:ext cx="621792" cy="201168"/>
          </a:xfrm>
          <a:prstGeom prst="rect">
            <a:avLst/>
          </a:prstGeom>
          <a:noFill/>
          <a:ln/>
        </p:spPr>
        <p:txBody>
          <a:bodyPr wrap="square" lIns="0" tIns="0" rIns="0" bIns="0" rtlCol="0" anchor="b"/>
          <a:lstStyle/>
          <a:p>
            <a:pPr marL="0" indent="0" algn="ctr">
              <a:buNone/>
            </a:pPr>
            <a:r>
              <a:rPr lang="en-US" sz="850" b="1" u="sng" dirty="0">
                <a:solidFill>
                  <a:srgbClr val="0B5394"/>
                </a:solidFill>
                <a:latin typeface="BIZ UDPGothic" pitchFamily="34" charset="0"/>
                <a:ea typeface="BIZ UDPGothic" pitchFamily="34" charset="-122"/>
                <a:cs typeface="BIZ UDPGothic" pitchFamily="34" charset="-120"/>
              </a:rPr>
              <a:t>b. マガジン</a:t>
            </a:r>
            <a:endParaRPr lang="en-US" sz="850" u="sng" dirty="0"/>
          </a:p>
        </p:txBody>
      </p:sp>
      <p:sp>
        <p:nvSpPr>
          <p:cNvPr id="17" name="Shape 15"/>
          <p:cNvSpPr/>
          <p:nvPr/>
        </p:nvSpPr>
        <p:spPr>
          <a:xfrm>
            <a:off x="1965960" y="3337560"/>
            <a:ext cx="1371600" cy="182880"/>
          </a:xfrm>
          <a:prstGeom prst="rect">
            <a:avLst/>
          </a:prstGeom>
          <a:solidFill>
            <a:srgbClr val="FFD9EC"/>
          </a:solidFill>
          <a:ln w="15875">
            <a:solidFill>
              <a:srgbClr val="E75AA6"/>
            </a:solidFill>
            <a:prstDash val="solid"/>
          </a:ln>
        </p:spPr>
      </p:sp>
      <p:sp>
        <p:nvSpPr>
          <p:cNvPr id="18" name="Text 16"/>
          <p:cNvSpPr/>
          <p:nvPr/>
        </p:nvSpPr>
        <p:spPr>
          <a:xfrm>
            <a:off x="1691640" y="3547872"/>
            <a:ext cx="1645920" cy="219456"/>
          </a:xfrm>
          <a:prstGeom prst="rect">
            <a:avLst/>
          </a:prstGeom>
          <a:noFill/>
          <a:ln/>
        </p:spPr>
        <p:txBody>
          <a:bodyPr wrap="square" lIns="0" tIns="0" rIns="0" bIns="0" rtlCol="0" anchor="ctr"/>
          <a:lstStyle/>
          <a:p>
            <a:pPr marL="0" indent="0" algn="ctr">
              <a:buNone/>
            </a:pPr>
            <a:r>
              <a:rPr lang="en-US" sz="850" b="1" u="sng" dirty="0">
                <a:solidFill>
                  <a:srgbClr val="B5176B"/>
                </a:solidFill>
                <a:latin typeface="BIZ UDPGothic" pitchFamily="34" charset="0"/>
                <a:ea typeface="BIZ UDPGothic" pitchFamily="34" charset="-122"/>
                <a:cs typeface="BIZ UDPGothic" pitchFamily="34" charset="-120"/>
              </a:rPr>
              <a:t>d. コンベア（搬送）</a:t>
            </a:r>
            <a:endParaRPr lang="en-US" sz="850" u="sng" dirty="0"/>
          </a:p>
        </p:txBody>
      </p:sp>
      <p:sp>
        <p:nvSpPr>
          <p:cNvPr id="19" name="Shape 17"/>
          <p:cNvSpPr/>
          <p:nvPr/>
        </p:nvSpPr>
        <p:spPr>
          <a:xfrm>
            <a:off x="3355848" y="3063240"/>
            <a:ext cx="566928" cy="658368"/>
          </a:xfrm>
          <a:prstGeom prst="rect">
            <a:avLst/>
          </a:prstGeom>
          <a:solidFill>
            <a:srgbClr val="E9DDF5"/>
          </a:solidFill>
          <a:ln w="15875">
            <a:solidFill>
              <a:srgbClr val="7030A0"/>
            </a:solidFill>
            <a:prstDash val="solid"/>
          </a:ln>
        </p:spPr>
      </p:sp>
      <p:sp>
        <p:nvSpPr>
          <p:cNvPr id="20" name="Text 18"/>
          <p:cNvSpPr/>
          <p:nvPr/>
        </p:nvSpPr>
        <p:spPr>
          <a:xfrm>
            <a:off x="3355848" y="3063240"/>
            <a:ext cx="566928" cy="658368"/>
          </a:xfrm>
          <a:prstGeom prst="rect">
            <a:avLst/>
          </a:prstGeom>
          <a:noFill/>
          <a:ln/>
        </p:spPr>
        <p:txBody>
          <a:bodyPr wrap="square" lIns="25400" tIns="25400" rIns="25400" bIns="25400" rtlCol="0" anchor="ctr"/>
          <a:lstStyle/>
          <a:p>
            <a:pPr marL="0" indent="0" algn="ctr">
              <a:buNone/>
            </a:pPr>
            <a:r>
              <a:rPr lang="en-US" sz="850" b="1" u="sng" dirty="0">
                <a:solidFill>
                  <a:srgbClr val="5E2A8C"/>
                </a:solidFill>
                <a:latin typeface="BIZ UDPGothic" pitchFamily="34" charset="0"/>
                <a:ea typeface="BIZ UDPGothic" pitchFamily="34" charset="-122"/>
                <a:cs typeface="BIZ UDPGothic" pitchFamily="34" charset="-120"/>
              </a:rPr>
              <a:t>e. リーク</a:t>
            </a:r>
            <a:endParaRPr lang="en-US" sz="850" u="sng" dirty="0"/>
          </a:p>
          <a:p>
            <a:pPr marL="0" indent="0" algn="ctr">
              <a:buNone/>
            </a:pPr>
            <a:r>
              <a:rPr lang="en-US" sz="850" b="1" u="sng" dirty="0">
                <a:solidFill>
                  <a:srgbClr val="5E2A8C"/>
                </a:solidFill>
                <a:latin typeface="BIZ UDPGothic" pitchFamily="34" charset="0"/>
                <a:ea typeface="BIZ UDPGothic" pitchFamily="34" charset="-122"/>
                <a:cs typeface="BIZ UDPGothic" pitchFamily="34" charset="-120"/>
              </a:rPr>
              <a:t>チェッカ</a:t>
            </a:r>
            <a:endParaRPr lang="en-US" sz="850" u="sng" dirty="0"/>
          </a:p>
        </p:txBody>
      </p:sp>
      <p:sp>
        <p:nvSpPr>
          <p:cNvPr id="21" name="Shape 19"/>
          <p:cNvSpPr/>
          <p:nvPr/>
        </p:nvSpPr>
        <p:spPr>
          <a:xfrm>
            <a:off x="3959352" y="3291840"/>
            <a:ext cx="384048" cy="201168"/>
          </a:xfrm>
          <a:prstGeom prst="rightArrow">
            <a:avLst/>
          </a:prstGeom>
          <a:solidFill>
            <a:srgbClr val="0F4C5C"/>
          </a:solidFill>
          <a:ln w="12700">
            <a:solidFill>
              <a:srgbClr val="0F4C5C"/>
            </a:solidFill>
            <a:prstDash val="solid"/>
          </a:ln>
        </p:spPr>
      </p:sp>
      <p:sp>
        <p:nvSpPr>
          <p:cNvPr id="22" name="Text 20"/>
          <p:cNvSpPr/>
          <p:nvPr/>
        </p:nvSpPr>
        <p:spPr>
          <a:xfrm>
            <a:off x="3721608" y="3749040"/>
            <a:ext cx="685800" cy="219456"/>
          </a:xfrm>
          <a:prstGeom prst="rect">
            <a:avLst/>
          </a:prstGeom>
          <a:noFill/>
          <a:ln/>
        </p:spPr>
        <p:txBody>
          <a:bodyPr wrap="square" lIns="0" tIns="0" rIns="0" bIns="0" rtlCol="0" anchor="ctr"/>
          <a:lstStyle/>
          <a:p>
            <a:pPr marL="0" indent="0" algn="ctr">
              <a:buNone/>
            </a:pPr>
            <a:r>
              <a:rPr lang="en-US" sz="850" b="1" dirty="0">
                <a:solidFill>
                  <a:srgbClr val="0F4C5C"/>
                </a:solidFill>
                <a:latin typeface="BIZ UDPGothic" pitchFamily="34" charset="0"/>
                <a:ea typeface="BIZ UDPGothic" pitchFamily="34" charset="-122"/>
                <a:cs typeface="BIZ UDPGothic" pitchFamily="34" charset="-120"/>
              </a:rPr>
              <a:t>充填室へ</a:t>
            </a:r>
            <a:endParaRPr lang="en-US" sz="850" dirty="0"/>
          </a:p>
        </p:txBody>
      </p:sp>
      <p:sp>
        <p:nvSpPr>
          <p:cNvPr id="23" name="Shape 21"/>
          <p:cNvSpPr/>
          <p:nvPr/>
        </p:nvSpPr>
        <p:spPr>
          <a:xfrm>
            <a:off x="3703320" y="1426464"/>
            <a:ext cx="658368" cy="502920"/>
          </a:xfrm>
          <a:prstGeom prst="rect">
            <a:avLst/>
          </a:prstGeom>
          <a:solidFill>
            <a:srgbClr val="E7E6E6"/>
          </a:solidFill>
          <a:ln w="15875">
            <a:solidFill>
              <a:srgbClr val="7F7F7F"/>
            </a:solidFill>
            <a:prstDash val="solid"/>
          </a:ln>
        </p:spPr>
      </p:sp>
      <p:sp>
        <p:nvSpPr>
          <p:cNvPr id="24" name="Text 22"/>
          <p:cNvSpPr/>
          <p:nvPr/>
        </p:nvSpPr>
        <p:spPr>
          <a:xfrm>
            <a:off x="3703320" y="1426464"/>
            <a:ext cx="658368" cy="502920"/>
          </a:xfrm>
          <a:prstGeom prst="rect">
            <a:avLst/>
          </a:prstGeom>
          <a:noFill/>
          <a:ln/>
        </p:spPr>
        <p:txBody>
          <a:bodyPr wrap="square" lIns="25400" tIns="25400" rIns="25400" bIns="25400" rtlCol="0" anchor="ctr"/>
          <a:lstStyle/>
          <a:p>
            <a:pPr marL="0" indent="0" algn="ctr">
              <a:buNone/>
            </a:pPr>
            <a:r>
              <a:rPr lang="en-US" sz="850" b="1" u="sng" dirty="0">
                <a:solidFill>
                  <a:srgbClr val="595959"/>
                </a:solidFill>
                <a:latin typeface="BIZ UDPGothic" pitchFamily="34" charset="0"/>
                <a:ea typeface="BIZ UDPGothic" pitchFamily="34" charset="-122"/>
                <a:cs typeface="BIZ UDPGothic" pitchFamily="34" charset="-120"/>
              </a:rPr>
              <a:t>f. ホッパ</a:t>
            </a:r>
            <a:endParaRPr lang="en-US" sz="850" u="sng" dirty="0"/>
          </a:p>
          <a:p>
            <a:pPr marL="0" indent="0" algn="ctr">
              <a:buNone/>
            </a:pPr>
            <a:r>
              <a:rPr lang="en-US" sz="850" b="1" u="sng" dirty="0">
                <a:solidFill>
                  <a:srgbClr val="595959"/>
                </a:solidFill>
                <a:latin typeface="BIZ UDPGothic" pitchFamily="34" charset="0"/>
                <a:ea typeface="BIZ UDPGothic" pitchFamily="34" charset="-122"/>
                <a:cs typeface="BIZ UDPGothic" pitchFamily="34" charset="-120"/>
              </a:rPr>
              <a:t>ローダ</a:t>
            </a:r>
            <a:endParaRPr lang="en-US" sz="850" u="sng" dirty="0"/>
          </a:p>
        </p:txBody>
      </p:sp>
      <p:sp>
        <p:nvSpPr>
          <p:cNvPr id="25" name="Shape 23"/>
          <p:cNvSpPr/>
          <p:nvPr/>
        </p:nvSpPr>
        <p:spPr>
          <a:xfrm>
            <a:off x="2221992" y="1874520"/>
            <a:ext cx="548640" cy="658368"/>
          </a:xfrm>
          <a:prstGeom prst="rect">
            <a:avLst/>
          </a:prstGeom>
          <a:solidFill>
            <a:srgbClr val="E2F0D9"/>
          </a:solidFill>
          <a:ln w="15875">
            <a:solidFill>
              <a:srgbClr val="00B050"/>
            </a:solidFill>
            <a:prstDash val="solid"/>
          </a:ln>
        </p:spPr>
      </p:sp>
      <p:sp>
        <p:nvSpPr>
          <p:cNvPr id="26" name="Text 24"/>
          <p:cNvSpPr/>
          <p:nvPr/>
        </p:nvSpPr>
        <p:spPr>
          <a:xfrm>
            <a:off x="2221992" y="1874520"/>
            <a:ext cx="548640" cy="658368"/>
          </a:xfrm>
          <a:prstGeom prst="rect">
            <a:avLst/>
          </a:prstGeom>
          <a:noFill/>
          <a:ln/>
        </p:spPr>
        <p:txBody>
          <a:bodyPr wrap="square" lIns="25400" tIns="25400" rIns="25400" bIns="25400" rtlCol="0" anchor="b"/>
          <a:lstStyle/>
          <a:p>
            <a:pPr marL="0" indent="0" algn="ctr">
              <a:buNone/>
            </a:pPr>
            <a:r>
              <a:rPr lang="en-US" sz="850" b="1" u="sng" dirty="0">
                <a:solidFill>
                  <a:srgbClr val="146B2A"/>
                </a:solidFill>
                <a:latin typeface="BIZ UDPGothic" pitchFamily="34" charset="0"/>
                <a:ea typeface="BIZ UDPGothic" pitchFamily="34" charset="-122"/>
                <a:cs typeface="BIZ UDPGothic" pitchFamily="34" charset="-120"/>
              </a:rPr>
              <a:t>c. 踏み台</a:t>
            </a:r>
            <a:endParaRPr lang="en-US" sz="850" u="sng" dirty="0"/>
          </a:p>
        </p:txBody>
      </p:sp>
      <p:sp>
        <p:nvSpPr>
          <p:cNvPr id="27" name="Shape 25"/>
          <p:cNvSpPr/>
          <p:nvPr/>
        </p:nvSpPr>
        <p:spPr>
          <a:xfrm>
            <a:off x="2427732" y="1554480"/>
            <a:ext cx="137160" cy="137160"/>
          </a:xfrm>
          <a:prstGeom prst="ellipse">
            <a:avLst/>
          </a:prstGeom>
          <a:solidFill>
            <a:srgbClr val="2F5D8A"/>
          </a:solidFill>
          <a:ln w="6350">
            <a:solidFill>
              <a:srgbClr val="2F5D8A"/>
            </a:solidFill>
            <a:prstDash val="solid"/>
          </a:ln>
        </p:spPr>
      </p:sp>
      <p:sp>
        <p:nvSpPr>
          <p:cNvPr id="28" name="Shape 26"/>
          <p:cNvSpPr/>
          <p:nvPr/>
        </p:nvSpPr>
        <p:spPr>
          <a:xfrm>
            <a:off x="2368296" y="1705356"/>
            <a:ext cx="256032" cy="274320"/>
          </a:xfrm>
          <a:prstGeom prst="roundRect">
            <a:avLst>
              <a:gd name="adj" fmla="val 25000"/>
            </a:avLst>
          </a:prstGeom>
          <a:solidFill>
            <a:srgbClr val="2F5D8A"/>
          </a:solidFill>
          <a:ln w="6350">
            <a:solidFill>
              <a:srgbClr val="2F5D8A"/>
            </a:solidFill>
            <a:prstDash val="solid"/>
          </a:ln>
        </p:spPr>
      </p:sp>
      <p:sp>
        <p:nvSpPr>
          <p:cNvPr id="29" name="Text 27"/>
          <p:cNvSpPr/>
          <p:nvPr/>
        </p:nvSpPr>
        <p:spPr>
          <a:xfrm>
            <a:off x="2834640" y="1993392"/>
            <a:ext cx="1572768" cy="868680"/>
          </a:xfrm>
          <a:prstGeom prst="rect">
            <a:avLst/>
          </a:prstGeom>
          <a:noFill/>
          <a:ln/>
        </p:spPr>
        <p:txBody>
          <a:bodyPr wrap="square" lIns="0" tIns="0" rIns="0" bIns="0" rtlCol="0" anchor="t"/>
          <a:lstStyle/>
          <a:p>
            <a:pPr marL="0" indent="0">
              <a:buNone/>
            </a:pPr>
            <a:r>
              <a:rPr lang="en-US" sz="800" dirty="0">
                <a:solidFill>
                  <a:srgbClr val="1F2A30"/>
                </a:solidFill>
                <a:latin typeface="BIZ UDPGothic" pitchFamily="34" charset="0"/>
                <a:ea typeface="BIZ UDPGothic" pitchFamily="34" charset="-122"/>
                <a:cs typeface="BIZ UDPGothic" pitchFamily="34" charset="-120"/>
              </a:rPr>
              <a:t>投入担当（パート）1名 ②〜⑥</a:t>
            </a:r>
            <a:endParaRPr lang="en-US" sz="800" dirty="0"/>
          </a:p>
          <a:p>
            <a:pPr marL="0" indent="0">
              <a:buNone/>
            </a:pPr>
            <a:r>
              <a:rPr lang="en-US" sz="800" dirty="0">
                <a:solidFill>
                  <a:srgbClr val="1F2A30"/>
                </a:solidFill>
                <a:latin typeface="BIZ UDPGothic" pitchFamily="34" charset="0"/>
                <a:ea typeface="BIZ UDPGothic" pitchFamily="34" charset="-122"/>
                <a:cs typeface="BIZ UDPGothic" pitchFamily="34" charset="-120"/>
              </a:rPr>
              <a:t>手でほぐしてマガジンへ投入</a:t>
            </a:r>
            <a:endParaRPr lang="en-US" sz="800" dirty="0"/>
          </a:p>
          <a:p>
            <a:pPr marL="0" indent="0">
              <a:buNone/>
            </a:pPr>
            <a:r>
              <a:rPr lang="en-US" sz="800" dirty="0">
                <a:solidFill>
                  <a:srgbClr val="1F2A30"/>
                </a:solidFill>
                <a:latin typeface="BIZ UDPGothic" pitchFamily="34" charset="0"/>
                <a:ea typeface="BIZ UDPGothic" pitchFamily="34" charset="-122"/>
                <a:cs typeface="BIZ UDPGothic" pitchFamily="34" charset="-120"/>
              </a:rPr>
              <a:t>約3分の投入を約5分おきに</a:t>
            </a:r>
            <a:endParaRPr lang="en-US" sz="800" dirty="0"/>
          </a:p>
          <a:p>
            <a:pPr marL="0" indent="0">
              <a:buNone/>
            </a:pPr>
            <a:r>
              <a:rPr lang="en-US" sz="800" dirty="0">
                <a:solidFill>
                  <a:srgbClr val="1F2A30"/>
                </a:solidFill>
                <a:latin typeface="BIZ UDPGothic" pitchFamily="34" charset="0"/>
                <a:ea typeface="BIZ UDPGothic" pitchFamily="34" charset="-122"/>
                <a:cs typeface="BIZ UDPGothic" pitchFamily="34" charset="-120"/>
              </a:rPr>
              <a:t>繰り返し、離れられない</a:t>
            </a:r>
            <a:endParaRPr lang="en-US" sz="800" dirty="0"/>
          </a:p>
        </p:txBody>
      </p:sp>
      <p:sp>
        <p:nvSpPr>
          <p:cNvPr id="30" name="Shape 28"/>
          <p:cNvSpPr/>
          <p:nvPr/>
        </p:nvSpPr>
        <p:spPr>
          <a:xfrm flipH="1">
            <a:off x="2167128" y="2103120"/>
            <a:ext cx="182880" cy="0"/>
          </a:xfrm>
          <a:prstGeom prst="line">
            <a:avLst/>
          </a:prstGeom>
          <a:noFill/>
          <a:ln w="15875">
            <a:solidFill>
              <a:srgbClr val="2F5D8A"/>
            </a:solidFill>
            <a:prstDash val="solid"/>
            <a:tailEnd type="triangle"/>
          </a:ln>
        </p:spPr>
      </p:sp>
      <p:sp>
        <p:nvSpPr>
          <p:cNvPr id="31" name="Shape 29"/>
          <p:cNvSpPr/>
          <p:nvPr/>
        </p:nvSpPr>
        <p:spPr>
          <a:xfrm>
            <a:off x="2286000" y="2670048"/>
            <a:ext cx="502920" cy="310896"/>
          </a:xfrm>
          <a:prstGeom prst="rect">
            <a:avLst/>
          </a:prstGeom>
          <a:solidFill>
            <a:srgbClr val="EFE3D3"/>
          </a:solidFill>
          <a:ln w="15875">
            <a:solidFill>
              <a:srgbClr val="B08968"/>
            </a:solidFill>
            <a:prstDash val="solid"/>
          </a:ln>
        </p:spPr>
      </p:sp>
      <p:sp>
        <p:nvSpPr>
          <p:cNvPr id="32" name="Text 30"/>
          <p:cNvSpPr/>
          <p:nvPr/>
        </p:nvSpPr>
        <p:spPr>
          <a:xfrm>
            <a:off x="2286000" y="2670048"/>
            <a:ext cx="502920" cy="310896"/>
          </a:xfrm>
          <a:prstGeom prst="rect">
            <a:avLst/>
          </a:prstGeom>
          <a:noFill/>
          <a:ln/>
        </p:spPr>
        <p:txBody>
          <a:bodyPr wrap="square" lIns="25400" tIns="25400" rIns="25400" bIns="25400" rtlCol="0" anchor="ctr"/>
          <a:lstStyle/>
          <a:p>
            <a:pPr marL="0" indent="0" algn="ctr">
              <a:buNone/>
            </a:pPr>
            <a:r>
              <a:rPr lang="en-US" sz="750" b="1" dirty="0">
                <a:solidFill>
                  <a:srgbClr val="7A5A3A"/>
                </a:solidFill>
                <a:latin typeface="BIZ UDPGothic" pitchFamily="34" charset="0"/>
                <a:ea typeface="BIZ UDPGothic" pitchFamily="34" charset="-122"/>
                <a:cs typeface="BIZ UDPGothic" pitchFamily="34" charset="-120"/>
              </a:rPr>
              <a:t>パウチ</a:t>
            </a:r>
            <a:endParaRPr lang="en-US" sz="750" dirty="0"/>
          </a:p>
          <a:p>
            <a:pPr marL="0" indent="0" algn="ctr">
              <a:buNone/>
            </a:pPr>
            <a:r>
              <a:rPr lang="en-US" sz="750" b="1" dirty="0">
                <a:solidFill>
                  <a:srgbClr val="7A5A3A"/>
                </a:solidFill>
                <a:latin typeface="BIZ UDPGothic" pitchFamily="34" charset="0"/>
                <a:ea typeface="BIZ UDPGothic" pitchFamily="34" charset="-122"/>
                <a:cs typeface="BIZ UDPGothic" pitchFamily="34" charset="-120"/>
              </a:rPr>
              <a:t>段ボール</a:t>
            </a:r>
            <a:endParaRPr lang="en-US" sz="750" dirty="0"/>
          </a:p>
        </p:txBody>
      </p:sp>
      <p:sp>
        <p:nvSpPr>
          <p:cNvPr id="33" name="Shape 31"/>
          <p:cNvSpPr/>
          <p:nvPr/>
        </p:nvSpPr>
        <p:spPr>
          <a:xfrm>
            <a:off x="2862072" y="2670048"/>
            <a:ext cx="502920" cy="310896"/>
          </a:xfrm>
          <a:prstGeom prst="rect">
            <a:avLst/>
          </a:prstGeom>
          <a:solidFill>
            <a:srgbClr val="EFE3D3"/>
          </a:solidFill>
          <a:ln w="15875">
            <a:solidFill>
              <a:srgbClr val="B08968"/>
            </a:solidFill>
            <a:prstDash val="solid"/>
          </a:ln>
        </p:spPr>
      </p:sp>
      <p:sp>
        <p:nvSpPr>
          <p:cNvPr id="34" name="Text 32"/>
          <p:cNvSpPr/>
          <p:nvPr/>
        </p:nvSpPr>
        <p:spPr>
          <a:xfrm>
            <a:off x="2862072" y="2670048"/>
            <a:ext cx="502920" cy="310896"/>
          </a:xfrm>
          <a:prstGeom prst="rect">
            <a:avLst/>
          </a:prstGeom>
          <a:noFill/>
          <a:ln/>
        </p:spPr>
        <p:txBody>
          <a:bodyPr wrap="square" lIns="25400" tIns="25400" rIns="25400" bIns="25400" rtlCol="0" anchor="ctr"/>
          <a:lstStyle/>
          <a:p>
            <a:pPr marL="0" indent="0" algn="ctr">
              <a:buNone/>
            </a:pPr>
            <a:r>
              <a:rPr lang="en-US" sz="750" b="1" dirty="0">
                <a:solidFill>
                  <a:srgbClr val="7A5A3A"/>
                </a:solidFill>
                <a:latin typeface="BIZ UDPGothic" pitchFamily="34" charset="0"/>
                <a:ea typeface="BIZ UDPGothic" pitchFamily="34" charset="-122"/>
                <a:cs typeface="BIZ UDPGothic" pitchFamily="34" charset="-120"/>
              </a:rPr>
              <a:t>パウチ</a:t>
            </a:r>
            <a:endParaRPr lang="en-US" sz="750" dirty="0"/>
          </a:p>
          <a:p>
            <a:pPr marL="0" indent="0" algn="ctr">
              <a:buNone/>
            </a:pPr>
            <a:r>
              <a:rPr lang="en-US" sz="750" b="1" dirty="0">
                <a:solidFill>
                  <a:srgbClr val="7A5A3A"/>
                </a:solidFill>
                <a:latin typeface="BIZ UDPGothic" pitchFamily="34" charset="0"/>
                <a:ea typeface="BIZ UDPGothic" pitchFamily="34" charset="-122"/>
                <a:cs typeface="BIZ UDPGothic" pitchFamily="34" charset="-120"/>
              </a:rPr>
              <a:t>段ボール</a:t>
            </a:r>
            <a:endParaRPr lang="en-US" sz="750" dirty="0"/>
          </a:p>
        </p:txBody>
      </p:sp>
      <p:sp>
        <p:nvSpPr>
          <p:cNvPr id="35" name="Shape 33"/>
          <p:cNvSpPr/>
          <p:nvPr/>
        </p:nvSpPr>
        <p:spPr>
          <a:xfrm>
            <a:off x="1202436" y="3246120"/>
            <a:ext cx="137160" cy="137160"/>
          </a:xfrm>
          <a:prstGeom prst="ellipse">
            <a:avLst/>
          </a:prstGeom>
          <a:solidFill>
            <a:srgbClr val="2F5D8A"/>
          </a:solidFill>
          <a:ln w="6350">
            <a:solidFill>
              <a:srgbClr val="2F5D8A"/>
            </a:solidFill>
            <a:prstDash val="solid"/>
          </a:ln>
        </p:spPr>
      </p:sp>
      <p:sp>
        <p:nvSpPr>
          <p:cNvPr id="36" name="Shape 34"/>
          <p:cNvSpPr/>
          <p:nvPr/>
        </p:nvSpPr>
        <p:spPr>
          <a:xfrm>
            <a:off x="1143000" y="3396996"/>
            <a:ext cx="256032" cy="274320"/>
          </a:xfrm>
          <a:prstGeom prst="roundRect">
            <a:avLst>
              <a:gd name="adj" fmla="val 25000"/>
            </a:avLst>
          </a:prstGeom>
          <a:solidFill>
            <a:srgbClr val="2F5D8A"/>
          </a:solidFill>
          <a:ln w="6350">
            <a:solidFill>
              <a:srgbClr val="2F5D8A"/>
            </a:solidFill>
            <a:prstDash val="solid"/>
          </a:ln>
        </p:spPr>
      </p:sp>
      <p:sp>
        <p:nvSpPr>
          <p:cNvPr id="37" name="Text 35"/>
          <p:cNvSpPr/>
          <p:nvPr/>
        </p:nvSpPr>
        <p:spPr>
          <a:xfrm>
            <a:off x="457200" y="3703320"/>
            <a:ext cx="1508760" cy="347472"/>
          </a:xfrm>
          <a:prstGeom prst="rect">
            <a:avLst/>
          </a:prstGeom>
          <a:noFill/>
          <a:ln/>
        </p:spPr>
        <p:txBody>
          <a:bodyPr wrap="square" lIns="0" tIns="0" rIns="0" bIns="0" rtlCol="0" anchor="t"/>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オペレーター1名 ⑦</a:t>
            </a:r>
            <a:endParaRPr lang="en-US" sz="850" dirty="0"/>
          </a:p>
        </p:txBody>
      </p:sp>
      <p:sp>
        <p:nvSpPr>
          <p:cNvPr id="38" name="Shape 36"/>
          <p:cNvSpPr/>
          <p:nvPr/>
        </p:nvSpPr>
        <p:spPr>
          <a:xfrm>
            <a:off x="4462272" y="2423160"/>
            <a:ext cx="219456" cy="329184"/>
          </a:xfrm>
          <a:prstGeom prst="rightArrow">
            <a:avLst/>
          </a:prstGeom>
          <a:solidFill>
            <a:srgbClr val="F26B1D"/>
          </a:solidFill>
          <a:ln w="12700">
            <a:solidFill>
              <a:srgbClr val="F26B1D"/>
            </a:solidFill>
            <a:prstDash val="solid"/>
          </a:ln>
        </p:spPr>
      </p:sp>
      <p:sp>
        <p:nvSpPr>
          <p:cNvPr id="39" name="Shape 37"/>
          <p:cNvSpPr/>
          <p:nvPr/>
        </p:nvSpPr>
        <p:spPr>
          <a:xfrm>
            <a:off x="4709160" y="1097280"/>
            <a:ext cx="4114800" cy="2971800"/>
          </a:xfrm>
          <a:prstGeom prst="rect">
            <a:avLst/>
          </a:prstGeom>
          <a:solidFill>
            <a:srgbClr val="F7F9FA"/>
          </a:solidFill>
          <a:ln w="19050">
            <a:solidFill>
              <a:srgbClr val="0F4C5C"/>
            </a:solidFill>
            <a:prstDash val="solid"/>
          </a:ln>
        </p:spPr>
      </p:sp>
      <p:sp>
        <p:nvSpPr>
          <p:cNvPr id="40" name="Shape 38"/>
          <p:cNvSpPr/>
          <p:nvPr/>
        </p:nvSpPr>
        <p:spPr>
          <a:xfrm>
            <a:off x="4709160" y="1097280"/>
            <a:ext cx="914400" cy="292608"/>
          </a:xfrm>
          <a:prstGeom prst="rect">
            <a:avLst/>
          </a:prstGeom>
          <a:solidFill>
            <a:srgbClr val="F26B1D"/>
          </a:solidFill>
          <a:ln w="12700">
            <a:solidFill>
              <a:srgbClr val="F26B1D"/>
            </a:solidFill>
            <a:prstDash val="solid"/>
          </a:ln>
        </p:spPr>
      </p:sp>
      <p:sp>
        <p:nvSpPr>
          <p:cNvPr id="41" name="Text 39"/>
          <p:cNvSpPr/>
          <p:nvPr/>
        </p:nvSpPr>
        <p:spPr>
          <a:xfrm>
            <a:off x="4709160" y="1097280"/>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導入後</a:t>
            </a:r>
            <a:endParaRPr lang="en-US" sz="1200" dirty="0"/>
          </a:p>
        </p:txBody>
      </p:sp>
      <p:sp>
        <p:nvSpPr>
          <p:cNvPr id="42" name="Text 40"/>
          <p:cNvSpPr/>
          <p:nvPr/>
        </p:nvSpPr>
        <p:spPr>
          <a:xfrm>
            <a:off x="5715000" y="1097280"/>
            <a:ext cx="1828800" cy="292608"/>
          </a:xfrm>
          <a:prstGeom prst="rect">
            <a:avLst/>
          </a:prstGeom>
          <a:noFill/>
          <a:ln/>
        </p:spPr>
        <p:txBody>
          <a:bodyPr wrap="square" lIns="0" tIns="0" rIns="0" bIns="0" rtlCol="0" anchor="ctr"/>
          <a:lstStyle/>
          <a:p>
            <a:pPr marL="0" indent="0">
              <a:buNone/>
            </a:pPr>
            <a:r>
              <a:rPr lang="en-US" sz="1100" b="1" dirty="0">
                <a:solidFill>
                  <a:srgbClr val="0F4C5C"/>
                </a:solidFill>
                <a:latin typeface="BIZ UDPGothic" pitchFamily="34" charset="0"/>
                <a:ea typeface="BIZ UDPGothic" pitchFamily="34" charset="-122"/>
                <a:cs typeface="BIZ UDPGothic" pitchFamily="34" charset="-120"/>
              </a:rPr>
              <a:t>製袋室</a:t>
            </a:r>
            <a:endParaRPr lang="en-US" sz="1100" dirty="0"/>
          </a:p>
        </p:txBody>
      </p:sp>
      <p:sp>
        <p:nvSpPr>
          <p:cNvPr id="43" name="Text 41"/>
          <p:cNvSpPr/>
          <p:nvPr/>
        </p:nvSpPr>
        <p:spPr>
          <a:xfrm>
            <a:off x="4782312" y="1444752"/>
            <a:ext cx="1371600" cy="347472"/>
          </a:xfrm>
          <a:prstGeom prst="rect">
            <a:avLst/>
          </a:prstGeom>
          <a:noFill/>
          <a:ln/>
        </p:spPr>
        <p:txBody>
          <a:bodyPr wrap="square" lIns="0" tIns="0" rIns="0" bIns="0" rtlCol="0" anchor="t"/>
          <a:lstStyle/>
          <a:p>
            <a:pPr marL="0" indent="0">
              <a:buNone/>
            </a:pPr>
            <a:r>
              <a:rPr lang="en-US" sz="800" dirty="0">
                <a:solidFill>
                  <a:srgbClr val="5B6770"/>
                </a:solidFill>
                <a:latin typeface="BIZ UDPGothic" pitchFamily="34" charset="0"/>
                <a:ea typeface="BIZ UDPGothic" pitchFamily="34" charset="-122"/>
                <a:cs typeface="BIZ UDPGothic" pitchFamily="34" charset="-120"/>
              </a:rPr>
              <a:t>◀ 台車で約2時間分を</a:t>
            </a:r>
            <a:endParaRPr lang="en-US" sz="800" dirty="0"/>
          </a:p>
          <a:p>
            <a:pPr marL="0" indent="0">
              <a:buNone/>
            </a:pPr>
            <a:r>
              <a:rPr lang="en-US" sz="800" dirty="0">
                <a:solidFill>
                  <a:srgbClr val="5B6770"/>
                </a:solidFill>
                <a:latin typeface="BIZ UDPGothic" pitchFamily="34" charset="0"/>
                <a:ea typeface="BIZ UDPGothic" pitchFamily="34" charset="-122"/>
                <a:cs typeface="BIZ UDPGothic" pitchFamily="34" charset="-120"/>
              </a:rPr>
              <a:t>　まとめて搬入</a:t>
            </a:r>
            <a:endParaRPr lang="en-US" sz="800" dirty="0"/>
          </a:p>
        </p:txBody>
      </p:sp>
      <p:sp>
        <p:nvSpPr>
          <p:cNvPr id="44" name="Shape 42"/>
          <p:cNvSpPr/>
          <p:nvPr/>
        </p:nvSpPr>
        <p:spPr>
          <a:xfrm>
            <a:off x="5120640" y="1965960"/>
            <a:ext cx="1234440" cy="1234440"/>
          </a:xfrm>
          <a:prstGeom prst="rect">
            <a:avLst/>
          </a:prstGeom>
          <a:solidFill>
            <a:srgbClr val="FFF2CC"/>
          </a:solidFill>
          <a:ln w="15875">
            <a:solidFill>
              <a:srgbClr val="E6A100"/>
            </a:solidFill>
            <a:prstDash val="solid"/>
          </a:ln>
        </p:spPr>
      </p:sp>
      <p:sp>
        <p:nvSpPr>
          <p:cNvPr id="45" name="Text 43"/>
          <p:cNvSpPr/>
          <p:nvPr/>
        </p:nvSpPr>
        <p:spPr>
          <a:xfrm>
            <a:off x="5120640" y="1965960"/>
            <a:ext cx="1234440" cy="1234440"/>
          </a:xfrm>
          <a:prstGeom prst="rect">
            <a:avLst/>
          </a:prstGeom>
          <a:noFill/>
          <a:ln/>
        </p:spPr>
        <p:txBody>
          <a:bodyPr wrap="square" lIns="25400" tIns="25400" rIns="25400" bIns="25400" rtlCol="0" anchor="ctr"/>
          <a:lstStyle/>
          <a:p>
            <a:pPr marL="0" indent="0" algn="ctr">
              <a:buNone/>
            </a:pPr>
            <a:r>
              <a:rPr lang="en-US" sz="950" b="1" u="sng" dirty="0">
                <a:solidFill>
                  <a:srgbClr val="1F2A30"/>
                </a:solidFill>
                <a:latin typeface="BIZ UDPGothic" pitchFamily="34" charset="0"/>
                <a:ea typeface="BIZ UDPGothic" pitchFamily="34" charset="-122"/>
                <a:cs typeface="BIZ UDPGothic" pitchFamily="34" charset="-120"/>
              </a:rPr>
              <a:t>a. 製袋機</a:t>
            </a:r>
            <a:endParaRPr lang="en-US" sz="950" u="sng" dirty="0"/>
          </a:p>
          <a:p>
            <a:pPr marL="0" indent="0" algn="ctr">
              <a:buNone/>
            </a:pPr>
            <a:r>
              <a:rPr lang="en-US" sz="950" b="1" dirty="0">
                <a:solidFill>
                  <a:srgbClr val="1F2A30"/>
                </a:solidFill>
                <a:latin typeface="BIZ UDPGothic" pitchFamily="34" charset="0"/>
                <a:ea typeface="BIZ UDPGothic" pitchFamily="34" charset="-122"/>
                <a:cs typeface="BIZ UDPGothic" pitchFamily="34" charset="-120"/>
              </a:rPr>
              <a:t>（既設SPM機）</a:t>
            </a:r>
            <a:endParaRPr lang="en-US" sz="950" dirty="0"/>
          </a:p>
          <a:p>
            <a:pPr marL="0" indent="0" algn="ctr">
              <a:buNone/>
            </a:pPr>
            <a:r>
              <a:rPr lang="en-US" sz="950" b="1" dirty="0">
                <a:solidFill>
                  <a:srgbClr val="1F2A30"/>
                </a:solidFill>
                <a:latin typeface="BIZ UDPGothic" pitchFamily="34" charset="0"/>
                <a:ea typeface="BIZ UDPGothic" pitchFamily="34" charset="-122"/>
                <a:cs typeface="BIZ UDPGothic" pitchFamily="34" charset="-120"/>
              </a:rPr>
              <a:t>スパウト熱圧着</a:t>
            </a:r>
            <a:endParaRPr lang="en-US" sz="950" dirty="0"/>
          </a:p>
        </p:txBody>
      </p:sp>
      <p:sp>
        <p:nvSpPr>
          <p:cNvPr id="46" name="Shape 44"/>
          <p:cNvSpPr/>
          <p:nvPr/>
        </p:nvSpPr>
        <p:spPr>
          <a:xfrm>
            <a:off x="6355080" y="1810512"/>
            <a:ext cx="182880" cy="777240"/>
          </a:xfrm>
          <a:prstGeom prst="rect">
            <a:avLst/>
          </a:prstGeom>
          <a:solidFill>
            <a:srgbClr val="DDEBF7"/>
          </a:solidFill>
          <a:ln w="15875">
            <a:solidFill>
              <a:srgbClr val="0070C0"/>
            </a:solidFill>
            <a:prstDash val="solid"/>
          </a:ln>
        </p:spPr>
      </p:sp>
      <p:sp>
        <p:nvSpPr>
          <p:cNvPr id="47" name="Text 45"/>
          <p:cNvSpPr/>
          <p:nvPr/>
        </p:nvSpPr>
        <p:spPr>
          <a:xfrm>
            <a:off x="5952744" y="1600200"/>
            <a:ext cx="621792" cy="201168"/>
          </a:xfrm>
          <a:prstGeom prst="rect">
            <a:avLst/>
          </a:prstGeom>
          <a:noFill/>
          <a:ln/>
        </p:spPr>
        <p:txBody>
          <a:bodyPr wrap="square" lIns="0" tIns="0" rIns="0" bIns="0" rtlCol="0" anchor="b"/>
          <a:lstStyle/>
          <a:p>
            <a:pPr marL="0" indent="0" algn="ctr">
              <a:buNone/>
            </a:pPr>
            <a:r>
              <a:rPr lang="en-US" sz="850" b="1" u="sng" dirty="0">
                <a:solidFill>
                  <a:srgbClr val="0B5394"/>
                </a:solidFill>
                <a:latin typeface="BIZ UDPGothic" pitchFamily="34" charset="0"/>
                <a:ea typeface="BIZ UDPGothic" pitchFamily="34" charset="-122"/>
                <a:cs typeface="BIZ UDPGothic" pitchFamily="34" charset="-120"/>
              </a:rPr>
              <a:t>b. マガジン</a:t>
            </a:r>
            <a:endParaRPr lang="en-US" sz="850" u="sng" dirty="0"/>
          </a:p>
        </p:txBody>
      </p:sp>
      <p:sp>
        <p:nvSpPr>
          <p:cNvPr id="48" name="Shape 46"/>
          <p:cNvSpPr/>
          <p:nvPr/>
        </p:nvSpPr>
        <p:spPr>
          <a:xfrm>
            <a:off x="6355080" y="3337560"/>
            <a:ext cx="1371600" cy="182880"/>
          </a:xfrm>
          <a:prstGeom prst="rect">
            <a:avLst/>
          </a:prstGeom>
          <a:solidFill>
            <a:srgbClr val="FFD9EC"/>
          </a:solidFill>
          <a:ln w="15875">
            <a:solidFill>
              <a:srgbClr val="E75AA6"/>
            </a:solidFill>
            <a:prstDash val="solid"/>
          </a:ln>
        </p:spPr>
      </p:sp>
      <p:sp>
        <p:nvSpPr>
          <p:cNvPr id="49" name="Text 47"/>
          <p:cNvSpPr/>
          <p:nvPr/>
        </p:nvSpPr>
        <p:spPr>
          <a:xfrm>
            <a:off x="6080760" y="3547872"/>
            <a:ext cx="1645920" cy="219456"/>
          </a:xfrm>
          <a:prstGeom prst="rect">
            <a:avLst/>
          </a:prstGeom>
          <a:noFill/>
          <a:ln/>
        </p:spPr>
        <p:txBody>
          <a:bodyPr wrap="square" lIns="0" tIns="0" rIns="0" bIns="0" rtlCol="0" anchor="ctr"/>
          <a:lstStyle/>
          <a:p>
            <a:pPr marL="0" indent="0" algn="ctr">
              <a:buNone/>
            </a:pPr>
            <a:r>
              <a:rPr lang="en-US" sz="850" b="1" u="sng" dirty="0">
                <a:solidFill>
                  <a:srgbClr val="B5176B"/>
                </a:solidFill>
                <a:latin typeface="BIZ UDPGothic" pitchFamily="34" charset="0"/>
                <a:ea typeface="BIZ UDPGothic" pitchFamily="34" charset="-122"/>
                <a:cs typeface="BIZ UDPGothic" pitchFamily="34" charset="-120"/>
              </a:rPr>
              <a:t>d. コンベア（搬送）</a:t>
            </a:r>
            <a:endParaRPr lang="en-US" sz="850" u="sng" dirty="0"/>
          </a:p>
        </p:txBody>
      </p:sp>
      <p:sp>
        <p:nvSpPr>
          <p:cNvPr id="50" name="Shape 48"/>
          <p:cNvSpPr/>
          <p:nvPr/>
        </p:nvSpPr>
        <p:spPr>
          <a:xfrm>
            <a:off x="7744968" y="3063240"/>
            <a:ext cx="566928" cy="658368"/>
          </a:xfrm>
          <a:prstGeom prst="rect">
            <a:avLst/>
          </a:prstGeom>
          <a:solidFill>
            <a:srgbClr val="E9DDF5"/>
          </a:solidFill>
          <a:ln w="15875">
            <a:solidFill>
              <a:srgbClr val="7030A0"/>
            </a:solidFill>
            <a:prstDash val="solid"/>
          </a:ln>
        </p:spPr>
      </p:sp>
      <p:sp>
        <p:nvSpPr>
          <p:cNvPr id="51" name="Text 49"/>
          <p:cNvSpPr/>
          <p:nvPr/>
        </p:nvSpPr>
        <p:spPr>
          <a:xfrm>
            <a:off x="7744968" y="3063240"/>
            <a:ext cx="566928" cy="658368"/>
          </a:xfrm>
          <a:prstGeom prst="rect">
            <a:avLst/>
          </a:prstGeom>
          <a:noFill/>
          <a:ln/>
        </p:spPr>
        <p:txBody>
          <a:bodyPr wrap="square" lIns="25400" tIns="25400" rIns="25400" bIns="25400" rtlCol="0" anchor="ctr"/>
          <a:lstStyle/>
          <a:p>
            <a:pPr marL="0" indent="0" algn="ctr">
              <a:buNone/>
            </a:pPr>
            <a:r>
              <a:rPr lang="en-US" sz="850" b="1" u="sng" dirty="0">
                <a:solidFill>
                  <a:srgbClr val="5E2A8C"/>
                </a:solidFill>
                <a:latin typeface="BIZ UDPGothic" pitchFamily="34" charset="0"/>
                <a:ea typeface="BIZ UDPGothic" pitchFamily="34" charset="-122"/>
                <a:cs typeface="BIZ UDPGothic" pitchFamily="34" charset="-120"/>
              </a:rPr>
              <a:t>e. リーク</a:t>
            </a:r>
            <a:endParaRPr lang="en-US" sz="850" u="sng" dirty="0"/>
          </a:p>
          <a:p>
            <a:pPr marL="0" indent="0" algn="ctr">
              <a:buNone/>
            </a:pPr>
            <a:r>
              <a:rPr lang="en-US" sz="850" b="1" u="sng" dirty="0">
                <a:solidFill>
                  <a:srgbClr val="5E2A8C"/>
                </a:solidFill>
                <a:latin typeface="BIZ UDPGothic" pitchFamily="34" charset="0"/>
                <a:ea typeface="BIZ UDPGothic" pitchFamily="34" charset="-122"/>
                <a:cs typeface="BIZ UDPGothic" pitchFamily="34" charset="-120"/>
              </a:rPr>
              <a:t>チェッカ</a:t>
            </a:r>
            <a:endParaRPr lang="en-US" sz="850" u="sng" dirty="0"/>
          </a:p>
        </p:txBody>
      </p:sp>
      <p:sp>
        <p:nvSpPr>
          <p:cNvPr id="52" name="Shape 50"/>
          <p:cNvSpPr/>
          <p:nvPr/>
        </p:nvSpPr>
        <p:spPr>
          <a:xfrm>
            <a:off x="8348472" y="3291840"/>
            <a:ext cx="384048" cy="201168"/>
          </a:xfrm>
          <a:prstGeom prst="rightArrow">
            <a:avLst/>
          </a:prstGeom>
          <a:solidFill>
            <a:srgbClr val="0F4C5C"/>
          </a:solidFill>
          <a:ln w="12700">
            <a:solidFill>
              <a:srgbClr val="0F4C5C"/>
            </a:solidFill>
            <a:prstDash val="solid"/>
          </a:ln>
        </p:spPr>
      </p:sp>
      <p:sp>
        <p:nvSpPr>
          <p:cNvPr id="53" name="Text 51"/>
          <p:cNvSpPr/>
          <p:nvPr/>
        </p:nvSpPr>
        <p:spPr>
          <a:xfrm>
            <a:off x="8110728" y="3749040"/>
            <a:ext cx="685800" cy="219456"/>
          </a:xfrm>
          <a:prstGeom prst="rect">
            <a:avLst/>
          </a:prstGeom>
          <a:noFill/>
          <a:ln/>
        </p:spPr>
        <p:txBody>
          <a:bodyPr wrap="square" lIns="0" tIns="0" rIns="0" bIns="0" rtlCol="0" anchor="ctr"/>
          <a:lstStyle/>
          <a:p>
            <a:pPr marL="0" indent="0" algn="ctr">
              <a:buNone/>
            </a:pPr>
            <a:r>
              <a:rPr lang="en-US" sz="850" b="1" dirty="0">
                <a:solidFill>
                  <a:srgbClr val="0F4C5C"/>
                </a:solidFill>
                <a:latin typeface="BIZ UDPGothic" pitchFamily="34" charset="0"/>
                <a:ea typeface="BIZ UDPGothic" pitchFamily="34" charset="-122"/>
                <a:cs typeface="BIZ UDPGothic" pitchFamily="34" charset="-120"/>
              </a:rPr>
              <a:t>充填室へ</a:t>
            </a:r>
            <a:endParaRPr lang="en-US" sz="850" dirty="0"/>
          </a:p>
        </p:txBody>
      </p:sp>
      <p:sp>
        <p:nvSpPr>
          <p:cNvPr id="54" name="Shape 52"/>
          <p:cNvSpPr/>
          <p:nvPr/>
        </p:nvSpPr>
        <p:spPr>
          <a:xfrm>
            <a:off x="8092440" y="1426464"/>
            <a:ext cx="658368" cy="502920"/>
          </a:xfrm>
          <a:prstGeom prst="rect">
            <a:avLst/>
          </a:prstGeom>
          <a:solidFill>
            <a:srgbClr val="E7E6E6"/>
          </a:solidFill>
          <a:ln w="15875">
            <a:solidFill>
              <a:srgbClr val="7F7F7F"/>
            </a:solidFill>
            <a:prstDash val="solid"/>
          </a:ln>
        </p:spPr>
      </p:sp>
      <p:sp>
        <p:nvSpPr>
          <p:cNvPr id="55" name="Text 53"/>
          <p:cNvSpPr/>
          <p:nvPr/>
        </p:nvSpPr>
        <p:spPr>
          <a:xfrm>
            <a:off x="8092440" y="1426464"/>
            <a:ext cx="658368" cy="502920"/>
          </a:xfrm>
          <a:prstGeom prst="rect">
            <a:avLst/>
          </a:prstGeom>
          <a:noFill/>
          <a:ln/>
        </p:spPr>
        <p:txBody>
          <a:bodyPr wrap="square" lIns="25400" tIns="25400" rIns="25400" bIns="25400" rtlCol="0" anchor="ctr"/>
          <a:lstStyle/>
          <a:p>
            <a:pPr marL="0" indent="0" algn="ctr">
              <a:buNone/>
            </a:pPr>
            <a:r>
              <a:rPr lang="en-US" sz="850" b="1" u="sng" dirty="0">
                <a:solidFill>
                  <a:srgbClr val="595959"/>
                </a:solidFill>
                <a:latin typeface="BIZ UDPGothic" pitchFamily="34" charset="0"/>
                <a:ea typeface="BIZ UDPGothic" pitchFamily="34" charset="-122"/>
                <a:cs typeface="BIZ UDPGothic" pitchFamily="34" charset="-120"/>
              </a:rPr>
              <a:t>f. ホッパ</a:t>
            </a:r>
            <a:endParaRPr lang="en-US" sz="850" u="sng" dirty="0"/>
          </a:p>
          <a:p>
            <a:pPr marL="0" indent="0" algn="ctr">
              <a:buNone/>
            </a:pPr>
            <a:r>
              <a:rPr lang="en-US" sz="850" b="1" u="sng" dirty="0">
                <a:solidFill>
                  <a:srgbClr val="595959"/>
                </a:solidFill>
                <a:latin typeface="BIZ UDPGothic" pitchFamily="34" charset="0"/>
                <a:ea typeface="BIZ UDPGothic" pitchFamily="34" charset="-122"/>
                <a:cs typeface="BIZ UDPGothic" pitchFamily="34" charset="-120"/>
              </a:rPr>
              <a:t>ローダ</a:t>
            </a:r>
            <a:endParaRPr lang="en-US" sz="850" u="sng" dirty="0"/>
          </a:p>
        </p:txBody>
      </p:sp>
      <p:sp>
        <p:nvSpPr>
          <p:cNvPr id="56" name="Shape 54"/>
          <p:cNvSpPr/>
          <p:nvPr/>
        </p:nvSpPr>
        <p:spPr>
          <a:xfrm>
            <a:off x="6611112" y="1481328"/>
            <a:ext cx="1243584" cy="1481328"/>
          </a:xfrm>
          <a:prstGeom prst="rect">
            <a:avLst/>
          </a:prstGeom>
          <a:solidFill>
            <a:srgbClr val="FDE2E0"/>
          </a:solidFill>
          <a:ln w="25400">
            <a:solidFill>
              <a:srgbClr val="E60000"/>
            </a:solidFill>
            <a:prstDash val="solid"/>
          </a:ln>
        </p:spPr>
      </p:sp>
      <p:sp>
        <p:nvSpPr>
          <p:cNvPr id="57" name="Text 55"/>
          <p:cNvSpPr/>
          <p:nvPr/>
        </p:nvSpPr>
        <p:spPr>
          <a:xfrm>
            <a:off x="6611112" y="1499616"/>
            <a:ext cx="1243584" cy="219456"/>
          </a:xfrm>
          <a:prstGeom prst="rect">
            <a:avLst/>
          </a:prstGeom>
          <a:noFill/>
          <a:ln/>
        </p:spPr>
        <p:txBody>
          <a:bodyPr wrap="square" lIns="0" tIns="0" rIns="0" bIns="0" rtlCol="0" anchor="ctr"/>
          <a:lstStyle/>
          <a:p>
            <a:pPr marL="0" indent="0" algn="ctr">
              <a:buNone/>
            </a:pPr>
            <a:r>
              <a:rPr lang="en-US" sz="850" b="1" u="sng" dirty="0">
                <a:solidFill>
                  <a:srgbClr val="B80000"/>
                </a:solidFill>
                <a:latin typeface="BIZ UDPGothic" pitchFamily="34" charset="0"/>
                <a:ea typeface="BIZ UDPGothic" pitchFamily="34" charset="-122"/>
                <a:cs typeface="BIZ UDPGothic" pitchFamily="34" charset="-120"/>
              </a:rPr>
              <a:t>g. 自動供給装置（新設）</a:t>
            </a:r>
            <a:endParaRPr lang="en-US" sz="850" u="sng" dirty="0"/>
          </a:p>
        </p:txBody>
      </p:sp>
      <p:sp>
        <p:nvSpPr>
          <p:cNvPr id="58" name="Shape 56"/>
          <p:cNvSpPr/>
          <p:nvPr/>
        </p:nvSpPr>
        <p:spPr>
          <a:xfrm>
            <a:off x="6702552" y="1737360"/>
            <a:ext cx="182880" cy="73152"/>
          </a:xfrm>
          <a:prstGeom prst="rect">
            <a:avLst/>
          </a:prstGeom>
          <a:solidFill>
            <a:srgbClr val="F4A6A0"/>
          </a:solidFill>
          <a:ln w="6350">
            <a:solidFill>
              <a:srgbClr val="E60000"/>
            </a:solidFill>
            <a:prstDash val="solid"/>
          </a:ln>
        </p:spPr>
      </p:sp>
      <p:sp>
        <p:nvSpPr>
          <p:cNvPr id="59" name="Shape 57"/>
          <p:cNvSpPr/>
          <p:nvPr/>
        </p:nvSpPr>
        <p:spPr>
          <a:xfrm>
            <a:off x="6702552" y="1828800"/>
            <a:ext cx="182880" cy="73152"/>
          </a:xfrm>
          <a:prstGeom prst="rect">
            <a:avLst/>
          </a:prstGeom>
          <a:solidFill>
            <a:srgbClr val="F4A6A0"/>
          </a:solidFill>
          <a:ln w="6350">
            <a:solidFill>
              <a:srgbClr val="E60000"/>
            </a:solidFill>
            <a:prstDash val="solid"/>
          </a:ln>
        </p:spPr>
      </p:sp>
      <p:sp>
        <p:nvSpPr>
          <p:cNvPr id="60" name="Shape 58"/>
          <p:cNvSpPr/>
          <p:nvPr/>
        </p:nvSpPr>
        <p:spPr>
          <a:xfrm>
            <a:off x="6702552" y="1920240"/>
            <a:ext cx="182880" cy="73152"/>
          </a:xfrm>
          <a:prstGeom prst="rect">
            <a:avLst/>
          </a:prstGeom>
          <a:solidFill>
            <a:srgbClr val="F4A6A0"/>
          </a:solidFill>
          <a:ln w="6350">
            <a:solidFill>
              <a:srgbClr val="E60000"/>
            </a:solidFill>
            <a:prstDash val="solid"/>
          </a:ln>
        </p:spPr>
      </p:sp>
      <p:sp>
        <p:nvSpPr>
          <p:cNvPr id="61" name="Shape 59"/>
          <p:cNvSpPr/>
          <p:nvPr/>
        </p:nvSpPr>
        <p:spPr>
          <a:xfrm>
            <a:off x="6702552" y="2011680"/>
            <a:ext cx="182880" cy="73152"/>
          </a:xfrm>
          <a:prstGeom prst="rect">
            <a:avLst/>
          </a:prstGeom>
          <a:solidFill>
            <a:srgbClr val="F4A6A0"/>
          </a:solidFill>
          <a:ln w="6350">
            <a:solidFill>
              <a:srgbClr val="E60000"/>
            </a:solidFill>
            <a:prstDash val="solid"/>
          </a:ln>
        </p:spPr>
      </p:sp>
      <p:sp>
        <p:nvSpPr>
          <p:cNvPr id="62" name="Shape 60"/>
          <p:cNvSpPr/>
          <p:nvPr/>
        </p:nvSpPr>
        <p:spPr>
          <a:xfrm>
            <a:off x="6702552" y="2103120"/>
            <a:ext cx="182880" cy="73152"/>
          </a:xfrm>
          <a:prstGeom prst="rect">
            <a:avLst/>
          </a:prstGeom>
          <a:solidFill>
            <a:srgbClr val="F4A6A0"/>
          </a:solidFill>
          <a:ln w="6350">
            <a:solidFill>
              <a:srgbClr val="E60000"/>
            </a:solidFill>
            <a:prstDash val="solid"/>
          </a:ln>
        </p:spPr>
      </p:sp>
      <p:sp>
        <p:nvSpPr>
          <p:cNvPr id="63" name="Shape 61"/>
          <p:cNvSpPr/>
          <p:nvPr/>
        </p:nvSpPr>
        <p:spPr>
          <a:xfrm>
            <a:off x="6986016" y="1737360"/>
            <a:ext cx="182880" cy="73152"/>
          </a:xfrm>
          <a:prstGeom prst="rect">
            <a:avLst/>
          </a:prstGeom>
          <a:solidFill>
            <a:srgbClr val="F4A6A0"/>
          </a:solidFill>
          <a:ln w="6350">
            <a:solidFill>
              <a:srgbClr val="E60000"/>
            </a:solidFill>
            <a:prstDash val="solid"/>
          </a:ln>
        </p:spPr>
      </p:sp>
      <p:sp>
        <p:nvSpPr>
          <p:cNvPr id="64" name="Shape 62"/>
          <p:cNvSpPr/>
          <p:nvPr/>
        </p:nvSpPr>
        <p:spPr>
          <a:xfrm>
            <a:off x="6986016" y="1828800"/>
            <a:ext cx="182880" cy="73152"/>
          </a:xfrm>
          <a:prstGeom prst="rect">
            <a:avLst/>
          </a:prstGeom>
          <a:solidFill>
            <a:srgbClr val="F4A6A0"/>
          </a:solidFill>
          <a:ln w="6350">
            <a:solidFill>
              <a:srgbClr val="E60000"/>
            </a:solidFill>
            <a:prstDash val="solid"/>
          </a:ln>
        </p:spPr>
      </p:sp>
      <p:sp>
        <p:nvSpPr>
          <p:cNvPr id="65" name="Shape 63"/>
          <p:cNvSpPr/>
          <p:nvPr/>
        </p:nvSpPr>
        <p:spPr>
          <a:xfrm>
            <a:off x="6986016" y="1920240"/>
            <a:ext cx="182880" cy="73152"/>
          </a:xfrm>
          <a:prstGeom prst="rect">
            <a:avLst/>
          </a:prstGeom>
          <a:solidFill>
            <a:srgbClr val="F4A6A0"/>
          </a:solidFill>
          <a:ln w="6350">
            <a:solidFill>
              <a:srgbClr val="E60000"/>
            </a:solidFill>
            <a:prstDash val="solid"/>
          </a:ln>
        </p:spPr>
      </p:sp>
      <p:sp>
        <p:nvSpPr>
          <p:cNvPr id="66" name="Shape 64"/>
          <p:cNvSpPr/>
          <p:nvPr/>
        </p:nvSpPr>
        <p:spPr>
          <a:xfrm>
            <a:off x="6986016" y="2011680"/>
            <a:ext cx="182880" cy="73152"/>
          </a:xfrm>
          <a:prstGeom prst="rect">
            <a:avLst/>
          </a:prstGeom>
          <a:solidFill>
            <a:srgbClr val="F4A6A0"/>
          </a:solidFill>
          <a:ln w="6350">
            <a:solidFill>
              <a:srgbClr val="E60000"/>
            </a:solidFill>
            <a:prstDash val="solid"/>
          </a:ln>
        </p:spPr>
      </p:sp>
      <p:sp>
        <p:nvSpPr>
          <p:cNvPr id="67" name="Shape 65"/>
          <p:cNvSpPr/>
          <p:nvPr/>
        </p:nvSpPr>
        <p:spPr>
          <a:xfrm>
            <a:off x="6986016" y="2103120"/>
            <a:ext cx="182880" cy="73152"/>
          </a:xfrm>
          <a:prstGeom prst="rect">
            <a:avLst/>
          </a:prstGeom>
          <a:solidFill>
            <a:srgbClr val="F4A6A0"/>
          </a:solidFill>
          <a:ln w="6350">
            <a:solidFill>
              <a:srgbClr val="E60000"/>
            </a:solidFill>
            <a:prstDash val="solid"/>
          </a:ln>
        </p:spPr>
      </p:sp>
      <p:sp>
        <p:nvSpPr>
          <p:cNvPr id="68" name="Shape 66"/>
          <p:cNvSpPr/>
          <p:nvPr/>
        </p:nvSpPr>
        <p:spPr>
          <a:xfrm>
            <a:off x="7269480" y="1737360"/>
            <a:ext cx="182880" cy="73152"/>
          </a:xfrm>
          <a:prstGeom prst="rect">
            <a:avLst/>
          </a:prstGeom>
          <a:solidFill>
            <a:srgbClr val="F4A6A0"/>
          </a:solidFill>
          <a:ln w="6350">
            <a:solidFill>
              <a:srgbClr val="E60000"/>
            </a:solidFill>
            <a:prstDash val="solid"/>
          </a:ln>
        </p:spPr>
      </p:sp>
      <p:sp>
        <p:nvSpPr>
          <p:cNvPr id="69" name="Shape 67"/>
          <p:cNvSpPr/>
          <p:nvPr/>
        </p:nvSpPr>
        <p:spPr>
          <a:xfrm>
            <a:off x="7269480" y="1828800"/>
            <a:ext cx="182880" cy="73152"/>
          </a:xfrm>
          <a:prstGeom prst="rect">
            <a:avLst/>
          </a:prstGeom>
          <a:solidFill>
            <a:srgbClr val="F4A6A0"/>
          </a:solidFill>
          <a:ln w="6350">
            <a:solidFill>
              <a:srgbClr val="E60000"/>
            </a:solidFill>
            <a:prstDash val="solid"/>
          </a:ln>
        </p:spPr>
      </p:sp>
      <p:sp>
        <p:nvSpPr>
          <p:cNvPr id="70" name="Shape 68"/>
          <p:cNvSpPr/>
          <p:nvPr/>
        </p:nvSpPr>
        <p:spPr>
          <a:xfrm>
            <a:off x="7269480" y="1920240"/>
            <a:ext cx="182880" cy="73152"/>
          </a:xfrm>
          <a:prstGeom prst="rect">
            <a:avLst/>
          </a:prstGeom>
          <a:solidFill>
            <a:srgbClr val="F4A6A0"/>
          </a:solidFill>
          <a:ln w="6350">
            <a:solidFill>
              <a:srgbClr val="E60000"/>
            </a:solidFill>
            <a:prstDash val="solid"/>
          </a:ln>
        </p:spPr>
      </p:sp>
      <p:sp>
        <p:nvSpPr>
          <p:cNvPr id="71" name="Shape 69"/>
          <p:cNvSpPr/>
          <p:nvPr/>
        </p:nvSpPr>
        <p:spPr>
          <a:xfrm>
            <a:off x="7269480" y="2011680"/>
            <a:ext cx="182880" cy="73152"/>
          </a:xfrm>
          <a:prstGeom prst="rect">
            <a:avLst/>
          </a:prstGeom>
          <a:solidFill>
            <a:srgbClr val="F4A6A0"/>
          </a:solidFill>
          <a:ln w="6350">
            <a:solidFill>
              <a:srgbClr val="E60000"/>
            </a:solidFill>
            <a:prstDash val="solid"/>
          </a:ln>
        </p:spPr>
      </p:sp>
      <p:sp>
        <p:nvSpPr>
          <p:cNvPr id="72" name="Shape 70"/>
          <p:cNvSpPr/>
          <p:nvPr/>
        </p:nvSpPr>
        <p:spPr>
          <a:xfrm>
            <a:off x="7269480" y="2103120"/>
            <a:ext cx="182880" cy="73152"/>
          </a:xfrm>
          <a:prstGeom prst="rect">
            <a:avLst/>
          </a:prstGeom>
          <a:solidFill>
            <a:srgbClr val="F4A6A0"/>
          </a:solidFill>
          <a:ln w="6350">
            <a:solidFill>
              <a:srgbClr val="E60000"/>
            </a:solidFill>
            <a:prstDash val="solid"/>
          </a:ln>
        </p:spPr>
      </p:sp>
      <p:sp>
        <p:nvSpPr>
          <p:cNvPr id="73" name="Shape 71"/>
          <p:cNvSpPr/>
          <p:nvPr/>
        </p:nvSpPr>
        <p:spPr>
          <a:xfrm>
            <a:off x="7552944" y="1737360"/>
            <a:ext cx="182880" cy="73152"/>
          </a:xfrm>
          <a:prstGeom prst="rect">
            <a:avLst/>
          </a:prstGeom>
          <a:solidFill>
            <a:srgbClr val="F4A6A0"/>
          </a:solidFill>
          <a:ln w="6350">
            <a:solidFill>
              <a:srgbClr val="E60000"/>
            </a:solidFill>
            <a:prstDash val="solid"/>
          </a:ln>
        </p:spPr>
      </p:sp>
      <p:sp>
        <p:nvSpPr>
          <p:cNvPr id="74" name="Shape 72"/>
          <p:cNvSpPr/>
          <p:nvPr/>
        </p:nvSpPr>
        <p:spPr>
          <a:xfrm>
            <a:off x="7552944" y="1828800"/>
            <a:ext cx="182880" cy="73152"/>
          </a:xfrm>
          <a:prstGeom prst="rect">
            <a:avLst/>
          </a:prstGeom>
          <a:solidFill>
            <a:srgbClr val="F4A6A0"/>
          </a:solidFill>
          <a:ln w="6350">
            <a:solidFill>
              <a:srgbClr val="E60000"/>
            </a:solidFill>
            <a:prstDash val="solid"/>
          </a:ln>
        </p:spPr>
      </p:sp>
      <p:sp>
        <p:nvSpPr>
          <p:cNvPr id="75" name="Shape 73"/>
          <p:cNvSpPr/>
          <p:nvPr/>
        </p:nvSpPr>
        <p:spPr>
          <a:xfrm>
            <a:off x="7552944" y="1920240"/>
            <a:ext cx="182880" cy="73152"/>
          </a:xfrm>
          <a:prstGeom prst="rect">
            <a:avLst/>
          </a:prstGeom>
          <a:solidFill>
            <a:srgbClr val="F4A6A0"/>
          </a:solidFill>
          <a:ln w="6350">
            <a:solidFill>
              <a:srgbClr val="E60000"/>
            </a:solidFill>
            <a:prstDash val="solid"/>
          </a:ln>
        </p:spPr>
      </p:sp>
      <p:sp>
        <p:nvSpPr>
          <p:cNvPr id="76" name="Shape 74"/>
          <p:cNvSpPr/>
          <p:nvPr/>
        </p:nvSpPr>
        <p:spPr>
          <a:xfrm>
            <a:off x="7552944" y="2011680"/>
            <a:ext cx="182880" cy="73152"/>
          </a:xfrm>
          <a:prstGeom prst="rect">
            <a:avLst/>
          </a:prstGeom>
          <a:solidFill>
            <a:srgbClr val="F4A6A0"/>
          </a:solidFill>
          <a:ln w="6350">
            <a:solidFill>
              <a:srgbClr val="E60000"/>
            </a:solidFill>
            <a:prstDash val="solid"/>
          </a:ln>
        </p:spPr>
      </p:sp>
      <p:sp>
        <p:nvSpPr>
          <p:cNvPr id="77" name="Shape 75"/>
          <p:cNvSpPr/>
          <p:nvPr/>
        </p:nvSpPr>
        <p:spPr>
          <a:xfrm>
            <a:off x="7552944" y="2103120"/>
            <a:ext cx="182880" cy="73152"/>
          </a:xfrm>
          <a:prstGeom prst="rect">
            <a:avLst/>
          </a:prstGeom>
          <a:solidFill>
            <a:srgbClr val="F4A6A0"/>
          </a:solidFill>
          <a:ln w="6350">
            <a:solidFill>
              <a:srgbClr val="E60000"/>
            </a:solidFill>
            <a:prstDash val="solid"/>
          </a:ln>
        </p:spPr>
      </p:sp>
      <p:sp>
        <p:nvSpPr>
          <p:cNvPr id="78" name="Text 76"/>
          <p:cNvSpPr/>
          <p:nvPr/>
        </p:nvSpPr>
        <p:spPr>
          <a:xfrm>
            <a:off x="6629400" y="2212848"/>
            <a:ext cx="1207008" cy="292608"/>
          </a:xfrm>
          <a:prstGeom prst="rect">
            <a:avLst/>
          </a:prstGeom>
          <a:noFill/>
          <a:ln/>
        </p:spPr>
        <p:txBody>
          <a:bodyPr wrap="square" lIns="0" tIns="0" rIns="0" bIns="0" rtlCol="0" anchor="ctr"/>
          <a:lstStyle/>
          <a:p>
            <a:pPr marL="0" indent="0" algn="ctr">
              <a:buNone/>
            </a:pPr>
            <a:r>
              <a:rPr lang="en-US" sz="750" dirty="0">
                <a:solidFill>
                  <a:srgbClr val="B80000"/>
                </a:solidFill>
                <a:latin typeface="BIZ UDPGothic" pitchFamily="34" charset="0"/>
                <a:ea typeface="BIZ UDPGothic" pitchFamily="34" charset="-122"/>
                <a:cs typeface="BIZ UDPGothic" pitchFamily="34" charset="-120"/>
              </a:rPr>
              <a:t>h. 専用パレット 5段×4列</a:t>
            </a:r>
            <a:endParaRPr lang="en-US" sz="750" dirty="0"/>
          </a:p>
          <a:p>
            <a:pPr marL="0" indent="0" algn="ctr">
              <a:buNone/>
            </a:pPr>
            <a:r>
              <a:rPr lang="en-US" sz="750" dirty="0">
                <a:solidFill>
                  <a:srgbClr val="B80000"/>
                </a:solidFill>
                <a:latin typeface="BIZ UDPGothic" pitchFamily="34" charset="0"/>
                <a:ea typeface="BIZ UDPGothic" pitchFamily="34" charset="-122"/>
                <a:cs typeface="BIZ UDPGothic" pitchFamily="34" charset="-120"/>
              </a:rPr>
              <a:t>（24,000袋≒約2時間分）</a:t>
            </a:r>
            <a:endParaRPr lang="en-US" sz="750" dirty="0"/>
          </a:p>
        </p:txBody>
      </p:sp>
      <p:sp>
        <p:nvSpPr>
          <p:cNvPr id="79" name="Shape 77"/>
          <p:cNvSpPr/>
          <p:nvPr/>
        </p:nvSpPr>
        <p:spPr>
          <a:xfrm>
            <a:off x="6684264" y="2578608"/>
            <a:ext cx="274320" cy="274320"/>
          </a:xfrm>
          <a:prstGeom prst="ellipse">
            <a:avLst/>
          </a:prstGeom>
          <a:solidFill>
            <a:srgbClr val="E60000"/>
          </a:solidFill>
          <a:ln w="12700">
            <a:solidFill>
              <a:srgbClr val="E60000"/>
            </a:solidFill>
            <a:prstDash val="solid"/>
          </a:ln>
        </p:spPr>
      </p:sp>
      <p:sp>
        <p:nvSpPr>
          <p:cNvPr id="80" name="Text 78"/>
          <p:cNvSpPr/>
          <p:nvPr/>
        </p:nvSpPr>
        <p:spPr>
          <a:xfrm>
            <a:off x="6995160" y="2542032"/>
            <a:ext cx="841248" cy="365760"/>
          </a:xfrm>
          <a:prstGeom prst="rect">
            <a:avLst/>
          </a:prstGeom>
          <a:noFill/>
          <a:ln/>
        </p:spPr>
        <p:txBody>
          <a:bodyPr wrap="square" lIns="0" tIns="0" rIns="0" bIns="0" rtlCol="0" anchor="ctr"/>
          <a:lstStyle/>
          <a:p>
            <a:pPr marL="0" indent="0">
              <a:buNone/>
            </a:pPr>
            <a:r>
              <a:rPr lang="en-US" sz="750" b="1" dirty="0">
                <a:solidFill>
                  <a:srgbClr val="B80000"/>
                </a:solidFill>
                <a:latin typeface="BIZ UDPGothic" pitchFamily="34" charset="0"/>
                <a:ea typeface="BIZ UDPGothic" pitchFamily="34" charset="-122"/>
                <a:cs typeface="BIZ UDPGothic" pitchFamily="34" charset="-120"/>
              </a:rPr>
              <a:t>ロボットアームが</a:t>
            </a:r>
            <a:endParaRPr lang="en-US" sz="750" dirty="0"/>
          </a:p>
          <a:p>
            <a:pPr marL="0" indent="0">
              <a:buNone/>
            </a:pPr>
            <a:r>
              <a:rPr lang="en-US" sz="750" b="1" dirty="0">
                <a:solidFill>
                  <a:srgbClr val="B80000"/>
                </a:solidFill>
                <a:latin typeface="BIZ UDPGothic" pitchFamily="34" charset="0"/>
                <a:ea typeface="BIZ UDPGothic" pitchFamily="34" charset="-122"/>
                <a:cs typeface="BIZ UDPGothic" pitchFamily="34" charset="-120"/>
              </a:rPr>
              <a:t>マガジンへ自動供給</a:t>
            </a:r>
            <a:endParaRPr lang="en-US" sz="750" dirty="0"/>
          </a:p>
        </p:txBody>
      </p:sp>
      <p:sp>
        <p:nvSpPr>
          <p:cNvPr id="81" name="Shape 79"/>
          <p:cNvSpPr/>
          <p:nvPr/>
        </p:nvSpPr>
        <p:spPr>
          <a:xfrm flipH="1" flipV="1">
            <a:off x="6556248" y="2331720"/>
            <a:ext cx="128016" cy="356616"/>
          </a:xfrm>
          <a:prstGeom prst="line">
            <a:avLst/>
          </a:prstGeom>
          <a:noFill/>
          <a:ln w="15875">
            <a:solidFill>
              <a:srgbClr val="E60000"/>
            </a:solidFill>
            <a:prstDash val="solid"/>
            <a:tailEnd type="triangle"/>
          </a:ln>
        </p:spPr>
      </p:sp>
      <p:sp>
        <p:nvSpPr>
          <p:cNvPr id="82" name="Shape 80"/>
          <p:cNvSpPr/>
          <p:nvPr/>
        </p:nvSpPr>
        <p:spPr>
          <a:xfrm>
            <a:off x="8074152" y="2011680"/>
            <a:ext cx="713232" cy="960120"/>
          </a:xfrm>
          <a:prstGeom prst="rect">
            <a:avLst/>
          </a:prstGeom>
          <a:solidFill>
            <a:srgbClr val="FDE8DC"/>
          </a:solidFill>
          <a:ln w="15875">
            <a:solidFill>
              <a:srgbClr val="F26B1D"/>
            </a:solidFill>
            <a:prstDash val="solid"/>
          </a:ln>
        </p:spPr>
      </p:sp>
      <p:sp>
        <p:nvSpPr>
          <p:cNvPr id="83" name="Text 81"/>
          <p:cNvSpPr/>
          <p:nvPr/>
        </p:nvSpPr>
        <p:spPr>
          <a:xfrm>
            <a:off x="8074152" y="2029968"/>
            <a:ext cx="713232" cy="164592"/>
          </a:xfrm>
          <a:prstGeom prst="rect">
            <a:avLst/>
          </a:prstGeom>
          <a:noFill/>
          <a:ln/>
        </p:spPr>
        <p:txBody>
          <a:bodyPr wrap="square" lIns="0" tIns="0" rIns="0" bIns="0" rtlCol="0" anchor="ctr"/>
          <a:lstStyle/>
          <a:p>
            <a:pPr marL="0" indent="0" algn="ctr">
              <a:buNone/>
            </a:pPr>
            <a:r>
              <a:rPr lang="en-US" sz="750" b="1" u="sng" dirty="0">
                <a:solidFill>
                  <a:srgbClr val="B84A0A"/>
                </a:solidFill>
                <a:latin typeface="BIZ UDPGothic" pitchFamily="34" charset="0"/>
                <a:ea typeface="BIZ UDPGothic" pitchFamily="34" charset="-122"/>
                <a:cs typeface="BIZ UDPGothic" pitchFamily="34" charset="-120"/>
              </a:rPr>
              <a:t>i. 仮置き台車</a:t>
            </a:r>
            <a:endParaRPr lang="en-US" sz="750" u="sng" dirty="0"/>
          </a:p>
        </p:txBody>
      </p:sp>
      <p:sp>
        <p:nvSpPr>
          <p:cNvPr id="84" name="Shape 82"/>
          <p:cNvSpPr/>
          <p:nvPr/>
        </p:nvSpPr>
        <p:spPr>
          <a:xfrm>
            <a:off x="8362188" y="2212848"/>
            <a:ext cx="137160" cy="137160"/>
          </a:xfrm>
          <a:prstGeom prst="ellipse">
            <a:avLst/>
          </a:prstGeom>
          <a:solidFill>
            <a:srgbClr val="F26B1D"/>
          </a:solidFill>
          <a:ln w="6350">
            <a:solidFill>
              <a:srgbClr val="F26B1D"/>
            </a:solidFill>
            <a:prstDash val="solid"/>
          </a:ln>
        </p:spPr>
      </p:sp>
      <p:sp>
        <p:nvSpPr>
          <p:cNvPr id="85" name="Shape 83"/>
          <p:cNvSpPr/>
          <p:nvPr/>
        </p:nvSpPr>
        <p:spPr>
          <a:xfrm>
            <a:off x="8302752" y="2363724"/>
            <a:ext cx="256032" cy="274320"/>
          </a:xfrm>
          <a:prstGeom prst="roundRect">
            <a:avLst>
              <a:gd name="adj" fmla="val 25000"/>
            </a:avLst>
          </a:prstGeom>
          <a:solidFill>
            <a:srgbClr val="F26B1D"/>
          </a:solidFill>
          <a:ln w="6350">
            <a:solidFill>
              <a:srgbClr val="F26B1D"/>
            </a:solidFill>
            <a:prstDash val="solid"/>
          </a:ln>
        </p:spPr>
      </p:sp>
      <p:sp>
        <p:nvSpPr>
          <p:cNvPr id="86" name="Text 84"/>
          <p:cNvSpPr/>
          <p:nvPr/>
        </p:nvSpPr>
        <p:spPr>
          <a:xfrm>
            <a:off x="8074152" y="2651760"/>
            <a:ext cx="713232" cy="310896"/>
          </a:xfrm>
          <a:prstGeom prst="rect">
            <a:avLst/>
          </a:prstGeom>
          <a:noFill/>
          <a:ln/>
        </p:spPr>
        <p:txBody>
          <a:bodyPr wrap="square" lIns="0" tIns="0" rIns="0" bIns="0" rtlCol="0" anchor="t"/>
          <a:lstStyle/>
          <a:p>
            <a:pPr marL="0" indent="0" algn="ctr">
              <a:buNone/>
            </a:pPr>
            <a:r>
              <a:rPr lang="en-US" sz="650" b="1" dirty="0">
                <a:solidFill>
                  <a:srgbClr val="B84A0A"/>
                </a:solidFill>
                <a:latin typeface="BIZ UDPGothic" pitchFamily="34" charset="0"/>
                <a:ea typeface="BIZ UDPGothic" pitchFamily="34" charset="-122"/>
                <a:cs typeface="BIZ UDPGothic" pitchFamily="34" charset="-120"/>
              </a:rPr>
              <a:t>④ パレット詰め</a:t>
            </a:r>
            <a:endParaRPr lang="en-US" sz="650" dirty="0"/>
          </a:p>
          <a:p>
            <a:pPr marL="0" indent="0" algn="ctr">
              <a:buNone/>
            </a:pPr>
            <a:r>
              <a:rPr lang="en-US" sz="650" dirty="0">
                <a:solidFill>
                  <a:srgbClr val="1F2A30"/>
                </a:solidFill>
                <a:latin typeface="BIZ UDPGothic" pitchFamily="34" charset="0"/>
                <a:ea typeface="BIZ UDPGothic" pitchFamily="34" charset="-122"/>
                <a:cs typeface="BIZ UDPGothic" pitchFamily="34" charset="-120"/>
              </a:rPr>
              <a:t>約2分／枚</a:t>
            </a:r>
            <a:endParaRPr lang="en-US" sz="650" dirty="0"/>
          </a:p>
          <a:p>
            <a:pPr marL="0" indent="0" algn="ctr">
              <a:buNone/>
            </a:pPr>
            <a:r>
              <a:rPr lang="en-US" sz="650" dirty="0">
                <a:solidFill>
                  <a:srgbClr val="1F2A30"/>
                </a:solidFill>
                <a:latin typeface="BIZ UDPGothic" pitchFamily="34" charset="0"/>
                <a:ea typeface="BIZ UDPGothic" pitchFamily="34" charset="-122"/>
                <a:cs typeface="BIZ UDPGothic" pitchFamily="34" charset="-120"/>
              </a:rPr>
              <a:t>早番・中番</a:t>
            </a:r>
            <a:endParaRPr lang="en-US" sz="650" dirty="0"/>
          </a:p>
        </p:txBody>
      </p:sp>
      <p:sp>
        <p:nvSpPr>
          <p:cNvPr id="87" name="Shape 85"/>
          <p:cNvSpPr/>
          <p:nvPr/>
        </p:nvSpPr>
        <p:spPr>
          <a:xfrm flipH="1">
            <a:off x="7872984" y="2468880"/>
            <a:ext cx="201168" cy="0"/>
          </a:xfrm>
          <a:prstGeom prst="line">
            <a:avLst/>
          </a:prstGeom>
          <a:noFill/>
          <a:ln w="15875">
            <a:solidFill>
              <a:srgbClr val="F26B1D"/>
            </a:solidFill>
            <a:prstDash val="solid"/>
            <a:tailEnd type="triangle"/>
          </a:ln>
        </p:spPr>
      </p:sp>
      <p:sp>
        <p:nvSpPr>
          <p:cNvPr id="88" name="Text 86"/>
          <p:cNvSpPr/>
          <p:nvPr/>
        </p:nvSpPr>
        <p:spPr>
          <a:xfrm>
            <a:off x="7872984" y="2286000"/>
            <a:ext cx="201168" cy="164592"/>
          </a:xfrm>
          <a:prstGeom prst="rect">
            <a:avLst/>
          </a:prstGeom>
          <a:noFill/>
          <a:ln/>
        </p:spPr>
        <p:txBody>
          <a:bodyPr wrap="square" lIns="0" tIns="0" rIns="0" bIns="0" rtlCol="0" anchor="ctr"/>
          <a:lstStyle/>
          <a:p>
            <a:pPr marL="0" indent="0" algn="ctr">
              <a:buNone/>
            </a:pPr>
            <a:r>
              <a:rPr lang="en-US" sz="650" b="1" dirty="0">
                <a:solidFill>
                  <a:srgbClr val="B84A0A"/>
                </a:solidFill>
                <a:latin typeface="BIZ UDPGothic" pitchFamily="34" charset="0"/>
                <a:ea typeface="BIZ UDPGothic" pitchFamily="34" charset="-122"/>
                <a:cs typeface="BIZ UDPGothic" pitchFamily="34" charset="-120"/>
              </a:rPr>
              <a:t>装填</a:t>
            </a:r>
            <a:endParaRPr lang="en-US" sz="650" dirty="0"/>
          </a:p>
        </p:txBody>
      </p:sp>
      <p:sp>
        <p:nvSpPr>
          <p:cNvPr id="89" name="Shape 87"/>
          <p:cNvSpPr/>
          <p:nvPr/>
        </p:nvSpPr>
        <p:spPr>
          <a:xfrm>
            <a:off x="5591556" y="3246120"/>
            <a:ext cx="137160" cy="137160"/>
          </a:xfrm>
          <a:prstGeom prst="ellipse">
            <a:avLst/>
          </a:prstGeom>
          <a:solidFill>
            <a:srgbClr val="2F5D8A"/>
          </a:solidFill>
          <a:ln w="6350">
            <a:solidFill>
              <a:srgbClr val="2F5D8A"/>
            </a:solidFill>
            <a:prstDash val="solid"/>
          </a:ln>
        </p:spPr>
      </p:sp>
      <p:sp>
        <p:nvSpPr>
          <p:cNvPr id="90" name="Shape 88"/>
          <p:cNvSpPr/>
          <p:nvPr/>
        </p:nvSpPr>
        <p:spPr>
          <a:xfrm>
            <a:off x="5532120" y="3396996"/>
            <a:ext cx="256032" cy="274320"/>
          </a:xfrm>
          <a:prstGeom prst="roundRect">
            <a:avLst>
              <a:gd name="adj" fmla="val 25000"/>
            </a:avLst>
          </a:prstGeom>
          <a:solidFill>
            <a:srgbClr val="2F5D8A"/>
          </a:solidFill>
          <a:ln w="6350">
            <a:solidFill>
              <a:srgbClr val="2F5D8A"/>
            </a:solidFill>
            <a:prstDash val="solid"/>
          </a:ln>
        </p:spPr>
      </p:sp>
      <p:sp>
        <p:nvSpPr>
          <p:cNvPr id="91" name="Text 89"/>
          <p:cNvSpPr/>
          <p:nvPr/>
        </p:nvSpPr>
        <p:spPr>
          <a:xfrm>
            <a:off x="4846320" y="3703320"/>
            <a:ext cx="1508760" cy="347472"/>
          </a:xfrm>
          <a:prstGeom prst="rect">
            <a:avLst/>
          </a:prstGeom>
          <a:noFill/>
          <a:ln/>
        </p:spPr>
        <p:txBody>
          <a:bodyPr wrap="square" lIns="0" tIns="0" rIns="0" bIns="0" rtlCol="0" anchor="t"/>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オペレーター1名 ⑧</a:t>
            </a:r>
            <a:endParaRPr lang="en-US" sz="850" dirty="0"/>
          </a:p>
          <a:p>
            <a:pPr marL="0" indent="0">
              <a:buNone/>
            </a:pPr>
            <a:r>
              <a:rPr lang="en-US" sz="850" b="1" dirty="0">
                <a:solidFill>
                  <a:srgbClr val="1F2A30"/>
                </a:solidFill>
                <a:latin typeface="BIZ UDPGothic" pitchFamily="34" charset="0"/>
                <a:ea typeface="BIZ UDPGothic" pitchFamily="34" charset="-122"/>
                <a:cs typeface="BIZ UDPGothic" pitchFamily="34" charset="-120"/>
              </a:rPr>
              <a:t>（遅番はパレット入替⑤を兼務）</a:t>
            </a:r>
            <a:endParaRPr lang="en-US" sz="850" dirty="0"/>
          </a:p>
        </p:txBody>
      </p:sp>
      <p:sp>
        <p:nvSpPr>
          <p:cNvPr id="92" name="Shape 90"/>
          <p:cNvSpPr/>
          <p:nvPr/>
        </p:nvSpPr>
        <p:spPr>
          <a:xfrm>
            <a:off x="320040" y="4178808"/>
            <a:ext cx="219456" cy="137160"/>
          </a:xfrm>
          <a:prstGeom prst="rect">
            <a:avLst/>
          </a:prstGeom>
          <a:solidFill>
            <a:srgbClr val="FDE2E0"/>
          </a:solidFill>
          <a:ln w="15875">
            <a:solidFill>
              <a:srgbClr val="E60000"/>
            </a:solidFill>
            <a:prstDash val="solid"/>
          </a:ln>
        </p:spPr>
      </p:sp>
      <p:sp>
        <p:nvSpPr>
          <p:cNvPr id="93" name="Text 91"/>
          <p:cNvSpPr/>
          <p:nvPr/>
        </p:nvSpPr>
        <p:spPr>
          <a:xfrm>
            <a:off x="576072" y="4133088"/>
            <a:ext cx="777240" cy="228600"/>
          </a:xfrm>
          <a:prstGeom prst="rect">
            <a:avLst/>
          </a:prstGeom>
          <a:noFill/>
          <a:ln/>
        </p:spPr>
        <p:txBody>
          <a:bodyPr wrap="square" lIns="0" tIns="0" rIns="0" bIns="0" rtlCol="0" anchor="ct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新設（g・h）</a:t>
            </a:r>
            <a:endParaRPr lang="en-US" sz="850" dirty="0"/>
          </a:p>
        </p:txBody>
      </p:sp>
      <p:sp>
        <p:nvSpPr>
          <p:cNvPr id="94" name="Shape 92"/>
          <p:cNvSpPr/>
          <p:nvPr/>
        </p:nvSpPr>
        <p:spPr>
          <a:xfrm>
            <a:off x="1371600" y="4178808"/>
            <a:ext cx="219456" cy="137160"/>
          </a:xfrm>
          <a:prstGeom prst="rect">
            <a:avLst/>
          </a:prstGeom>
          <a:solidFill>
            <a:srgbClr val="FDE8DC"/>
          </a:solidFill>
          <a:ln w="15875">
            <a:solidFill>
              <a:srgbClr val="F26B1D"/>
            </a:solidFill>
            <a:prstDash val="solid"/>
          </a:ln>
        </p:spPr>
      </p:sp>
      <p:sp>
        <p:nvSpPr>
          <p:cNvPr id="95" name="Text 93"/>
          <p:cNvSpPr/>
          <p:nvPr/>
        </p:nvSpPr>
        <p:spPr>
          <a:xfrm>
            <a:off x="1627632" y="4133088"/>
            <a:ext cx="640080" cy="228600"/>
          </a:xfrm>
          <a:prstGeom prst="rect">
            <a:avLst/>
          </a:prstGeom>
          <a:noFill/>
          <a:ln/>
        </p:spPr>
        <p:txBody>
          <a:bodyPr wrap="square" lIns="0" tIns="0" rIns="0" bIns="0" rtlCol="0" anchor="ct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新設（i）</a:t>
            </a:r>
            <a:endParaRPr lang="en-US" sz="850" dirty="0"/>
          </a:p>
        </p:txBody>
      </p:sp>
      <p:sp>
        <p:nvSpPr>
          <p:cNvPr id="96" name="Shape 94"/>
          <p:cNvSpPr/>
          <p:nvPr/>
        </p:nvSpPr>
        <p:spPr>
          <a:xfrm>
            <a:off x="2286000" y="4178808"/>
            <a:ext cx="219456" cy="137160"/>
          </a:xfrm>
          <a:prstGeom prst="rect">
            <a:avLst/>
          </a:prstGeom>
          <a:solidFill>
            <a:srgbClr val="FFF2CC"/>
          </a:solidFill>
          <a:ln w="15875">
            <a:solidFill>
              <a:srgbClr val="E6A100"/>
            </a:solidFill>
            <a:prstDash val="solid"/>
          </a:ln>
        </p:spPr>
      </p:sp>
      <p:sp>
        <p:nvSpPr>
          <p:cNvPr id="97" name="Text 95"/>
          <p:cNvSpPr/>
          <p:nvPr/>
        </p:nvSpPr>
        <p:spPr>
          <a:xfrm>
            <a:off x="2542032" y="4133088"/>
            <a:ext cx="2514600" cy="228600"/>
          </a:xfrm>
          <a:prstGeom prst="rect">
            <a:avLst/>
          </a:prstGeom>
          <a:noFill/>
          <a:ln/>
        </p:spPr>
        <p:txBody>
          <a:bodyPr wrap="square" lIns="0" tIns="0" rIns="0" bIns="0" rtlCol="0" anchor="ct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既存の設備（a〜f、色は現場の図と同じ）</a:t>
            </a:r>
            <a:endParaRPr lang="en-US" sz="850" dirty="0"/>
          </a:p>
        </p:txBody>
      </p:sp>
      <p:sp>
        <p:nvSpPr>
          <p:cNvPr id="98" name="Shape 96"/>
          <p:cNvSpPr/>
          <p:nvPr/>
        </p:nvSpPr>
        <p:spPr>
          <a:xfrm>
            <a:off x="5175504" y="4151376"/>
            <a:ext cx="82296" cy="82296"/>
          </a:xfrm>
          <a:prstGeom prst="ellipse">
            <a:avLst/>
          </a:prstGeom>
          <a:solidFill>
            <a:srgbClr val="2F5D8A"/>
          </a:solidFill>
          <a:ln w="6350">
            <a:solidFill>
              <a:srgbClr val="2F5D8A"/>
            </a:solidFill>
            <a:prstDash val="solid"/>
          </a:ln>
        </p:spPr>
      </p:sp>
      <p:sp>
        <p:nvSpPr>
          <p:cNvPr id="99" name="Shape 97"/>
          <p:cNvSpPr/>
          <p:nvPr/>
        </p:nvSpPr>
        <p:spPr>
          <a:xfrm>
            <a:off x="5143500" y="4242816"/>
            <a:ext cx="155448" cy="109728"/>
          </a:xfrm>
          <a:prstGeom prst="roundRect">
            <a:avLst>
              <a:gd name="adj" fmla="val 33333"/>
            </a:avLst>
          </a:prstGeom>
          <a:solidFill>
            <a:srgbClr val="2F5D8A"/>
          </a:solidFill>
          <a:ln w="6350">
            <a:solidFill>
              <a:srgbClr val="2F5D8A"/>
            </a:solidFill>
            <a:prstDash val="solid"/>
          </a:ln>
        </p:spPr>
      </p:sp>
      <p:sp>
        <p:nvSpPr>
          <p:cNvPr id="100" name="Text 98"/>
          <p:cNvSpPr/>
          <p:nvPr/>
        </p:nvSpPr>
        <p:spPr>
          <a:xfrm>
            <a:off x="5358384" y="4133088"/>
            <a:ext cx="1417320" cy="228600"/>
          </a:xfrm>
          <a:prstGeom prst="rect">
            <a:avLst/>
          </a:prstGeom>
          <a:noFill/>
          <a:ln/>
        </p:spPr>
        <p:txBody>
          <a:bodyPr wrap="square" lIns="0" tIns="0" rIns="0" bIns="0" rtlCol="0" anchor="ctr"/>
          <a:lstStyle/>
          <a:p>
            <a:pPr marL="0" indent="0">
              <a:buNone/>
            </a:pPr>
            <a:r>
              <a:rPr lang="en-US" sz="850" dirty="0">
                <a:solidFill>
                  <a:srgbClr val="1F2A30"/>
                </a:solidFill>
                <a:latin typeface="BIZ UDPGothic" pitchFamily="34" charset="0"/>
                <a:ea typeface="BIZ UDPGothic" pitchFamily="34" charset="-122"/>
                <a:cs typeface="BIZ UDPGothic" pitchFamily="34" charset="-120"/>
              </a:rPr>
              <a:t>オペレーター・投入担当</a:t>
            </a:r>
            <a:endParaRPr lang="en-US" sz="850" dirty="0"/>
          </a:p>
        </p:txBody>
      </p:sp>
      <p:sp>
        <p:nvSpPr>
          <p:cNvPr id="101" name="Shape 99"/>
          <p:cNvSpPr/>
          <p:nvPr/>
        </p:nvSpPr>
        <p:spPr>
          <a:xfrm>
            <a:off x="6912864" y="4151376"/>
            <a:ext cx="82296" cy="82296"/>
          </a:xfrm>
          <a:prstGeom prst="ellipse">
            <a:avLst/>
          </a:prstGeom>
          <a:solidFill>
            <a:srgbClr val="F26B1D"/>
          </a:solidFill>
          <a:ln w="6350">
            <a:solidFill>
              <a:srgbClr val="F26B1D"/>
            </a:solidFill>
            <a:prstDash val="solid"/>
          </a:ln>
        </p:spPr>
      </p:sp>
      <p:sp>
        <p:nvSpPr>
          <p:cNvPr id="102" name="Shape 100"/>
          <p:cNvSpPr/>
          <p:nvPr/>
        </p:nvSpPr>
        <p:spPr>
          <a:xfrm>
            <a:off x="6880860" y="4242816"/>
            <a:ext cx="155448" cy="109728"/>
          </a:xfrm>
          <a:prstGeom prst="roundRect">
            <a:avLst>
              <a:gd name="adj" fmla="val 33333"/>
            </a:avLst>
          </a:prstGeom>
          <a:solidFill>
            <a:srgbClr val="F26B1D"/>
          </a:solidFill>
          <a:ln w="6350">
            <a:solidFill>
              <a:srgbClr val="F26B1D"/>
            </a:solidFill>
            <a:prstDash val="solid"/>
          </a:ln>
        </p:spPr>
      </p:sp>
      <p:sp>
        <p:nvSpPr>
          <p:cNvPr id="103" name="Text 101"/>
          <p:cNvSpPr/>
          <p:nvPr/>
        </p:nvSpPr>
        <p:spPr>
          <a:xfrm>
            <a:off x="7095744" y="4133088"/>
            <a:ext cx="1188720" cy="228600"/>
          </a:xfrm>
          <a:prstGeom prst="rect">
            <a:avLst/>
          </a:prstGeom>
          <a:noFill/>
          <a:ln/>
        </p:spPr>
        <p:txBody>
          <a:bodyPr wrap="square" lIns="0" tIns="0" rIns="0" bIns="0" rtlCol="0" anchor="ctr"/>
          <a:lstStyle/>
          <a:p>
            <a:pPr marL="0" indent="0">
              <a:buNone/>
            </a:pPr>
            <a:r>
              <a:rPr lang="en-US" sz="850" dirty="0">
                <a:solidFill>
                  <a:srgbClr val="1F2A30"/>
                </a:solidFill>
                <a:latin typeface="BIZ UDPGothic" pitchFamily="34" charset="0"/>
                <a:ea typeface="BIZ UDPGothic" pitchFamily="34" charset="-122"/>
                <a:cs typeface="BIZ UDPGothic" pitchFamily="34" charset="-120"/>
              </a:rPr>
              <a:t>詰め担当（導入後）</a:t>
            </a:r>
            <a:endParaRPr lang="en-US" sz="850" dirty="0"/>
          </a:p>
        </p:txBody>
      </p:sp>
      <p:sp>
        <p:nvSpPr>
          <p:cNvPr id="104" name="Text 102"/>
          <p:cNvSpPr/>
          <p:nvPr/>
        </p:nvSpPr>
        <p:spPr>
          <a:xfrm>
            <a:off x="320040" y="4425696"/>
            <a:ext cx="8503920" cy="365760"/>
          </a:xfrm>
          <a:prstGeom prst="rect">
            <a:avLst/>
          </a:prstGeom>
          <a:noFill/>
          <a:ln/>
        </p:spPr>
        <p:txBody>
          <a:bodyPr wrap="square" lIns="0" tIns="0" rIns="0" bIns="0" rtlCol="0" anchor="ct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変わる点：</a:t>
            </a:r>
            <a:r>
              <a:rPr lang="en-US" sz="950" dirty="0">
                <a:solidFill>
                  <a:srgbClr val="1F2A30"/>
                </a:solidFill>
                <a:latin typeface="BIZ UDPGothic" pitchFamily="34" charset="0"/>
                <a:ea typeface="BIZ UDPGothic" pitchFamily="34" charset="-122"/>
                <a:cs typeface="BIZ UDPGothic" pitchFamily="34" charset="-120"/>
              </a:rPr>
              <a:t>踏み台での手投入（約5分おき）がなくなり、マガジン脇に自動供給装置を設置。人は専用パレットへ詰めるだけになり、投入担当を常時置く必要がなくなる。資材の搬入は1箱ずつから台車でまとめてに変わる。製袋機より後ろの工程は変更なし。</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5C"/>
          </a:solidFill>
          <a:ln w="12700">
            <a:solidFill>
              <a:srgbClr val="0F4C5C"/>
            </a:solidFill>
            <a:prstDash val="solid"/>
          </a:ln>
        </p:spPr>
      </p:sp>
      <p:sp>
        <p:nvSpPr>
          <p:cNvPr id="3" name="Shape 1"/>
          <p:cNvSpPr/>
          <p:nvPr/>
        </p:nvSpPr>
        <p:spPr>
          <a:xfrm>
            <a:off x="320040" y="182880"/>
            <a:ext cx="109728" cy="320040"/>
          </a:xfrm>
          <a:prstGeom prst="rect">
            <a:avLst/>
          </a:prstGeom>
          <a:solidFill>
            <a:srgbClr val="F26B1D"/>
          </a:solidFill>
          <a:ln w="12700">
            <a:solidFill>
              <a:srgbClr val="F26B1D"/>
            </a:solidFill>
            <a:prstDash val="solid"/>
          </a:ln>
        </p:spPr>
      </p:sp>
      <p:sp>
        <p:nvSpPr>
          <p:cNvPr id="4" name="Text 2"/>
          <p:cNvSpPr/>
          <p:nvPr/>
        </p:nvSpPr>
        <p:spPr>
          <a:xfrm>
            <a:off x="530352" y="73152"/>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BIZ UDPGothic" pitchFamily="34" charset="0"/>
                <a:ea typeface="BIZ UDPGothic" pitchFamily="34" charset="-122"/>
                <a:cs typeface="BIZ UDPGothic" pitchFamily="34" charset="-120"/>
              </a:rPr>
              <a:t>3. 各機械の役割</a:t>
            </a:r>
            <a:endParaRPr lang="en-US" sz="2200" dirty="0"/>
          </a:p>
        </p:txBody>
      </p:sp>
      <p:sp>
        <p:nvSpPr>
          <p:cNvPr id="5" name="Text 3"/>
          <p:cNvSpPr/>
          <p:nvPr/>
        </p:nvSpPr>
        <p:spPr>
          <a:xfrm>
            <a:off x="320040" y="731520"/>
            <a:ext cx="8503920" cy="310896"/>
          </a:xfrm>
          <a:prstGeom prst="rect">
            <a:avLst/>
          </a:prstGeom>
          <a:noFill/>
          <a:ln/>
        </p:spPr>
        <p:txBody>
          <a:bodyPr wrap="square" lIns="0" tIns="0" rIns="0" bIns="0" rtlCol="0" anchor="ctr"/>
          <a:lstStyle/>
          <a:p>
            <a:pPr marL="0" indent="0">
              <a:buNone/>
            </a:pPr>
            <a:r>
              <a:rPr lang="en-US" sz="1100" dirty="0">
                <a:solidFill>
                  <a:srgbClr val="5B6770"/>
                </a:solidFill>
                <a:latin typeface="BIZ UDPGothic" pitchFamily="34" charset="0"/>
                <a:ea typeface="BIZ UDPGothic" pitchFamily="34" charset="-122"/>
                <a:cs typeface="BIZ UDPGothic" pitchFamily="34" charset="-120"/>
              </a:rPr>
              <a:t>記号a〜kは前ページのレイアウト図と対応。j・kは製袋室の外（図にはありません）。</a:t>
            </a:r>
            <a:endParaRPr lang="en-US" sz="1100" dirty="0"/>
          </a:p>
        </p:txBody>
      </p:sp>
      <p:sp>
        <p:nvSpPr>
          <p:cNvPr id="6" name="Text 4"/>
          <p:cNvSpPr/>
          <p:nvPr/>
        </p:nvSpPr>
        <p:spPr>
          <a:xfrm>
            <a:off x="320040" y="4828032"/>
            <a:ext cx="6400800" cy="228600"/>
          </a:xfrm>
          <a:prstGeom prst="rect">
            <a:avLst/>
          </a:prstGeom>
          <a:noFill/>
          <a:ln/>
        </p:spPr>
        <p:txBody>
          <a:bodyPr wrap="square" lIns="0" tIns="0" rIns="0" bIns="0" rtlCol="0" anchor="ctr"/>
          <a:lstStyle/>
          <a:p>
            <a:pPr marL="0" indent="0">
              <a:buNone/>
            </a:pPr>
            <a:r>
              <a:rPr lang="en-US" sz="900" dirty="0">
                <a:solidFill>
                  <a:srgbClr val="8A9BA8"/>
                </a:solidFill>
                <a:latin typeface="BIZ UDPGothic" pitchFamily="34" charset="0"/>
                <a:ea typeface="BIZ UDPGothic" pitchFamily="34" charset="-122"/>
                <a:cs typeface="BIZ UDPGothic" pitchFamily="34" charset="-120"/>
              </a:rPr>
              <a:t>株式会社トンボ飲料様　Gライン パウチ自動供給装置の導入</a:t>
            </a:r>
            <a:endParaRPr lang="en-US" sz="900" dirty="0"/>
          </a:p>
        </p:txBody>
      </p:sp>
      <p:sp>
        <p:nvSpPr>
          <p:cNvPr id="7" name="Text 5"/>
          <p:cNvSpPr/>
          <p:nvPr/>
        </p:nvSpPr>
        <p:spPr>
          <a:xfrm>
            <a:off x="8321040" y="4828032"/>
            <a:ext cx="502920" cy="228600"/>
          </a:xfrm>
          <a:prstGeom prst="rect">
            <a:avLst/>
          </a:prstGeom>
          <a:noFill/>
          <a:ln/>
        </p:spPr>
        <p:txBody>
          <a:bodyPr wrap="square" lIns="0" tIns="0" rIns="0" bIns="0" rtlCol="0" anchor="ctr"/>
          <a:lstStyle/>
          <a:p>
            <a:pPr marL="0" indent="0" algn="r">
              <a:buNone/>
            </a:pPr>
            <a:r>
              <a:rPr lang="en-US" sz="900" dirty="0">
                <a:solidFill>
                  <a:srgbClr val="8A9BA8"/>
                </a:solidFill>
                <a:latin typeface="BIZ UDPGothic" pitchFamily="34" charset="0"/>
                <a:ea typeface="BIZ UDPGothic" pitchFamily="34" charset="-122"/>
                <a:cs typeface="BIZ UDPGothic" pitchFamily="34" charset="-120"/>
              </a:rPr>
              <a:t>4</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8503920" cy="3194304"/>
        </p:xfrm>
        <a:graphic>
          <a:graphicData uri="http://schemas.openxmlformats.org/drawingml/2006/table">
            <a:tbl>
              <a:tblPr/>
              <a:tblGrid>
                <a:gridCol w="411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0">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記号</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設備</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区分</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役割</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導入後の変化</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extLst>
                  <a:ext uri="{0D108BD9-81ED-4DB2-BD59-A6C34878D82A}">
                    <a16:rowId xmlns:a16="http://schemas.microsoft.com/office/drawing/2014/main" val="10000"/>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a</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8F5D00"/>
                          </a:solidFill>
                          <a:latin typeface="BIZ UDPGothic" pitchFamily="34" charset="0"/>
                          <a:ea typeface="BIZ UDPGothic" pitchFamily="34" charset="-122"/>
                          <a:cs typeface="BIZ UDPGothic" pitchFamily="34" charset="-120"/>
                        </a:rPr>
                        <a:t>製袋機（既設SPM機）</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既設・改造</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パウチにストロー（スパウト）を熱圧着する。能力150袋／分</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自動供給に合わせて部品改造・設計変更</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b</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0B5394"/>
                          </a:solidFill>
                          <a:latin typeface="BIZ UDPGothic" pitchFamily="34" charset="0"/>
                          <a:ea typeface="BIZ UDPGothic" pitchFamily="34" charset="-122"/>
                          <a:cs typeface="BIZ UDPGothic" pitchFamily="34" charset="-120"/>
                        </a:rPr>
                        <a:t>マガジン</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製袋機の投入口。現在は踏み台に立った担当者が手で投入</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装置から自動供給を受ける</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c</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146B2A"/>
                          </a:solidFill>
                          <a:latin typeface="BIZ UDPGothic" pitchFamily="34" charset="0"/>
                          <a:ea typeface="BIZ UDPGothic" pitchFamily="34" charset="-122"/>
                          <a:cs typeface="BIZ UDPGothic" pitchFamily="34" charset="-120"/>
                        </a:rPr>
                        <a:t>踏み台</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投入担当のパートが立って作業する台</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手投入がなくなり使用しない</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d</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5176B"/>
                          </a:solidFill>
                          <a:latin typeface="BIZ UDPGothic" pitchFamily="34" charset="0"/>
                          <a:ea typeface="BIZ UDPGothic" pitchFamily="34" charset="-122"/>
                          <a:cs typeface="BIZ UDPGothic" pitchFamily="34" charset="-120"/>
                        </a:rPr>
                        <a:t>コンベア</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スパウトを付けたパウチをリークチェッカへ搬送</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変更なし</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e</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5E2A8C"/>
                          </a:solidFill>
                          <a:latin typeface="BIZ UDPGothic" pitchFamily="34" charset="0"/>
                          <a:ea typeface="BIZ UDPGothic" pitchFamily="34" charset="-122"/>
                          <a:cs typeface="BIZ UDPGothic" pitchFamily="34" charset="-120"/>
                        </a:rPr>
                        <a:t>リークチェッカ</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スパウトの圧着漏れがないか検査</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変更なし</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f</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595959"/>
                          </a:solidFill>
                          <a:latin typeface="BIZ UDPGothic" pitchFamily="34" charset="0"/>
                          <a:ea typeface="BIZ UDPGothic" pitchFamily="34" charset="-122"/>
                          <a:cs typeface="BIZ UDPGothic" pitchFamily="34" charset="-120"/>
                        </a:rPr>
                        <a:t>ホッパローダ</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充填後に付けるキャップを供給（隣の充填室へコンベアで送る）</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変更なし</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g</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0000"/>
                          </a:solidFill>
                          <a:latin typeface="BIZ UDPGothic" pitchFamily="34" charset="0"/>
                          <a:ea typeface="BIZ UDPGothic" pitchFamily="34" charset="-122"/>
                          <a:cs typeface="BIZ UDPGothic" pitchFamily="34" charset="-120"/>
                        </a:rPr>
                        <a:t>パウチ自動供給装置</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新設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ロボットアームがパレットからパウチを取り出しマガジンへ自動供給</a:t>
                      </a:r>
                      <a:endParaRPr lang="en-US" sz="950" dirty="0">
                        <a:latin typeface="BIZ UDPGothic" charset="0"/>
                        <a:ea typeface="BIZ UDPGothic" charset="0"/>
                        <a:cs typeface="BIZ UDPGothic" charset="0"/>
                      </a:endParaRPr>
                    </a:p>
                    <a:p>
                      <a:pPr marL="0" indent="0">
                        <a:buNone/>
                      </a:pPr>
                      <a:r>
                        <a:rPr lang="en-US" sz="950" dirty="0">
                          <a:solidFill>
                            <a:srgbClr val="1F2A30"/>
                          </a:solidFill>
                          <a:latin typeface="BIZ UDPGothic" pitchFamily="34" charset="0"/>
                          <a:ea typeface="BIZ UDPGothic" pitchFamily="34" charset="-122"/>
                          <a:cs typeface="BIZ UDPGothic" pitchFamily="34" charset="-120"/>
                        </a:rPr>
                        <a:t>ストック20パレット（5段×4列＝24,000袋、約2時間分）</a:t>
                      </a:r>
                      <a:endParaRPr lang="en-US" sz="950" dirty="0">
                        <a:latin typeface="BIZ UDPGothic" charset="0"/>
                        <a:ea typeface="BIZ UDPGothic" charset="0"/>
                        <a:cs typeface="BIZ UDPGothic" charset="0"/>
                      </a:endParaRPr>
                    </a:p>
                    <a:p>
                      <a:pPr marL="0" indent="0">
                        <a:buNone/>
                      </a:pPr>
                      <a:r>
                        <a:rPr lang="en-US" sz="950" dirty="0">
                          <a:solidFill>
                            <a:srgbClr val="1F2A30"/>
                          </a:solidFill>
                          <a:latin typeface="BIZ UDPGothic" pitchFamily="34" charset="0"/>
                          <a:ea typeface="BIZ UDPGothic" pitchFamily="34" charset="-122"/>
                          <a:cs typeface="BIZ UDPGothic" pitchFamily="34" charset="-120"/>
                        </a:rPr>
                        <a:t>供給能力100袋／15秒</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手投入を置き換える</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h</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0000"/>
                          </a:solidFill>
                          <a:latin typeface="BIZ UDPGothic" pitchFamily="34" charset="0"/>
                          <a:ea typeface="BIZ UDPGothic" pitchFamily="34" charset="-122"/>
                          <a:cs typeface="BIZ UDPGothic" pitchFamily="34" charset="-120"/>
                        </a:rPr>
                        <a:t>専用パレット（90枚）</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新設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1枚1,200袋。型替えで2種のパウチに兼用</a:t>
                      </a:r>
                      <a:endParaRPr lang="en-US" sz="950" dirty="0">
                        <a:latin typeface="BIZ UDPGothic" charset="0"/>
                        <a:ea typeface="BIZ UDPGothic" charset="0"/>
                        <a:cs typeface="BIZ UDPGothic" charset="0"/>
                      </a:endParaRPr>
                    </a:p>
                    <a:p>
                      <a:pPr marL="0" indent="0">
                        <a:buNone/>
                      </a:pPr>
                      <a:r>
                        <a:rPr lang="en-US" sz="950" dirty="0">
                          <a:solidFill>
                            <a:srgbClr val="1F2A30"/>
                          </a:solidFill>
                          <a:latin typeface="BIZ UDPGothic" pitchFamily="34" charset="0"/>
                          <a:ea typeface="BIZ UDPGothic" pitchFamily="34" charset="-122"/>
                          <a:cs typeface="BIZ UDPGothic" pitchFamily="34" charset="-120"/>
                        </a:rPr>
                        <a:t>装置内25枚（5段×4列＋予備1列）＋予備65枚</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詰め作業に使用</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i</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仮置き台車（17台）</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新設</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詰め終わったパレットの一時保管と運搬</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B84A0A"/>
                          </a:solidFill>
                          <a:latin typeface="BIZ UDPGothic" pitchFamily="34" charset="0"/>
                          <a:ea typeface="BIZ UDPGothic" pitchFamily="34" charset="-122"/>
                          <a:cs typeface="BIZ UDPGothic" pitchFamily="34" charset="-120"/>
                        </a:rPr>
                        <a:t>装填・入替に使用</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j</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1F2A30"/>
                          </a:solidFill>
                          <a:latin typeface="BIZ UDPGothic" pitchFamily="34" charset="0"/>
                          <a:ea typeface="BIZ UDPGothic" pitchFamily="34" charset="-122"/>
                          <a:cs typeface="BIZ UDPGothic" pitchFamily="34" charset="-120"/>
                        </a:rPr>
                        <a:t>充填設備</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既設・充填室</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調合液の殺菌 → 充填 → 容器ごと殺菌</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変更なし</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marL="0" indent="0" algn="ctr">
                        <a:buNone/>
                      </a:pPr>
                      <a:r>
                        <a:rPr lang="en-US" sz="950" b="1" dirty="0">
                          <a:solidFill>
                            <a:srgbClr val="1F2A30"/>
                          </a:solidFill>
                          <a:latin typeface="BIZ UDPGothic" pitchFamily="34" charset="0"/>
                          <a:ea typeface="BIZ UDPGothic" pitchFamily="34" charset="-122"/>
                          <a:cs typeface="BIZ UDPGothic" pitchFamily="34" charset="-120"/>
                        </a:rPr>
                        <a:t>k</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b="1" dirty="0">
                          <a:solidFill>
                            <a:srgbClr val="1F2A30"/>
                          </a:solidFill>
                          <a:latin typeface="BIZ UDPGothic" pitchFamily="34" charset="0"/>
                          <a:ea typeface="BIZ UDPGothic" pitchFamily="34" charset="-122"/>
                          <a:cs typeface="BIZ UDPGothic" pitchFamily="34" charset="-120"/>
                        </a:rPr>
                        <a:t>包装設備</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既設・2F包装室</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包装・箱詰めののち1階へ下ろす</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変更なし</a:t>
                      </a:r>
                      <a:endParaRPr lang="en-US" sz="950" dirty="0">
                        <a:latin typeface="BIZ UDPGothic" charset="0"/>
                        <a:ea typeface="BIZ UDPGothic" charset="0"/>
                        <a:cs typeface="BIZ UDPGothic" charset="0"/>
                      </a:endParaRPr>
                    </a:p>
                  </a:txBody>
                  <a:tcPr marL="36576" marR="36576"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5C"/>
          </a:solidFill>
          <a:ln w="12700">
            <a:solidFill>
              <a:srgbClr val="0F4C5C"/>
            </a:solidFill>
            <a:prstDash val="solid"/>
          </a:ln>
        </p:spPr>
      </p:sp>
      <p:sp>
        <p:nvSpPr>
          <p:cNvPr id="3" name="Shape 1"/>
          <p:cNvSpPr/>
          <p:nvPr/>
        </p:nvSpPr>
        <p:spPr>
          <a:xfrm>
            <a:off x="320040" y="182880"/>
            <a:ext cx="109728" cy="320040"/>
          </a:xfrm>
          <a:prstGeom prst="rect">
            <a:avLst/>
          </a:prstGeom>
          <a:solidFill>
            <a:srgbClr val="F26B1D"/>
          </a:solidFill>
          <a:ln w="12700">
            <a:solidFill>
              <a:srgbClr val="F26B1D"/>
            </a:solidFill>
            <a:prstDash val="solid"/>
          </a:ln>
        </p:spPr>
      </p:sp>
      <p:sp>
        <p:nvSpPr>
          <p:cNvPr id="4" name="Text 2"/>
          <p:cNvSpPr/>
          <p:nvPr/>
        </p:nvSpPr>
        <p:spPr>
          <a:xfrm>
            <a:off x="530352" y="73152"/>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BIZ UDPGothic" pitchFamily="34" charset="0"/>
                <a:ea typeface="BIZ UDPGothic" pitchFamily="34" charset="-122"/>
                <a:cs typeface="BIZ UDPGothic" pitchFamily="34" charset="-120"/>
              </a:rPr>
              <a:t>4. パウチ供給工程のビフォー・アフター（1日あたりの人手作業時間）</a:t>
            </a:r>
            <a:endParaRPr lang="en-US" sz="2200" dirty="0"/>
          </a:p>
        </p:txBody>
      </p:sp>
      <p:sp>
        <p:nvSpPr>
          <p:cNvPr id="5" name="Text 3"/>
          <p:cNvSpPr/>
          <p:nvPr/>
        </p:nvSpPr>
        <p:spPr>
          <a:xfrm>
            <a:off x="320040" y="731520"/>
            <a:ext cx="8503920" cy="310896"/>
          </a:xfrm>
          <a:prstGeom prst="rect">
            <a:avLst/>
          </a:prstGeom>
          <a:noFill/>
          <a:ln/>
        </p:spPr>
        <p:txBody>
          <a:bodyPr wrap="square" lIns="0" tIns="0" rIns="0" bIns="0" rtlCol="0" anchor="ctr"/>
          <a:lstStyle/>
          <a:p>
            <a:pPr marL="0" indent="0">
              <a:buNone/>
            </a:pPr>
            <a:r>
              <a:rPr lang="en-US" sz="1100" dirty="0">
                <a:solidFill>
                  <a:srgbClr val="5B6770"/>
                </a:solidFill>
                <a:latin typeface="BIZ UDPGothic" pitchFamily="34" charset="0"/>
                <a:ea typeface="BIZ UDPGothic" pitchFamily="34" charset="-122"/>
                <a:cs typeface="BIZ UDPGothic" pitchFamily="34" charset="-120"/>
              </a:rPr>
              <a:t>①〜の番号と数値は別紙1と同じ。上3段・下3段は前後で対応。中段は左＝消える作業、右＝新たな作業。（仮）＝仮置き</a:t>
            </a:r>
            <a:endParaRPr lang="en-US" sz="1100" dirty="0"/>
          </a:p>
        </p:txBody>
      </p:sp>
      <p:sp>
        <p:nvSpPr>
          <p:cNvPr id="6" name="Text 4"/>
          <p:cNvSpPr/>
          <p:nvPr/>
        </p:nvSpPr>
        <p:spPr>
          <a:xfrm>
            <a:off x="320040" y="4828032"/>
            <a:ext cx="6400800" cy="228600"/>
          </a:xfrm>
          <a:prstGeom prst="rect">
            <a:avLst/>
          </a:prstGeom>
          <a:noFill/>
          <a:ln/>
        </p:spPr>
        <p:txBody>
          <a:bodyPr wrap="square" lIns="0" tIns="0" rIns="0" bIns="0" rtlCol="0" anchor="ctr"/>
          <a:lstStyle/>
          <a:p>
            <a:pPr marL="0" indent="0">
              <a:buNone/>
            </a:pPr>
            <a:r>
              <a:rPr lang="en-US" sz="900" dirty="0">
                <a:solidFill>
                  <a:srgbClr val="8A9BA8"/>
                </a:solidFill>
                <a:latin typeface="BIZ UDPGothic" pitchFamily="34" charset="0"/>
                <a:ea typeface="BIZ UDPGothic" pitchFamily="34" charset="-122"/>
                <a:cs typeface="BIZ UDPGothic" pitchFamily="34" charset="-120"/>
              </a:rPr>
              <a:t>株式会社トンボ飲料様　Gライン パウチ自動供給装置の導入</a:t>
            </a:r>
            <a:endParaRPr lang="en-US" sz="900" dirty="0"/>
          </a:p>
        </p:txBody>
      </p:sp>
      <p:sp>
        <p:nvSpPr>
          <p:cNvPr id="7" name="Text 5"/>
          <p:cNvSpPr/>
          <p:nvPr/>
        </p:nvSpPr>
        <p:spPr>
          <a:xfrm>
            <a:off x="8321040" y="4828032"/>
            <a:ext cx="502920" cy="228600"/>
          </a:xfrm>
          <a:prstGeom prst="rect">
            <a:avLst/>
          </a:prstGeom>
          <a:noFill/>
          <a:ln/>
        </p:spPr>
        <p:txBody>
          <a:bodyPr wrap="square" lIns="0" tIns="0" rIns="0" bIns="0" rtlCol="0" anchor="ctr"/>
          <a:lstStyle/>
          <a:p>
            <a:pPr marL="0" indent="0" algn="r">
              <a:buNone/>
            </a:pPr>
            <a:r>
              <a:rPr lang="en-US" sz="900" dirty="0">
                <a:solidFill>
                  <a:srgbClr val="8A9BA8"/>
                </a:solidFill>
                <a:latin typeface="BIZ UDPGothic" pitchFamily="34" charset="0"/>
                <a:ea typeface="BIZ UDPGothic" pitchFamily="34" charset="-122"/>
                <a:cs typeface="BIZ UDPGothic" pitchFamily="34" charset="-120"/>
              </a:rPr>
              <a:t>5</a:t>
            </a:r>
            <a:endParaRPr lang="en-US" sz="900" dirty="0"/>
          </a:p>
        </p:txBody>
      </p:sp>
      <p:sp>
        <p:nvSpPr>
          <p:cNvPr id="8" name="Shape 6"/>
          <p:cNvSpPr/>
          <p:nvPr/>
        </p:nvSpPr>
        <p:spPr>
          <a:xfrm>
            <a:off x="320040" y="1097280"/>
            <a:ext cx="4160520" cy="3310128"/>
          </a:xfrm>
          <a:prstGeom prst="rect">
            <a:avLst/>
          </a:prstGeom>
          <a:solidFill>
            <a:srgbClr val="F7F9FA"/>
          </a:solidFill>
          <a:ln w="15875">
            <a:solidFill>
              <a:srgbClr val="0F4C5C"/>
            </a:solidFill>
            <a:prstDash val="solid"/>
          </a:ln>
        </p:spPr>
      </p:sp>
      <p:sp>
        <p:nvSpPr>
          <p:cNvPr id="9" name="Shape 7"/>
          <p:cNvSpPr/>
          <p:nvPr/>
        </p:nvSpPr>
        <p:spPr>
          <a:xfrm>
            <a:off x="320040" y="1097280"/>
            <a:ext cx="822960" cy="274320"/>
          </a:xfrm>
          <a:prstGeom prst="rect">
            <a:avLst/>
          </a:prstGeom>
          <a:solidFill>
            <a:srgbClr val="5B6770"/>
          </a:solidFill>
          <a:ln w="12700">
            <a:solidFill>
              <a:srgbClr val="5B6770"/>
            </a:solidFill>
            <a:prstDash val="solid"/>
          </a:ln>
        </p:spPr>
      </p:sp>
      <p:sp>
        <p:nvSpPr>
          <p:cNvPr id="10" name="Text 8"/>
          <p:cNvSpPr/>
          <p:nvPr/>
        </p:nvSpPr>
        <p:spPr>
          <a:xfrm>
            <a:off x="320040" y="1097280"/>
            <a:ext cx="8229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現状</a:t>
            </a:r>
            <a:endParaRPr lang="en-US" sz="1200" dirty="0"/>
          </a:p>
        </p:txBody>
      </p:sp>
      <p:sp>
        <p:nvSpPr>
          <p:cNvPr id="11" name="Text 9"/>
          <p:cNvSpPr/>
          <p:nvPr/>
        </p:nvSpPr>
        <p:spPr>
          <a:xfrm>
            <a:off x="1234440" y="1097280"/>
            <a:ext cx="3200400" cy="274320"/>
          </a:xfrm>
          <a:prstGeom prst="rect">
            <a:avLst/>
          </a:prstGeom>
          <a:noFill/>
          <a:ln/>
        </p:spPr>
        <p:txBody>
          <a:bodyPr wrap="square" lIns="0" tIns="0" rIns="0" bIns="0" rtlCol="0" anchor="ct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投入担当の作業 1,050分／日（①〜⑥の合計）</a:t>
            </a:r>
            <a:endParaRPr lang="en-US" sz="950" dirty="0"/>
          </a:p>
        </p:txBody>
      </p:sp>
      <p:sp>
        <p:nvSpPr>
          <p:cNvPr id="12" name="Shape 10"/>
          <p:cNvSpPr/>
          <p:nvPr/>
        </p:nvSpPr>
        <p:spPr>
          <a:xfrm>
            <a:off x="411480" y="1426464"/>
            <a:ext cx="3977640" cy="260604"/>
          </a:xfrm>
          <a:prstGeom prst="rect">
            <a:avLst/>
          </a:prstGeom>
          <a:solidFill>
            <a:srgbClr val="FDE8DC"/>
          </a:solidFill>
          <a:ln w="19050">
            <a:solidFill>
              <a:srgbClr val="F26B1D"/>
            </a:solidFill>
            <a:prstDash val="solid"/>
          </a:ln>
        </p:spPr>
      </p:sp>
      <p:sp>
        <p:nvSpPr>
          <p:cNvPr id="13" name="Text 11"/>
          <p:cNvSpPr/>
          <p:nvPr/>
        </p:nvSpPr>
        <p:spPr>
          <a:xfrm>
            <a:off x="484632" y="1426464"/>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① 空パウチの搬入</a:t>
            </a:r>
            <a:endParaRPr lang="en-US" sz="900" dirty="0"/>
          </a:p>
        </p:txBody>
      </p:sp>
      <p:sp>
        <p:nvSpPr>
          <p:cNvPr id="14" name="Text 12"/>
          <p:cNvSpPr/>
          <p:nvPr/>
        </p:nvSpPr>
        <p:spPr>
          <a:xfrm>
            <a:off x="2423160" y="1426464"/>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65分</a:t>
            </a:r>
            <a:endParaRPr lang="en-US" sz="1050" dirty="0"/>
          </a:p>
        </p:txBody>
      </p:sp>
      <p:sp>
        <p:nvSpPr>
          <p:cNvPr id="15" name="Text 13"/>
          <p:cNvSpPr/>
          <p:nvPr/>
        </p:nvSpPr>
        <p:spPr>
          <a:xfrm>
            <a:off x="3200400" y="1426464"/>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1箱ずつ約20分おき（仮）</a:t>
            </a:r>
            <a:endParaRPr lang="en-US" sz="750" dirty="0"/>
          </a:p>
        </p:txBody>
      </p:sp>
      <p:sp>
        <p:nvSpPr>
          <p:cNvPr id="16" name="Shape 14"/>
          <p:cNvSpPr/>
          <p:nvPr/>
        </p:nvSpPr>
        <p:spPr>
          <a:xfrm>
            <a:off x="411480" y="1719072"/>
            <a:ext cx="3977640" cy="260604"/>
          </a:xfrm>
          <a:prstGeom prst="rect">
            <a:avLst/>
          </a:prstGeom>
          <a:solidFill>
            <a:srgbClr val="EEF4F5"/>
          </a:solidFill>
          <a:ln w="9525">
            <a:solidFill>
              <a:srgbClr val="C9D3D8"/>
            </a:solidFill>
            <a:prstDash val="solid"/>
          </a:ln>
        </p:spPr>
      </p:sp>
      <p:sp>
        <p:nvSpPr>
          <p:cNvPr id="17" name="Text 15"/>
          <p:cNvSpPr/>
          <p:nvPr/>
        </p:nvSpPr>
        <p:spPr>
          <a:xfrm>
            <a:off x="484632" y="1719072"/>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② 段ボールの開梱・束出し</a:t>
            </a:r>
            <a:endParaRPr lang="en-US" sz="900" dirty="0"/>
          </a:p>
        </p:txBody>
      </p:sp>
      <p:sp>
        <p:nvSpPr>
          <p:cNvPr id="18" name="Text 16"/>
          <p:cNvSpPr/>
          <p:nvPr/>
        </p:nvSpPr>
        <p:spPr>
          <a:xfrm>
            <a:off x="2423160" y="1719072"/>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43分</a:t>
            </a:r>
            <a:endParaRPr lang="en-US" sz="1050" dirty="0"/>
          </a:p>
        </p:txBody>
      </p:sp>
      <p:sp>
        <p:nvSpPr>
          <p:cNvPr id="19" name="Text 17"/>
          <p:cNvSpPr/>
          <p:nvPr/>
        </p:nvSpPr>
        <p:spPr>
          <a:xfrm>
            <a:off x="3200400" y="1719072"/>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43箱×1分（仮）</a:t>
            </a:r>
            <a:endParaRPr lang="en-US" sz="750" dirty="0"/>
          </a:p>
        </p:txBody>
      </p:sp>
      <p:sp>
        <p:nvSpPr>
          <p:cNvPr id="20" name="Shape 18"/>
          <p:cNvSpPr/>
          <p:nvPr/>
        </p:nvSpPr>
        <p:spPr>
          <a:xfrm>
            <a:off x="411480" y="2011680"/>
            <a:ext cx="3977640" cy="260604"/>
          </a:xfrm>
          <a:prstGeom prst="rect">
            <a:avLst/>
          </a:prstGeom>
          <a:solidFill>
            <a:srgbClr val="EEF4F5"/>
          </a:solidFill>
          <a:ln w="9525">
            <a:solidFill>
              <a:srgbClr val="C9D3D8"/>
            </a:solidFill>
            <a:prstDash val="solid"/>
          </a:ln>
        </p:spPr>
      </p:sp>
      <p:sp>
        <p:nvSpPr>
          <p:cNvPr id="21" name="Text 19"/>
          <p:cNvSpPr/>
          <p:nvPr/>
        </p:nvSpPr>
        <p:spPr>
          <a:xfrm>
            <a:off x="484632" y="2011680"/>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③ 空段ボールの片付け</a:t>
            </a:r>
            <a:endParaRPr lang="en-US" sz="900" dirty="0"/>
          </a:p>
        </p:txBody>
      </p:sp>
      <p:sp>
        <p:nvSpPr>
          <p:cNvPr id="22" name="Text 20"/>
          <p:cNvSpPr/>
          <p:nvPr/>
        </p:nvSpPr>
        <p:spPr>
          <a:xfrm>
            <a:off x="2423160" y="2011680"/>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22分</a:t>
            </a:r>
            <a:endParaRPr lang="en-US" sz="1050" dirty="0"/>
          </a:p>
        </p:txBody>
      </p:sp>
      <p:sp>
        <p:nvSpPr>
          <p:cNvPr id="23" name="Text 21"/>
          <p:cNvSpPr/>
          <p:nvPr/>
        </p:nvSpPr>
        <p:spPr>
          <a:xfrm>
            <a:off x="3200400" y="2011680"/>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43箱×0.5分（仮）</a:t>
            </a:r>
            <a:endParaRPr lang="en-US" sz="750" dirty="0"/>
          </a:p>
        </p:txBody>
      </p:sp>
      <p:sp>
        <p:nvSpPr>
          <p:cNvPr id="24" name="Shape 22"/>
          <p:cNvSpPr/>
          <p:nvPr/>
        </p:nvSpPr>
        <p:spPr>
          <a:xfrm>
            <a:off x="411480" y="2304288"/>
            <a:ext cx="3977640" cy="260604"/>
          </a:xfrm>
          <a:prstGeom prst="rect">
            <a:avLst/>
          </a:prstGeom>
          <a:solidFill>
            <a:srgbClr val="FDE8DC"/>
          </a:solidFill>
          <a:ln w="19050">
            <a:solidFill>
              <a:srgbClr val="F26B1D"/>
            </a:solidFill>
            <a:prstDash val="solid"/>
          </a:ln>
        </p:spPr>
      </p:sp>
      <p:sp>
        <p:nvSpPr>
          <p:cNvPr id="25" name="Text 23"/>
          <p:cNvSpPr/>
          <p:nvPr/>
        </p:nvSpPr>
        <p:spPr>
          <a:xfrm>
            <a:off x="484632" y="2304288"/>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④ パウチのほぐし</a:t>
            </a:r>
            <a:endParaRPr lang="en-US" sz="900" dirty="0"/>
          </a:p>
        </p:txBody>
      </p:sp>
      <p:sp>
        <p:nvSpPr>
          <p:cNvPr id="26" name="Text 24"/>
          <p:cNvSpPr/>
          <p:nvPr/>
        </p:nvSpPr>
        <p:spPr>
          <a:xfrm>
            <a:off x="2423160" y="2304288"/>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526分</a:t>
            </a:r>
            <a:endParaRPr lang="en-US" sz="1050" dirty="0"/>
          </a:p>
        </p:txBody>
      </p:sp>
      <p:sp>
        <p:nvSpPr>
          <p:cNvPr id="27" name="Text 25"/>
          <p:cNvSpPr/>
          <p:nvPr/>
        </p:nvSpPr>
        <p:spPr>
          <a:xfrm>
            <a:off x="3200400" y="2304288"/>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消える（投入の合間に継続）</a:t>
            </a:r>
            <a:endParaRPr lang="en-US" sz="750" dirty="0"/>
          </a:p>
        </p:txBody>
      </p:sp>
      <p:sp>
        <p:nvSpPr>
          <p:cNvPr id="28" name="Shape 26"/>
          <p:cNvSpPr/>
          <p:nvPr/>
        </p:nvSpPr>
        <p:spPr>
          <a:xfrm>
            <a:off x="411480" y="2596896"/>
            <a:ext cx="3977640" cy="260604"/>
          </a:xfrm>
          <a:prstGeom prst="rect">
            <a:avLst/>
          </a:prstGeom>
          <a:solidFill>
            <a:srgbClr val="FDE8DC"/>
          </a:solidFill>
          <a:ln w="19050">
            <a:solidFill>
              <a:srgbClr val="F26B1D"/>
            </a:solidFill>
            <a:prstDash val="solid"/>
          </a:ln>
        </p:spPr>
      </p:sp>
      <p:sp>
        <p:nvSpPr>
          <p:cNvPr id="29" name="Text 27"/>
          <p:cNvSpPr/>
          <p:nvPr/>
        </p:nvSpPr>
        <p:spPr>
          <a:xfrm>
            <a:off x="484632" y="2596896"/>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⑤ 踏み台の昇降・残量確認</a:t>
            </a:r>
            <a:endParaRPr lang="en-US" sz="900" dirty="0"/>
          </a:p>
        </p:txBody>
      </p:sp>
      <p:sp>
        <p:nvSpPr>
          <p:cNvPr id="30" name="Text 28"/>
          <p:cNvSpPr/>
          <p:nvPr/>
        </p:nvSpPr>
        <p:spPr>
          <a:xfrm>
            <a:off x="2423160" y="2596896"/>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79分</a:t>
            </a:r>
            <a:endParaRPr lang="en-US" sz="1050" dirty="0"/>
          </a:p>
        </p:txBody>
      </p:sp>
      <p:sp>
        <p:nvSpPr>
          <p:cNvPr id="31" name="Text 29"/>
          <p:cNvSpPr/>
          <p:nvPr/>
        </p:nvSpPr>
        <p:spPr>
          <a:xfrm>
            <a:off x="3200400" y="2596896"/>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消える（1回0.6分）</a:t>
            </a:r>
            <a:endParaRPr lang="en-US" sz="750" dirty="0"/>
          </a:p>
        </p:txBody>
      </p:sp>
      <p:sp>
        <p:nvSpPr>
          <p:cNvPr id="32" name="Shape 30"/>
          <p:cNvSpPr/>
          <p:nvPr/>
        </p:nvSpPr>
        <p:spPr>
          <a:xfrm>
            <a:off x="411480" y="2889504"/>
            <a:ext cx="3977640" cy="260604"/>
          </a:xfrm>
          <a:prstGeom prst="rect">
            <a:avLst/>
          </a:prstGeom>
          <a:solidFill>
            <a:srgbClr val="FDE8DC"/>
          </a:solidFill>
          <a:ln w="19050">
            <a:solidFill>
              <a:srgbClr val="F26B1D"/>
            </a:solidFill>
            <a:prstDash val="solid"/>
          </a:ln>
        </p:spPr>
      </p:sp>
      <p:sp>
        <p:nvSpPr>
          <p:cNvPr id="33" name="Text 31"/>
          <p:cNvSpPr/>
          <p:nvPr/>
        </p:nvSpPr>
        <p:spPr>
          <a:xfrm>
            <a:off x="484632" y="2889504"/>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⑥ マガジンへの手投入</a:t>
            </a:r>
            <a:endParaRPr lang="en-US" sz="900" dirty="0"/>
          </a:p>
        </p:txBody>
      </p:sp>
      <p:sp>
        <p:nvSpPr>
          <p:cNvPr id="34" name="Text 32"/>
          <p:cNvSpPr/>
          <p:nvPr/>
        </p:nvSpPr>
        <p:spPr>
          <a:xfrm>
            <a:off x="2423160" y="2889504"/>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315分</a:t>
            </a:r>
            <a:endParaRPr lang="en-US" sz="1050" dirty="0"/>
          </a:p>
        </p:txBody>
      </p:sp>
      <p:sp>
        <p:nvSpPr>
          <p:cNvPr id="35" name="Text 33"/>
          <p:cNvSpPr/>
          <p:nvPr/>
        </p:nvSpPr>
        <p:spPr>
          <a:xfrm>
            <a:off x="3200400" y="2889504"/>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消える（1回2.4分）</a:t>
            </a:r>
            <a:endParaRPr lang="en-US" sz="750" dirty="0"/>
          </a:p>
        </p:txBody>
      </p:sp>
      <p:sp>
        <p:nvSpPr>
          <p:cNvPr id="36" name="Shape 34"/>
          <p:cNvSpPr/>
          <p:nvPr/>
        </p:nvSpPr>
        <p:spPr>
          <a:xfrm>
            <a:off x="411480" y="3182112"/>
            <a:ext cx="3977640" cy="260604"/>
          </a:xfrm>
          <a:prstGeom prst="rect">
            <a:avLst/>
          </a:prstGeom>
          <a:solidFill>
            <a:srgbClr val="FFFFFF"/>
          </a:solidFill>
          <a:ln w="9525">
            <a:solidFill>
              <a:srgbClr val="C9D3D8"/>
            </a:solidFill>
            <a:prstDash val="dash"/>
          </a:ln>
        </p:spPr>
      </p:sp>
      <p:sp>
        <p:nvSpPr>
          <p:cNvPr id="37" name="Text 35"/>
          <p:cNvSpPr/>
          <p:nvPr/>
        </p:nvSpPr>
        <p:spPr>
          <a:xfrm>
            <a:off x="502920" y="3182112"/>
            <a:ext cx="3794760" cy="260604"/>
          </a:xfrm>
          <a:prstGeom prst="rect">
            <a:avLst/>
          </a:prstGeom>
          <a:noFill/>
          <a:ln/>
        </p:spPr>
        <p:txBody>
          <a:bodyPr wrap="square" lIns="0" tIns="0" rIns="0" bIns="0" rtlCol="0" anchor="ctr"/>
          <a:lstStyle/>
          <a:p>
            <a:pPr marL="0" indent="0">
              <a:buNone/>
            </a:pPr>
            <a:r>
              <a:rPr lang="en-US" sz="800" dirty="0">
                <a:solidFill>
                  <a:srgbClr val="8A9BA8"/>
                </a:solidFill>
                <a:latin typeface="BIZ UDPGothic" pitchFamily="34" charset="0"/>
                <a:ea typeface="BIZ UDPGothic" pitchFamily="34" charset="-122"/>
                <a:cs typeface="BIZ UDPGothic" pitchFamily="34" charset="-120"/>
              </a:rPr>
              <a:t>（該当する作業なし）</a:t>
            </a:r>
            <a:endParaRPr lang="en-US" sz="800" dirty="0"/>
          </a:p>
        </p:txBody>
      </p:sp>
      <p:sp>
        <p:nvSpPr>
          <p:cNvPr id="38" name="Shape 36"/>
          <p:cNvSpPr/>
          <p:nvPr/>
        </p:nvSpPr>
        <p:spPr>
          <a:xfrm>
            <a:off x="411480" y="3474720"/>
            <a:ext cx="3977640" cy="260604"/>
          </a:xfrm>
          <a:prstGeom prst="rect">
            <a:avLst/>
          </a:prstGeom>
          <a:solidFill>
            <a:srgbClr val="EEF4F5"/>
          </a:solidFill>
          <a:ln w="9525">
            <a:solidFill>
              <a:srgbClr val="C9D3D8"/>
            </a:solidFill>
            <a:prstDash val="solid"/>
          </a:ln>
        </p:spPr>
      </p:sp>
      <p:sp>
        <p:nvSpPr>
          <p:cNvPr id="39" name="Text 37"/>
          <p:cNvSpPr/>
          <p:nvPr/>
        </p:nvSpPr>
        <p:spPr>
          <a:xfrm>
            <a:off x="484632" y="3474720"/>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⑦ 製袋機の運転・監視</a:t>
            </a:r>
            <a:endParaRPr lang="en-US" sz="900" dirty="0"/>
          </a:p>
        </p:txBody>
      </p:sp>
      <p:sp>
        <p:nvSpPr>
          <p:cNvPr id="40" name="Text 38"/>
          <p:cNvSpPr/>
          <p:nvPr/>
        </p:nvSpPr>
        <p:spPr>
          <a:xfrm>
            <a:off x="2423160" y="3474720"/>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1,050分</a:t>
            </a:r>
            <a:endParaRPr lang="en-US" sz="1050" dirty="0"/>
          </a:p>
        </p:txBody>
      </p:sp>
      <p:sp>
        <p:nvSpPr>
          <p:cNvPr id="41" name="Text 39"/>
          <p:cNvSpPr/>
          <p:nvPr/>
        </p:nvSpPr>
        <p:spPr>
          <a:xfrm>
            <a:off x="3200400" y="3474720"/>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オペレーター1名</a:t>
            </a:r>
            <a:endParaRPr lang="en-US" sz="750" dirty="0"/>
          </a:p>
        </p:txBody>
      </p:sp>
      <p:sp>
        <p:nvSpPr>
          <p:cNvPr id="42" name="Shape 40"/>
          <p:cNvSpPr/>
          <p:nvPr/>
        </p:nvSpPr>
        <p:spPr>
          <a:xfrm>
            <a:off x="411480" y="3767328"/>
            <a:ext cx="3977640" cy="260604"/>
          </a:xfrm>
          <a:prstGeom prst="rect">
            <a:avLst/>
          </a:prstGeom>
          <a:solidFill>
            <a:srgbClr val="EEF4F5"/>
          </a:solidFill>
          <a:ln w="9525">
            <a:solidFill>
              <a:srgbClr val="C9D3D8"/>
            </a:solidFill>
            <a:prstDash val="solid"/>
          </a:ln>
        </p:spPr>
      </p:sp>
      <p:sp>
        <p:nvSpPr>
          <p:cNvPr id="43" name="Text 41"/>
          <p:cNvSpPr/>
          <p:nvPr/>
        </p:nvSpPr>
        <p:spPr>
          <a:xfrm>
            <a:off x="484632" y="3767328"/>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⑧ 充填（充填室）</a:t>
            </a:r>
            <a:endParaRPr lang="en-US" sz="900" dirty="0"/>
          </a:p>
        </p:txBody>
      </p:sp>
      <p:sp>
        <p:nvSpPr>
          <p:cNvPr id="44" name="Text 42"/>
          <p:cNvSpPr/>
          <p:nvPr/>
        </p:nvSpPr>
        <p:spPr>
          <a:xfrm>
            <a:off x="2423160" y="3767328"/>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1,050分</a:t>
            </a:r>
            <a:endParaRPr lang="en-US" sz="1050" dirty="0"/>
          </a:p>
        </p:txBody>
      </p:sp>
      <p:sp>
        <p:nvSpPr>
          <p:cNvPr id="45" name="Text 43"/>
          <p:cNvSpPr/>
          <p:nvPr/>
        </p:nvSpPr>
        <p:spPr>
          <a:xfrm>
            <a:off x="3200400" y="3767328"/>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1名</a:t>
            </a:r>
            <a:endParaRPr lang="en-US" sz="750" dirty="0"/>
          </a:p>
        </p:txBody>
      </p:sp>
      <p:sp>
        <p:nvSpPr>
          <p:cNvPr id="46" name="Shape 44"/>
          <p:cNvSpPr/>
          <p:nvPr/>
        </p:nvSpPr>
        <p:spPr>
          <a:xfrm>
            <a:off x="411480" y="4059936"/>
            <a:ext cx="3977640" cy="260604"/>
          </a:xfrm>
          <a:prstGeom prst="rect">
            <a:avLst/>
          </a:prstGeom>
          <a:solidFill>
            <a:srgbClr val="EEF4F5"/>
          </a:solidFill>
          <a:ln w="9525">
            <a:solidFill>
              <a:srgbClr val="C9D3D8"/>
            </a:solidFill>
            <a:prstDash val="solid"/>
          </a:ln>
        </p:spPr>
      </p:sp>
      <p:sp>
        <p:nvSpPr>
          <p:cNvPr id="47" name="Text 45"/>
          <p:cNvSpPr/>
          <p:nvPr/>
        </p:nvSpPr>
        <p:spPr>
          <a:xfrm>
            <a:off x="484632" y="4059936"/>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⑨ 包装・箱詰め</a:t>
            </a:r>
            <a:endParaRPr lang="en-US" sz="900" dirty="0"/>
          </a:p>
        </p:txBody>
      </p:sp>
      <p:sp>
        <p:nvSpPr>
          <p:cNvPr id="48" name="Text 46"/>
          <p:cNvSpPr/>
          <p:nvPr/>
        </p:nvSpPr>
        <p:spPr>
          <a:xfrm>
            <a:off x="2423160" y="4059936"/>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2,625分</a:t>
            </a:r>
            <a:endParaRPr lang="en-US" sz="1050" dirty="0"/>
          </a:p>
        </p:txBody>
      </p:sp>
      <p:sp>
        <p:nvSpPr>
          <p:cNvPr id="49" name="Text 47"/>
          <p:cNvSpPr/>
          <p:nvPr/>
        </p:nvSpPr>
        <p:spPr>
          <a:xfrm>
            <a:off x="3200400" y="4059936"/>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2〜3名（平均2.5名）</a:t>
            </a:r>
            <a:endParaRPr lang="en-US" sz="750" dirty="0"/>
          </a:p>
        </p:txBody>
      </p:sp>
      <p:sp>
        <p:nvSpPr>
          <p:cNvPr id="50" name="Shape 48"/>
          <p:cNvSpPr/>
          <p:nvPr/>
        </p:nvSpPr>
        <p:spPr>
          <a:xfrm>
            <a:off x="4663440" y="1097280"/>
            <a:ext cx="4160520" cy="3310128"/>
          </a:xfrm>
          <a:prstGeom prst="rect">
            <a:avLst/>
          </a:prstGeom>
          <a:solidFill>
            <a:srgbClr val="F7F9FA"/>
          </a:solidFill>
          <a:ln w="15875">
            <a:solidFill>
              <a:srgbClr val="0F4C5C"/>
            </a:solidFill>
            <a:prstDash val="solid"/>
          </a:ln>
        </p:spPr>
      </p:sp>
      <p:sp>
        <p:nvSpPr>
          <p:cNvPr id="51" name="Shape 49"/>
          <p:cNvSpPr/>
          <p:nvPr/>
        </p:nvSpPr>
        <p:spPr>
          <a:xfrm>
            <a:off x="4663440" y="1097280"/>
            <a:ext cx="822960" cy="274320"/>
          </a:xfrm>
          <a:prstGeom prst="rect">
            <a:avLst/>
          </a:prstGeom>
          <a:solidFill>
            <a:srgbClr val="F26B1D"/>
          </a:solidFill>
          <a:ln w="12700">
            <a:solidFill>
              <a:srgbClr val="F26B1D"/>
            </a:solidFill>
            <a:prstDash val="solid"/>
          </a:ln>
        </p:spPr>
      </p:sp>
      <p:sp>
        <p:nvSpPr>
          <p:cNvPr id="52" name="Text 50"/>
          <p:cNvSpPr/>
          <p:nvPr/>
        </p:nvSpPr>
        <p:spPr>
          <a:xfrm>
            <a:off x="4663440" y="1097280"/>
            <a:ext cx="8229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BIZ UDPGothic" pitchFamily="34" charset="0"/>
                <a:ea typeface="BIZ UDPGothic" pitchFamily="34" charset="-122"/>
                <a:cs typeface="BIZ UDPGothic" pitchFamily="34" charset="-120"/>
              </a:rPr>
              <a:t>導入後</a:t>
            </a:r>
            <a:endParaRPr lang="en-US" sz="1200" dirty="0"/>
          </a:p>
        </p:txBody>
      </p:sp>
      <p:sp>
        <p:nvSpPr>
          <p:cNvPr id="53" name="Text 51"/>
          <p:cNvSpPr/>
          <p:nvPr/>
        </p:nvSpPr>
        <p:spPr>
          <a:xfrm>
            <a:off x="5577840" y="1097280"/>
            <a:ext cx="3200400" cy="274320"/>
          </a:xfrm>
          <a:prstGeom prst="rect">
            <a:avLst/>
          </a:prstGeom>
          <a:noFill/>
          <a:ln/>
        </p:spPr>
        <p:txBody>
          <a:bodyPr wrap="square" lIns="0" tIns="0" rIns="0" bIns="0" rtlCol="0" anchor="ct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投入に代わる作業 370分／日（①〜⑦の合計）</a:t>
            </a:r>
            <a:endParaRPr lang="en-US" sz="950" dirty="0"/>
          </a:p>
        </p:txBody>
      </p:sp>
      <p:sp>
        <p:nvSpPr>
          <p:cNvPr id="54" name="Shape 52"/>
          <p:cNvSpPr/>
          <p:nvPr/>
        </p:nvSpPr>
        <p:spPr>
          <a:xfrm>
            <a:off x="4754880" y="1426464"/>
            <a:ext cx="3977640" cy="260604"/>
          </a:xfrm>
          <a:prstGeom prst="rect">
            <a:avLst/>
          </a:prstGeom>
          <a:solidFill>
            <a:srgbClr val="FDE8DC"/>
          </a:solidFill>
          <a:ln w="19050">
            <a:solidFill>
              <a:srgbClr val="F26B1D"/>
            </a:solidFill>
            <a:prstDash val="solid"/>
          </a:ln>
        </p:spPr>
      </p:sp>
      <p:sp>
        <p:nvSpPr>
          <p:cNvPr id="55" name="Text 53"/>
          <p:cNvSpPr/>
          <p:nvPr/>
        </p:nvSpPr>
        <p:spPr>
          <a:xfrm>
            <a:off x="4828032" y="1426464"/>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① 空パウチの搬入</a:t>
            </a:r>
            <a:endParaRPr lang="en-US" sz="900" dirty="0"/>
          </a:p>
        </p:txBody>
      </p:sp>
      <p:sp>
        <p:nvSpPr>
          <p:cNvPr id="56" name="Text 54"/>
          <p:cNvSpPr/>
          <p:nvPr/>
        </p:nvSpPr>
        <p:spPr>
          <a:xfrm>
            <a:off x="6766560" y="1426464"/>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21分</a:t>
            </a:r>
            <a:endParaRPr lang="en-US" sz="1050" dirty="0"/>
          </a:p>
        </p:txBody>
      </p:sp>
      <p:sp>
        <p:nvSpPr>
          <p:cNvPr id="57" name="Text 55"/>
          <p:cNvSpPr/>
          <p:nvPr/>
        </p:nvSpPr>
        <p:spPr>
          <a:xfrm>
            <a:off x="7543800" y="1426464"/>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台車で約7回（仮）−44分</a:t>
            </a:r>
            <a:endParaRPr lang="en-US" sz="750" dirty="0"/>
          </a:p>
        </p:txBody>
      </p:sp>
      <p:sp>
        <p:nvSpPr>
          <p:cNvPr id="58" name="Shape 56"/>
          <p:cNvSpPr/>
          <p:nvPr/>
        </p:nvSpPr>
        <p:spPr>
          <a:xfrm>
            <a:off x="4754880" y="1719072"/>
            <a:ext cx="3977640" cy="260604"/>
          </a:xfrm>
          <a:prstGeom prst="rect">
            <a:avLst/>
          </a:prstGeom>
          <a:solidFill>
            <a:srgbClr val="EEF4F5"/>
          </a:solidFill>
          <a:ln w="9525">
            <a:solidFill>
              <a:srgbClr val="C9D3D8"/>
            </a:solidFill>
            <a:prstDash val="solid"/>
          </a:ln>
        </p:spPr>
      </p:sp>
      <p:sp>
        <p:nvSpPr>
          <p:cNvPr id="59" name="Text 57"/>
          <p:cNvSpPr/>
          <p:nvPr/>
        </p:nvSpPr>
        <p:spPr>
          <a:xfrm>
            <a:off x="4828032" y="1719072"/>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② 段ボールの開梱・束出し</a:t>
            </a:r>
            <a:endParaRPr lang="en-US" sz="900" dirty="0"/>
          </a:p>
        </p:txBody>
      </p:sp>
      <p:sp>
        <p:nvSpPr>
          <p:cNvPr id="60" name="Text 58"/>
          <p:cNvSpPr/>
          <p:nvPr/>
        </p:nvSpPr>
        <p:spPr>
          <a:xfrm>
            <a:off x="6766560" y="1719072"/>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43分</a:t>
            </a:r>
            <a:endParaRPr lang="en-US" sz="1050" dirty="0"/>
          </a:p>
        </p:txBody>
      </p:sp>
      <p:sp>
        <p:nvSpPr>
          <p:cNvPr id="61" name="Text 59"/>
          <p:cNvSpPr/>
          <p:nvPr/>
        </p:nvSpPr>
        <p:spPr>
          <a:xfrm>
            <a:off x="7543800" y="1719072"/>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変化なし</a:t>
            </a:r>
            <a:endParaRPr lang="en-US" sz="750" dirty="0"/>
          </a:p>
        </p:txBody>
      </p:sp>
      <p:sp>
        <p:nvSpPr>
          <p:cNvPr id="62" name="Shape 60"/>
          <p:cNvSpPr/>
          <p:nvPr/>
        </p:nvSpPr>
        <p:spPr>
          <a:xfrm>
            <a:off x="4754880" y="2011680"/>
            <a:ext cx="3977640" cy="260604"/>
          </a:xfrm>
          <a:prstGeom prst="rect">
            <a:avLst/>
          </a:prstGeom>
          <a:solidFill>
            <a:srgbClr val="EEF4F5"/>
          </a:solidFill>
          <a:ln w="9525">
            <a:solidFill>
              <a:srgbClr val="C9D3D8"/>
            </a:solidFill>
            <a:prstDash val="solid"/>
          </a:ln>
        </p:spPr>
      </p:sp>
      <p:sp>
        <p:nvSpPr>
          <p:cNvPr id="63" name="Text 61"/>
          <p:cNvSpPr/>
          <p:nvPr/>
        </p:nvSpPr>
        <p:spPr>
          <a:xfrm>
            <a:off x="4828032" y="2011680"/>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③ 空段ボールの片付け</a:t>
            </a:r>
            <a:endParaRPr lang="en-US" sz="900" dirty="0"/>
          </a:p>
        </p:txBody>
      </p:sp>
      <p:sp>
        <p:nvSpPr>
          <p:cNvPr id="64" name="Text 62"/>
          <p:cNvSpPr/>
          <p:nvPr/>
        </p:nvSpPr>
        <p:spPr>
          <a:xfrm>
            <a:off x="6766560" y="2011680"/>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22分</a:t>
            </a:r>
            <a:endParaRPr lang="en-US" sz="1050" dirty="0"/>
          </a:p>
        </p:txBody>
      </p:sp>
      <p:sp>
        <p:nvSpPr>
          <p:cNvPr id="65" name="Text 63"/>
          <p:cNvSpPr/>
          <p:nvPr/>
        </p:nvSpPr>
        <p:spPr>
          <a:xfrm>
            <a:off x="7543800" y="2011680"/>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変化なし</a:t>
            </a:r>
            <a:endParaRPr lang="en-US" sz="750" dirty="0"/>
          </a:p>
        </p:txBody>
      </p:sp>
      <p:sp>
        <p:nvSpPr>
          <p:cNvPr id="66" name="Shape 64"/>
          <p:cNvSpPr/>
          <p:nvPr/>
        </p:nvSpPr>
        <p:spPr>
          <a:xfrm>
            <a:off x="4754880" y="2304288"/>
            <a:ext cx="3977640" cy="260604"/>
          </a:xfrm>
          <a:prstGeom prst="rect">
            <a:avLst/>
          </a:prstGeom>
          <a:solidFill>
            <a:srgbClr val="FDE8DC"/>
          </a:solidFill>
          <a:ln w="19050">
            <a:solidFill>
              <a:srgbClr val="F26B1D"/>
            </a:solidFill>
            <a:prstDash val="solid"/>
          </a:ln>
        </p:spPr>
      </p:sp>
      <p:sp>
        <p:nvSpPr>
          <p:cNvPr id="67" name="Text 65"/>
          <p:cNvSpPr/>
          <p:nvPr/>
        </p:nvSpPr>
        <p:spPr>
          <a:xfrm>
            <a:off x="4828032" y="2304288"/>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④ 専用パレットへの詰め</a:t>
            </a:r>
            <a:endParaRPr lang="en-US" sz="900" dirty="0"/>
          </a:p>
        </p:txBody>
      </p:sp>
      <p:sp>
        <p:nvSpPr>
          <p:cNvPr id="68" name="Text 66"/>
          <p:cNvSpPr/>
          <p:nvPr/>
        </p:nvSpPr>
        <p:spPr>
          <a:xfrm>
            <a:off x="6766560" y="2304288"/>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209分</a:t>
            </a:r>
            <a:endParaRPr lang="en-US" sz="1050" dirty="0"/>
          </a:p>
        </p:txBody>
      </p:sp>
      <p:sp>
        <p:nvSpPr>
          <p:cNvPr id="69" name="Text 67"/>
          <p:cNvSpPr/>
          <p:nvPr/>
        </p:nvSpPr>
        <p:spPr>
          <a:xfrm>
            <a:off x="7543800" y="2304288"/>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新規（月平均）</a:t>
            </a:r>
            <a:endParaRPr lang="en-US" sz="750" dirty="0"/>
          </a:p>
        </p:txBody>
      </p:sp>
      <p:sp>
        <p:nvSpPr>
          <p:cNvPr id="70" name="Shape 68"/>
          <p:cNvSpPr/>
          <p:nvPr/>
        </p:nvSpPr>
        <p:spPr>
          <a:xfrm>
            <a:off x="4754880" y="2596896"/>
            <a:ext cx="3977640" cy="260604"/>
          </a:xfrm>
          <a:prstGeom prst="rect">
            <a:avLst/>
          </a:prstGeom>
          <a:solidFill>
            <a:srgbClr val="FDE8DC"/>
          </a:solidFill>
          <a:ln w="19050">
            <a:solidFill>
              <a:srgbClr val="F26B1D"/>
            </a:solidFill>
            <a:prstDash val="solid"/>
          </a:ln>
        </p:spPr>
      </p:sp>
      <p:sp>
        <p:nvSpPr>
          <p:cNvPr id="71" name="Text 69"/>
          <p:cNvSpPr/>
          <p:nvPr/>
        </p:nvSpPr>
        <p:spPr>
          <a:xfrm>
            <a:off x="4828032" y="2596896"/>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⑤ パレットの装填・入替</a:t>
            </a:r>
            <a:endParaRPr lang="en-US" sz="900" dirty="0"/>
          </a:p>
        </p:txBody>
      </p:sp>
      <p:sp>
        <p:nvSpPr>
          <p:cNvPr id="72" name="Text 70"/>
          <p:cNvSpPr/>
          <p:nvPr/>
        </p:nvSpPr>
        <p:spPr>
          <a:xfrm>
            <a:off x="6766560" y="2596896"/>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45分</a:t>
            </a:r>
            <a:endParaRPr lang="en-US" sz="1050" dirty="0"/>
          </a:p>
        </p:txBody>
      </p:sp>
      <p:sp>
        <p:nvSpPr>
          <p:cNvPr id="73" name="Text 71"/>
          <p:cNvSpPr/>
          <p:nvPr/>
        </p:nvSpPr>
        <p:spPr>
          <a:xfrm>
            <a:off x="7543800" y="2596896"/>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新規（9回×約5分）</a:t>
            </a:r>
            <a:endParaRPr lang="en-US" sz="750" dirty="0"/>
          </a:p>
        </p:txBody>
      </p:sp>
      <p:sp>
        <p:nvSpPr>
          <p:cNvPr id="74" name="Shape 72"/>
          <p:cNvSpPr/>
          <p:nvPr/>
        </p:nvSpPr>
        <p:spPr>
          <a:xfrm>
            <a:off x="4754880" y="2889504"/>
            <a:ext cx="3977640" cy="260604"/>
          </a:xfrm>
          <a:prstGeom prst="rect">
            <a:avLst/>
          </a:prstGeom>
          <a:solidFill>
            <a:srgbClr val="FDE8DC"/>
          </a:solidFill>
          <a:ln w="19050">
            <a:solidFill>
              <a:srgbClr val="F26B1D"/>
            </a:solidFill>
            <a:prstDash val="solid"/>
          </a:ln>
        </p:spPr>
      </p:sp>
      <p:sp>
        <p:nvSpPr>
          <p:cNvPr id="75" name="Text 73"/>
          <p:cNvSpPr/>
          <p:nvPr/>
        </p:nvSpPr>
        <p:spPr>
          <a:xfrm>
            <a:off x="4828032" y="2889504"/>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⑥ パレットの型替え</a:t>
            </a:r>
            <a:endParaRPr lang="en-US" sz="900" dirty="0"/>
          </a:p>
        </p:txBody>
      </p:sp>
      <p:sp>
        <p:nvSpPr>
          <p:cNvPr id="76" name="Text 74"/>
          <p:cNvSpPr/>
          <p:nvPr/>
        </p:nvSpPr>
        <p:spPr>
          <a:xfrm>
            <a:off x="6766560" y="2889504"/>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20分</a:t>
            </a:r>
            <a:endParaRPr lang="en-US" sz="1050" dirty="0"/>
          </a:p>
        </p:txBody>
      </p:sp>
      <p:sp>
        <p:nvSpPr>
          <p:cNvPr id="77" name="Text 75"/>
          <p:cNvSpPr/>
          <p:nvPr/>
        </p:nvSpPr>
        <p:spPr>
          <a:xfrm>
            <a:off x="7543800" y="2889504"/>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新規（仮）</a:t>
            </a:r>
            <a:endParaRPr lang="en-US" sz="750" dirty="0"/>
          </a:p>
        </p:txBody>
      </p:sp>
      <p:sp>
        <p:nvSpPr>
          <p:cNvPr id="78" name="Shape 76"/>
          <p:cNvSpPr/>
          <p:nvPr/>
        </p:nvSpPr>
        <p:spPr>
          <a:xfrm>
            <a:off x="4754880" y="3182112"/>
            <a:ext cx="3977640" cy="260604"/>
          </a:xfrm>
          <a:prstGeom prst="rect">
            <a:avLst/>
          </a:prstGeom>
          <a:solidFill>
            <a:srgbClr val="FDE8DC"/>
          </a:solidFill>
          <a:ln w="19050">
            <a:solidFill>
              <a:srgbClr val="F26B1D"/>
            </a:solidFill>
            <a:prstDash val="solid"/>
          </a:ln>
        </p:spPr>
      </p:sp>
      <p:sp>
        <p:nvSpPr>
          <p:cNvPr id="79" name="Text 77"/>
          <p:cNvSpPr/>
          <p:nvPr/>
        </p:nvSpPr>
        <p:spPr>
          <a:xfrm>
            <a:off x="4828032" y="3182112"/>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⑦ 装置の始業点検・清掃</a:t>
            </a:r>
            <a:endParaRPr lang="en-US" sz="900" dirty="0"/>
          </a:p>
        </p:txBody>
      </p:sp>
      <p:sp>
        <p:nvSpPr>
          <p:cNvPr id="80" name="Text 78"/>
          <p:cNvSpPr/>
          <p:nvPr/>
        </p:nvSpPr>
        <p:spPr>
          <a:xfrm>
            <a:off x="6766560" y="3182112"/>
            <a:ext cx="713232" cy="260604"/>
          </a:xfrm>
          <a:prstGeom prst="rect">
            <a:avLst/>
          </a:prstGeom>
          <a:noFill/>
          <a:ln/>
        </p:spPr>
        <p:txBody>
          <a:bodyPr wrap="square" lIns="0" tIns="0" rIns="0" bIns="0" rtlCol="0" anchor="ctr"/>
          <a:lstStyle/>
          <a:p>
            <a:pPr marL="0" indent="0" algn="r">
              <a:buNone/>
            </a:pPr>
            <a:r>
              <a:rPr lang="en-US" sz="1050" b="1" dirty="0">
                <a:solidFill>
                  <a:srgbClr val="B84A0A"/>
                </a:solidFill>
                <a:latin typeface="BIZ UDPGothic" pitchFamily="34" charset="0"/>
                <a:ea typeface="BIZ UDPGothic" pitchFamily="34" charset="-122"/>
                <a:cs typeface="BIZ UDPGothic" pitchFamily="34" charset="-120"/>
              </a:rPr>
              <a:t>10分</a:t>
            </a:r>
            <a:endParaRPr lang="en-US" sz="1050" dirty="0"/>
          </a:p>
        </p:txBody>
      </p:sp>
      <p:sp>
        <p:nvSpPr>
          <p:cNvPr id="81" name="Text 79"/>
          <p:cNvSpPr/>
          <p:nvPr/>
        </p:nvSpPr>
        <p:spPr>
          <a:xfrm>
            <a:off x="7543800" y="3182112"/>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新規（仮）</a:t>
            </a:r>
            <a:endParaRPr lang="en-US" sz="750" dirty="0"/>
          </a:p>
        </p:txBody>
      </p:sp>
      <p:sp>
        <p:nvSpPr>
          <p:cNvPr id="82" name="Shape 80"/>
          <p:cNvSpPr/>
          <p:nvPr/>
        </p:nvSpPr>
        <p:spPr>
          <a:xfrm>
            <a:off x="4754880" y="3474720"/>
            <a:ext cx="3977640" cy="260604"/>
          </a:xfrm>
          <a:prstGeom prst="rect">
            <a:avLst/>
          </a:prstGeom>
          <a:solidFill>
            <a:srgbClr val="EEF4F5"/>
          </a:solidFill>
          <a:ln w="9525">
            <a:solidFill>
              <a:srgbClr val="C9D3D8"/>
            </a:solidFill>
            <a:prstDash val="solid"/>
          </a:ln>
        </p:spPr>
      </p:sp>
      <p:sp>
        <p:nvSpPr>
          <p:cNvPr id="83" name="Text 81"/>
          <p:cNvSpPr/>
          <p:nvPr/>
        </p:nvSpPr>
        <p:spPr>
          <a:xfrm>
            <a:off x="4828032" y="3474720"/>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⑧ 製袋機の運転・監視</a:t>
            </a:r>
            <a:endParaRPr lang="en-US" sz="900" dirty="0"/>
          </a:p>
        </p:txBody>
      </p:sp>
      <p:sp>
        <p:nvSpPr>
          <p:cNvPr id="84" name="Text 82"/>
          <p:cNvSpPr/>
          <p:nvPr/>
        </p:nvSpPr>
        <p:spPr>
          <a:xfrm>
            <a:off x="6766560" y="3474720"/>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1,050分</a:t>
            </a:r>
            <a:endParaRPr lang="en-US" sz="1050" dirty="0"/>
          </a:p>
        </p:txBody>
      </p:sp>
      <p:sp>
        <p:nvSpPr>
          <p:cNvPr id="85" name="Text 83"/>
          <p:cNvSpPr/>
          <p:nvPr/>
        </p:nvSpPr>
        <p:spPr>
          <a:xfrm>
            <a:off x="7543800" y="3474720"/>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供給はロボット（人手0分）</a:t>
            </a:r>
            <a:endParaRPr lang="en-US" sz="750" dirty="0"/>
          </a:p>
        </p:txBody>
      </p:sp>
      <p:sp>
        <p:nvSpPr>
          <p:cNvPr id="86" name="Shape 84"/>
          <p:cNvSpPr/>
          <p:nvPr/>
        </p:nvSpPr>
        <p:spPr>
          <a:xfrm>
            <a:off x="4754880" y="3767328"/>
            <a:ext cx="3977640" cy="260604"/>
          </a:xfrm>
          <a:prstGeom prst="rect">
            <a:avLst/>
          </a:prstGeom>
          <a:solidFill>
            <a:srgbClr val="EEF4F5"/>
          </a:solidFill>
          <a:ln w="9525">
            <a:solidFill>
              <a:srgbClr val="C9D3D8"/>
            </a:solidFill>
            <a:prstDash val="solid"/>
          </a:ln>
        </p:spPr>
      </p:sp>
      <p:sp>
        <p:nvSpPr>
          <p:cNvPr id="87" name="Text 85"/>
          <p:cNvSpPr/>
          <p:nvPr/>
        </p:nvSpPr>
        <p:spPr>
          <a:xfrm>
            <a:off x="4828032" y="3767328"/>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⑨ 充填（充填室）</a:t>
            </a:r>
            <a:endParaRPr lang="en-US" sz="900" dirty="0"/>
          </a:p>
        </p:txBody>
      </p:sp>
      <p:sp>
        <p:nvSpPr>
          <p:cNvPr id="88" name="Text 86"/>
          <p:cNvSpPr/>
          <p:nvPr/>
        </p:nvSpPr>
        <p:spPr>
          <a:xfrm>
            <a:off x="6766560" y="3767328"/>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1,050分</a:t>
            </a:r>
            <a:endParaRPr lang="en-US" sz="1050" dirty="0"/>
          </a:p>
        </p:txBody>
      </p:sp>
      <p:sp>
        <p:nvSpPr>
          <p:cNvPr id="89" name="Text 87"/>
          <p:cNvSpPr/>
          <p:nvPr/>
        </p:nvSpPr>
        <p:spPr>
          <a:xfrm>
            <a:off x="7543800" y="3767328"/>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変化なし</a:t>
            </a:r>
            <a:endParaRPr lang="en-US" sz="750" dirty="0"/>
          </a:p>
        </p:txBody>
      </p:sp>
      <p:sp>
        <p:nvSpPr>
          <p:cNvPr id="90" name="Shape 88"/>
          <p:cNvSpPr/>
          <p:nvPr/>
        </p:nvSpPr>
        <p:spPr>
          <a:xfrm>
            <a:off x="4754880" y="4059936"/>
            <a:ext cx="3977640" cy="260604"/>
          </a:xfrm>
          <a:prstGeom prst="rect">
            <a:avLst/>
          </a:prstGeom>
          <a:solidFill>
            <a:srgbClr val="EEF4F5"/>
          </a:solidFill>
          <a:ln w="9525">
            <a:solidFill>
              <a:srgbClr val="C9D3D8"/>
            </a:solidFill>
            <a:prstDash val="solid"/>
          </a:ln>
        </p:spPr>
      </p:sp>
      <p:sp>
        <p:nvSpPr>
          <p:cNvPr id="91" name="Text 89"/>
          <p:cNvSpPr/>
          <p:nvPr/>
        </p:nvSpPr>
        <p:spPr>
          <a:xfrm>
            <a:off x="4828032" y="4059936"/>
            <a:ext cx="1965960" cy="260604"/>
          </a:xfrm>
          <a:prstGeom prst="rect">
            <a:avLst/>
          </a:prstGeom>
          <a:noFill/>
          <a:ln/>
        </p:spPr>
        <p:txBody>
          <a:bodyPr wrap="square" lIns="0" tIns="0" rIns="0" bIns="0" rtlCol="0" anchor="ctr"/>
          <a:lstStyle/>
          <a:p>
            <a:pPr marL="0" indent="0">
              <a:buNone/>
            </a:pPr>
            <a:r>
              <a:rPr lang="en-US" sz="900" b="1" dirty="0">
                <a:solidFill>
                  <a:srgbClr val="1F2A30"/>
                </a:solidFill>
                <a:latin typeface="BIZ UDPGothic" pitchFamily="34" charset="0"/>
                <a:ea typeface="BIZ UDPGothic" pitchFamily="34" charset="-122"/>
                <a:cs typeface="BIZ UDPGothic" pitchFamily="34" charset="-120"/>
              </a:rPr>
              <a:t>⑩ 包装・箱詰め</a:t>
            </a:r>
            <a:endParaRPr lang="en-US" sz="900" dirty="0"/>
          </a:p>
        </p:txBody>
      </p:sp>
      <p:sp>
        <p:nvSpPr>
          <p:cNvPr id="92" name="Text 90"/>
          <p:cNvSpPr/>
          <p:nvPr/>
        </p:nvSpPr>
        <p:spPr>
          <a:xfrm>
            <a:off x="6766560" y="4059936"/>
            <a:ext cx="713232" cy="260604"/>
          </a:xfrm>
          <a:prstGeom prst="rect">
            <a:avLst/>
          </a:prstGeom>
          <a:noFill/>
          <a:ln/>
        </p:spPr>
        <p:txBody>
          <a:bodyPr wrap="square" lIns="0" tIns="0" rIns="0" bIns="0" rtlCol="0" anchor="ctr"/>
          <a:lstStyle/>
          <a:p>
            <a:pPr marL="0" indent="0" algn="r">
              <a:buNone/>
            </a:pPr>
            <a:r>
              <a:rPr lang="en-US" sz="1050" b="1" dirty="0">
                <a:solidFill>
                  <a:srgbClr val="0F4C5C"/>
                </a:solidFill>
                <a:latin typeface="BIZ UDPGothic" pitchFamily="34" charset="0"/>
                <a:ea typeface="BIZ UDPGothic" pitchFamily="34" charset="-122"/>
                <a:cs typeface="BIZ UDPGothic" pitchFamily="34" charset="-120"/>
              </a:rPr>
              <a:t>2,625分</a:t>
            </a:r>
            <a:endParaRPr lang="en-US" sz="1050" dirty="0"/>
          </a:p>
        </p:txBody>
      </p:sp>
      <p:sp>
        <p:nvSpPr>
          <p:cNvPr id="93" name="Text 91"/>
          <p:cNvSpPr/>
          <p:nvPr/>
        </p:nvSpPr>
        <p:spPr>
          <a:xfrm>
            <a:off x="7543800" y="4059936"/>
            <a:ext cx="1161288" cy="260604"/>
          </a:xfrm>
          <a:prstGeom prst="rect">
            <a:avLst/>
          </a:prstGeom>
          <a:noFill/>
          <a:ln/>
        </p:spPr>
        <p:txBody>
          <a:bodyPr wrap="square" lIns="0" tIns="0" rIns="0" bIns="0" rtlCol="0" anchor="ctr"/>
          <a:lstStyle/>
          <a:p>
            <a:pPr marL="0" indent="0">
              <a:buNone/>
            </a:pPr>
            <a:r>
              <a:rPr lang="en-US" sz="750" dirty="0">
                <a:solidFill>
                  <a:srgbClr val="5B6770"/>
                </a:solidFill>
                <a:latin typeface="BIZ UDPGothic" pitchFamily="34" charset="0"/>
                <a:ea typeface="BIZ UDPGothic" pitchFamily="34" charset="-122"/>
                <a:cs typeface="BIZ UDPGothic" pitchFamily="34" charset="-120"/>
              </a:rPr>
              <a:t>変化なし</a:t>
            </a:r>
            <a:endParaRPr lang="en-US" sz="750" dirty="0"/>
          </a:p>
        </p:txBody>
      </p:sp>
      <p:sp>
        <p:nvSpPr>
          <p:cNvPr id="94" name="Shape 92"/>
          <p:cNvSpPr/>
          <p:nvPr/>
        </p:nvSpPr>
        <p:spPr>
          <a:xfrm>
            <a:off x="320040" y="4480560"/>
            <a:ext cx="8503920" cy="310896"/>
          </a:xfrm>
          <a:prstGeom prst="rect">
            <a:avLst/>
          </a:prstGeom>
          <a:solidFill>
            <a:srgbClr val="EEF4F5"/>
          </a:solidFill>
          <a:ln w="12700">
            <a:solidFill>
              <a:srgbClr val="D5DEE2"/>
            </a:solidFill>
            <a:prstDash val="solid"/>
          </a:ln>
        </p:spPr>
      </p:sp>
      <p:sp>
        <p:nvSpPr>
          <p:cNvPr id="95" name="Text 93"/>
          <p:cNvSpPr/>
          <p:nvPr/>
        </p:nvSpPr>
        <p:spPr>
          <a:xfrm>
            <a:off x="411480" y="4480560"/>
            <a:ext cx="8321040" cy="310896"/>
          </a:xfrm>
          <a:prstGeom prst="rect">
            <a:avLst/>
          </a:prstGeom>
          <a:noFill/>
          <a:ln/>
        </p:spPr>
        <p:txBody>
          <a:bodyPr wrap="square" lIns="0" tIns="0" rIns="0" bIns="0" rtlCol="0" anchor="ctr"/>
          <a:lstStyle/>
          <a:p>
            <a:pPr marL="0" indent="0">
              <a:buNone/>
            </a:pPr>
            <a:r>
              <a:rPr lang="en-US" sz="1000" b="1" dirty="0">
                <a:solidFill>
                  <a:srgbClr val="0F4C5C"/>
                </a:solidFill>
                <a:latin typeface="BIZ UDPGothic" pitchFamily="34" charset="0"/>
                <a:ea typeface="BIZ UDPGothic" pitchFamily="34" charset="-122"/>
                <a:cs typeface="BIZ UDPGothic" pitchFamily="34" charset="-120"/>
              </a:rPr>
              <a:t>別紙1の計算：</a:t>
            </a:r>
            <a:r>
              <a:rPr lang="en-US" sz="1000" dirty="0">
                <a:solidFill>
                  <a:srgbClr val="1F2A30"/>
                </a:solidFill>
                <a:latin typeface="BIZ UDPGothic" pitchFamily="34" charset="0"/>
                <a:ea typeface="BIZ UDPGothic" pitchFamily="34" charset="-122"/>
                <a:cs typeface="BIZ UDPGothic" pitchFamily="34" charset="-120"/>
              </a:rPr>
              <a:t>削減 964分／日（16.1時間） − 発生 284分／日（4.7時間） ＝ 680分／日（11.3時間）　</a:t>
            </a:r>
            <a:r>
              <a:rPr lang="en-US" sz="1000" b="1" dirty="0">
                <a:solidFill>
                  <a:srgbClr val="B84A0A"/>
                </a:solidFill>
                <a:latin typeface="BIZ UDPGothic" pitchFamily="34" charset="0"/>
                <a:ea typeface="BIZ UDPGothic" pitchFamily="34" charset="-122"/>
                <a:cs typeface="BIZ UDPGothic" pitchFamily="34" charset="-120"/>
              </a:rPr>
              <a:t>省力化指数 0.71</a:t>
            </a:r>
            <a:r>
              <a:rPr lang="en-US" sz="1000" dirty="0">
                <a:solidFill>
                  <a:srgbClr val="5B6770"/>
                </a:solidFill>
                <a:latin typeface="BIZ UDPGothic" pitchFamily="34" charset="0"/>
                <a:ea typeface="BIZ UDPGothic" pitchFamily="34" charset="-122"/>
                <a:cs typeface="BIZ UDPGothic" pitchFamily="34" charset="-120"/>
              </a:rPr>
              <a:t>（仮置き込み）</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5C"/>
          </a:solidFill>
          <a:ln w="12700">
            <a:solidFill>
              <a:srgbClr val="0F4C5C"/>
            </a:solidFill>
            <a:prstDash val="solid"/>
          </a:ln>
        </p:spPr>
      </p:sp>
      <p:sp>
        <p:nvSpPr>
          <p:cNvPr id="3" name="Shape 1"/>
          <p:cNvSpPr/>
          <p:nvPr/>
        </p:nvSpPr>
        <p:spPr>
          <a:xfrm>
            <a:off x="320040" y="182880"/>
            <a:ext cx="109728" cy="320040"/>
          </a:xfrm>
          <a:prstGeom prst="rect">
            <a:avLst/>
          </a:prstGeom>
          <a:solidFill>
            <a:srgbClr val="F26B1D"/>
          </a:solidFill>
          <a:ln w="12700">
            <a:solidFill>
              <a:srgbClr val="F26B1D"/>
            </a:solidFill>
            <a:prstDash val="solid"/>
          </a:ln>
        </p:spPr>
      </p:sp>
      <p:sp>
        <p:nvSpPr>
          <p:cNvPr id="4" name="Text 2"/>
          <p:cNvSpPr/>
          <p:nvPr/>
        </p:nvSpPr>
        <p:spPr>
          <a:xfrm>
            <a:off x="530352" y="73152"/>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BIZ UDPGothic" pitchFamily="34" charset="0"/>
                <a:ea typeface="BIZ UDPGothic" pitchFamily="34" charset="-122"/>
                <a:cs typeface="BIZ UDPGothic" pitchFamily="34" charset="-120"/>
              </a:rPr>
              <a:t>5. 人の配置・担当人数・工数の変化（シフト別）</a:t>
            </a:r>
            <a:endParaRPr lang="en-US" sz="2200" dirty="0"/>
          </a:p>
        </p:txBody>
      </p:sp>
      <p:sp>
        <p:nvSpPr>
          <p:cNvPr id="5" name="Text 3"/>
          <p:cNvSpPr/>
          <p:nvPr/>
        </p:nvSpPr>
        <p:spPr>
          <a:xfrm>
            <a:off x="320040" y="731520"/>
            <a:ext cx="8503920" cy="310896"/>
          </a:xfrm>
          <a:prstGeom prst="rect">
            <a:avLst/>
          </a:prstGeom>
          <a:noFill/>
          <a:ln/>
        </p:spPr>
        <p:txBody>
          <a:bodyPr wrap="square" lIns="0" tIns="0" rIns="0" bIns="0" rtlCol="0" anchor="ctr"/>
          <a:lstStyle/>
          <a:p>
            <a:pPr marL="0" indent="0">
              <a:buNone/>
            </a:pPr>
            <a:r>
              <a:rPr lang="en-US" sz="1100" dirty="0">
                <a:solidFill>
                  <a:srgbClr val="5B6770"/>
                </a:solidFill>
                <a:latin typeface="BIZ UDPGothic" pitchFamily="34" charset="0"/>
                <a:ea typeface="BIZ UDPGothic" pitchFamily="34" charset="-122"/>
                <a:cs typeface="BIZ UDPGothic" pitchFamily="34" charset="-120"/>
              </a:rPr>
              <a:t>投入担当の作業（現状）と、それに代わる作業（導入後）の1日の時間。導入後は「1品種の日／2品種の日」の順です。</a:t>
            </a:r>
            <a:endParaRPr lang="en-US" sz="1100" dirty="0"/>
          </a:p>
        </p:txBody>
      </p:sp>
      <p:sp>
        <p:nvSpPr>
          <p:cNvPr id="6" name="Text 4"/>
          <p:cNvSpPr/>
          <p:nvPr/>
        </p:nvSpPr>
        <p:spPr>
          <a:xfrm>
            <a:off x="320040" y="4828032"/>
            <a:ext cx="6400800" cy="228600"/>
          </a:xfrm>
          <a:prstGeom prst="rect">
            <a:avLst/>
          </a:prstGeom>
          <a:noFill/>
          <a:ln/>
        </p:spPr>
        <p:txBody>
          <a:bodyPr wrap="square" lIns="0" tIns="0" rIns="0" bIns="0" rtlCol="0" anchor="ctr"/>
          <a:lstStyle/>
          <a:p>
            <a:pPr marL="0" indent="0">
              <a:buNone/>
            </a:pPr>
            <a:r>
              <a:rPr lang="en-US" sz="900" dirty="0">
                <a:solidFill>
                  <a:srgbClr val="8A9BA8"/>
                </a:solidFill>
                <a:latin typeface="BIZ UDPGothic" pitchFamily="34" charset="0"/>
                <a:ea typeface="BIZ UDPGothic" pitchFamily="34" charset="-122"/>
                <a:cs typeface="BIZ UDPGothic" pitchFamily="34" charset="-120"/>
              </a:rPr>
              <a:t>株式会社トンボ飲料様　Gライン パウチ自動供給装置の導入</a:t>
            </a:r>
            <a:endParaRPr lang="en-US" sz="900" dirty="0"/>
          </a:p>
        </p:txBody>
      </p:sp>
      <p:sp>
        <p:nvSpPr>
          <p:cNvPr id="7" name="Text 5"/>
          <p:cNvSpPr/>
          <p:nvPr/>
        </p:nvSpPr>
        <p:spPr>
          <a:xfrm>
            <a:off x="8321040" y="4828032"/>
            <a:ext cx="502920" cy="228600"/>
          </a:xfrm>
          <a:prstGeom prst="rect">
            <a:avLst/>
          </a:prstGeom>
          <a:noFill/>
          <a:ln/>
        </p:spPr>
        <p:txBody>
          <a:bodyPr wrap="square" lIns="0" tIns="0" rIns="0" bIns="0" rtlCol="0" anchor="ctr"/>
          <a:lstStyle/>
          <a:p>
            <a:pPr marL="0" indent="0" algn="r">
              <a:buNone/>
            </a:pPr>
            <a:r>
              <a:rPr lang="en-US" sz="900" dirty="0">
                <a:solidFill>
                  <a:srgbClr val="8A9BA8"/>
                </a:solidFill>
                <a:latin typeface="BIZ UDPGothic" pitchFamily="34" charset="0"/>
                <a:ea typeface="BIZ UDPGothic" pitchFamily="34" charset="-122"/>
                <a:cs typeface="BIZ UDPGothic" pitchFamily="34" charset="-120"/>
              </a:rPr>
              <a:t>6</a:t>
            </a:r>
            <a:endParaRPr lang="en-US" sz="900" dirty="0"/>
          </a:p>
        </p:txBody>
      </p:sp>
      <p:sp>
        <p:nvSpPr>
          <p:cNvPr id="8" name="Shape 6"/>
          <p:cNvSpPr/>
          <p:nvPr/>
        </p:nvSpPr>
        <p:spPr>
          <a:xfrm>
            <a:off x="320040" y="1097280"/>
            <a:ext cx="2724912" cy="676656"/>
          </a:xfrm>
          <a:prstGeom prst="rect">
            <a:avLst/>
          </a:prstGeom>
          <a:solidFill>
            <a:srgbClr val="EEF4F5"/>
          </a:solidFill>
          <a:ln w="12700">
            <a:solidFill>
              <a:srgbClr val="D5DEE2"/>
            </a:solidFill>
            <a:prstDash val="solid"/>
          </a:ln>
        </p:spPr>
      </p:sp>
      <p:sp>
        <p:nvSpPr>
          <p:cNvPr id="9" name="Text 7"/>
          <p:cNvSpPr/>
          <p:nvPr/>
        </p:nvSpPr>
        <p:spPr>
          <a:xfrm>
            <a:off x="457200" y="1115568"/>
            <a:ext cx="2468880" cy="347472"/>
          </a:xfrm>
          <a:prstGeom prst="rect">
            <a:avLst/>
          </a:prstGeom>
          <a:noFill/>
          <a:ln/>
        </p:spPr>
        <p:txBody>
          <a:bodyPr wrap="square" lIns="0" tIns="0" rIns="0" bIns="0" rtlCol="0" anchor="ctr"/>
          <a:lstStyle/>
          <a:p>
            <a:pPr marL="0" indent="0">
              <a:buNone/>
            </a:pPr>
            <a:r>
              <a:rPr lang="en-US" sz="1700" b="1" dirty="0">
                <a:solidFill>
                  <a:srgbClr val="B84A0A"/>
                </a:solidFill>
                <a:latin typeface="BIZ UDPGothic" pitchFamily="34" charset="0"/>
                <a:ea typeface="BIZ UDPGothic" pitchFamily="34" charset="-122"/>
                <a:cs typeface="BIZ UDPGothic" pitchFamily="34" charset="-120"/>
              </a:rPr>
              <a:t>1,050分 → 370分</a:t>
            </a:r>
            <a:endParaRPr lang="en-US" sz="1700" dirty="0"/>
          </a:p>
        </p:txBody>
      </p:sp>
      <p:sp>
        <p:nvSpPr>
          <p:cNvPr id="10" name="Text 8"/>
          <p:cNvSpPr/>
          <p:nvPr/>
        </p:nvSpPr>
        <p:spPr>
          <a:xfrm>
            <a:off x="457200" y="1444752"/>
            <a:ext cx="2468880" cy="310896"/>
          </a:xfrm>
          <a:prstGeom prst="rect">
            <a:avLst/>
          </a:prstGeom>
          <a:noFill/>
          <a:ln/>
        </p:spPr>
        <p:txBody>
          <a:bodyPr wrap="square" lIns="0" tIns="0" rIns="0" bIns="0" rtlCol="0" anchor="t"/>
          <a:lstStyle/>
          <a:p>
            <a:pPr marL="0" indent="0">
              <a:buNone/>
            </a:pPr>
            <a:r>
              <a:rPr lang="en-US" sz="800" dirty="0">
                <a:solidFill>
                  <a:srgbClr val="5B6770"/>
                </a:solidFill>
                <a:latin typeface="BIZ UDPGothic" pitchFamily="34" charset="0"/>
                <a:ea typeface="BIZ UDPGothic" pitchFamily="34" charset="-122"/>
                <a:cs typeface="BIZ UDPGothic" pitchFamily="34" charset="-120"/>
              </a:rPr>
              <a:t>投入担当の作業→導入後の関連作業（月平均。うち仮置き51分）</a:t>
            </a:r>
            <a:endParaRPr lang="en-US" sz="800" dirty="0"/>
          </a:p>
        </p:txBody>
      </p:sp>
      <p:sp>
        <p:nvSpPr>
          <p:cNvPr id="11" name="Shape 9"/>
          <p:cNvSpPr/>
          <p:nvPr/>
        </p:nvSpPr>
        <p:spPr>
          <a:xfrm>
            <a:off x="3209544" y="1097280"/>
            <a:ext cx="2724912" cy="676656"/>
          </a:xfrm>
          <a:prstGeom prst="rect">
            <a:avLst/>
          </a:prstGeom>
          <a:solidFill>
            <a:srgbClr val="EEF4F5"/>
          </a:solidFill>
          <a:ln w="12700">
            <a:solidFill>
              <a:srgbClr val="D5DEE2"/>
            </a:solidFill>
            <a:prstDash val="solid"/>
          </a:ln>
        </p:spPr>
      </p:sp>
      <p:sp>
        <p:nvSpPr>
          <p:cNvPr id="12" name="Text 10"/>
          <p:cNvSpPr/>
          <p:nvPr/>
        </p:nvSpPr>
        <p:spPr>
          <a:xfrm>
            <a:off x="3346704" y="1115568"/>
            <a:ext cx="2468880" cy="347472"/>
          </a:xfrm>
          <a:prstGeom prst="rect">
            <a:avLst/>
          </a:prstGeom>
          <a:noFill/>
          <a:ln/>
        </p:spPr>
        <p:txBody>
          <a:bodyPr wrap="square" lIns="0" tIns="0" rIns="0" bIns="0" rtlCol="0" anchor="ctr"/>
          <a:lstStyle/>
          <a:p>
            <a:pPr marL="0" indent="0">
              <a:buNone/>
            </a:pPr>
            <a:r>
              <a:rPr lang="en-US" sz="1700" b="1" dirty="0">
                <a:solidFill>
                  <a:srgbClr val="B84A0A"/>
                </a:solidFill>
                <a:latin typeface="BIZ UDPGothic" pitchFamily="34" charset="0"/>
                <a:ea typeface="BIZ UDPGothic" pitchFamily="34" charset="-122"/>
                <a:cs typeface="BIZ UDPGothic" pitchFamily="34" charset="-120"/>
              </a:rPr>
              <a:t>約680分／日 創出</a:t>
            </a:r>
            <a:endParaRPr lang="en-US" sz="1700" dirty="0"/>
          </a:p>
        </p:txBody>
      </p:sp>
      <p:sp>
        <p:nvSpPr>
          <p:cNvPr id="13" name="Text 11"/>
          <p:cNvSpPr/>
          <p:nvPr/>
        </p:nvSpPr>
        <p:spPr>
          <a:xfrm>
            <a:off x="3346704" y="1444752"/>
            <a:ext cx="2468880" cy="310896"/>
          </a:xfrm>
          <a:prstGeom prst="rect">
            <a:avLst/>
          </a:prstGeom>
          <a:noFill/>
          <a:ln/>
        </p:spPr>
        <p:txBody>
          <a:bodyPr wrap="square" lIns="0" tIns="0" rIns="0" bIns="0" rtlCol="0" anchor="t"/>
          <a:lstStyle/>
          <a:p>
            <a:pPr marL="0" indent="0">
              <a:buNone/>
            </a:pPr>
            <a:r>
              <a:rPr lang="en-US" sz="800" dirty="0">
                <a:solidFill>
                  <a:srgbClr val="5B6770"/>
                </a:solidFill>
                <a:latin typeface="BIZ UDPGothic" pitchFamily="34" charset="0"/>
                <a:ea typeface="BIZ UDPGothic" pitchFamily="34" charset="-122"/>
                <a:cs typeface="BIZ UDPGothic" pitchFamily="34" charset="-120"/>
              </a:rPr>
              <a:t>≒ 11.3時間／日。主に中番と遅番で創出</a:t>
            </a:r>
            <a:endParaRPr lang="en-US" sz="800" dirty="0"/>
          </a:p>
        </p:txBody>
      </p:sp>
      <p:sp>
        <p:nvSpPr>
          <p:cNvPr id="14" name="Shape 12"/>
          <p:cNvSpPr/>
          <p:nvPr/>
        </p:nvSpPr>
        <p:spPr>
          <a:xfrm>
            <a:off x="6099048" y="1097280"/>
            <a:ext cx="2724912" cy="676656"/>
          </a:xfrm>
          <a:prstGeom prst="rect">
            <a:avLst/>
          </a:prstGeom>
          <a:solidFill>
            <a:srgbClr val="EEF4F5"/>
          </a:solidFill>
          <a:ln w="12700">
            <a:solidFill>
              <a:srgbClr val="D5DEE2"/>
            </a:solidFill>
            <a:prstDash val="solid"/>
          </a:ln>
        </p:spPr>
      </p:sp>
      <p:sp>
        <p:nvSpPr>
          <p:cNvPr id="15" name="Text 13"/>
          <p:cNvSpPr/>
          <p:nvPr/>
        </p:nvSpPr>
        <p:spPr>
          <a:xfrm>
            <a:off x="6236208" y="1115568"/>
            <a:ext cx="2468880" cy="347472"/>
          </a:xfrm>
          <a:prstGeom prst="rect">
            <a:avLst/>
          </a:prstGeom>
          <a:noFill/>
          <a:ln/>
        </p:spPr>
        <p:txBody>
          <a:bodyPr wrap="square" lIns="0" tIns="0" rIns="0" bIns="0" rtlCol="0" anchor="ctr"/>
          <a:lstStyle/>
          <a:p>
            <a:pPr marL="0" indent="0">
              <a:buNone/>
            </a:pPr>
            <a:r>
              <a:rPr lang="en-US" sz="1700" b="1" dirty="0">
                <a:solidFill>
                  <a:srgbClr val="B84A0A"/>
                </a:solidFill>
                <a:latin typeface="BIZ UDPGothic" pitchFamily="34" charset="0"/>
                <a:ea typeface="BIZ UDPGothic" pitchFamily="34" charset="-122"/>
                <a:cs typeface="BIZ UDPGothic" pitchFamily="34" charset="-120"/>
              </a:rPr>
              <a:t>省力化指数 0.71</a:t>
            </a:r>
            <a:endParaRPr lang="en-US" sz="1700" dirty="0"/>
          </a:p>
        </p:txBody>
      </p:sp>
      <p:sp>
        <p:nvSpPr>
          <p:cNvPr id="16" name="Text 14"/>
          <p:cNvSpPr/>
          <p:nvPr/>
        </p:nvSpPr>
        <p:spPr>
          <a:xfrm>
            <a:off x="6236208" y="1444752"/>
            <a:ext cx="2468880" cy="310896"/>
          </a:xfrm>
          <a:prstGeom prst="rect">
            <a:avLst/>
          </a:prstGeom>
          <a:noFill/>
          <a:ln/>
        </p:spPr>
        <p:txBody>
          <a:bodyPr wrap="square" lIns="0" tIns="0" rIns="0" bIns="0" rtlCol="0" anchor="t"/>
          <a:lstStyle/>
          <a:p>
            <a:pPr marL="0" indent="0">
              <a:buNone/>
            </a:pPr>
            <a:r>
              <a:rPr lang="en-US" sz="800" dirty="0">
                <a:solidFill>
                  <a:srgbClr val="5B6770"/>
                </a:solidFill>
                <a:latin typeface="BIZ UDPGothic" pitchFamily="34" charset="0"/>
                <a:ea typeface="BIZ UDPGothic" pitchFamily="34" charset="-122"/>
                <a:cs typeface="BIZ UDPGothic" pitchFamily="34" charset="-120"/>
              </a:rPr>
              <a:t>（964−284）÷964。別紙1の自動計算と同じ</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1865376"/>
          <a:ext cx="8503920" cy="2651760"/>
        </p:xfrm>
        <a:graphic>
          <a:graphicData uri="http://schemas.openxmlformats.org/drawingml/2006/table">
            <a:tbl>
              <a:tblPr/>
              <a:tblGrid>
                <a:gridCol w="10972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tblGrid>
              <a:tr h="329184">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シフト・作業</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時間帯</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現状の担当</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導入後の担当</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現状</a:t>
                      </a:r>
                      <a:endParaRPr lang="en-US" sz="850" dirty="0">
                        <a:latin typeface="BIZ UDPGothic" charset="0"/>
                        <a:ea typeface="BIZ UDPGothic" charset="0"/>
                        <a:cs typeface="BIZ UDPGothic" charset="0"/>
                      </a:endParaRPr>
                    </a:p>
                    <a:p>
                      <a:pPr marL="0" indent="0" algn="ctr">
                        <a:buNone/>
                      </a:pPr>
                      <a:r>
                        <a:rPr lang="en-US" sz="850" b="1" dirty="0">
                          <a:solidFill>
                            <a:srgbClr val="FFFFFF"/>
                          </a:solidFill>
                          <a:latin typeface="BIZ UDPGothic" pitchFamily="34" charset="0"/>
                          <a:ea typeface="BIZ UDPGothic" pitchFamily="34" charset="-122"/>
                          <a:cs typeface="BIZ UDPGothic" pitchFamily="34" charset="-120"/>
                        </a:rPr>
                        <a:t>（分）</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導入後</a:t>
                      </a:r>
                      <a:endParaRPr lang="en-US" sz="850" dirty="0">
                        <a:latin typeface="BIZ UDPGothic" charset="0"/>
                        <a:ea typeface="BIZ UDPGothic" charset="0"/>
                        <a:cs typeface="BIZ UDPGothic" charset="0"/>
                      </a:endParaRPr>
                    </a:p>
                    <a:p>
                      <a:pPr marL="0" indent="0" algn="ctr">
                        <a:buNone/>
                      </a:pPr>
                      <a:r>
                        <a:rPr lang="en-US" sz="850" b="1" dirty="0">
                          <a:solidFill>
                            <a:srgbClr val="FFFFFF"/>
                          </a:solidFill>
                          <a:latin typeface="BIZ UDPGothic" pitchFamily="34" charset="0"/>
                          <a:ea typeface="BIZ UDPGothic" pitchFamily="34" charset="-122"/>
                          <a:cs typeface="BIZ UDPGothic" pitchFamily="34" charset="-120"/>
                        </a:rPr>
                        <a:t>1品種／2品種</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850" b="1" dirty="0">
                          <a:solidFill>
                            <a:srgbClr val="FFFFFF"/>
                          </a:solidFill>
                          <a:latin typeface="BIZ UDPGothic" pitchFamily="34" charset="0"/>
                          <a:ea typeface="BIZ UDPGothic" pitchFamily="34" charset="-122"/>
                          <a:cs typeface="BIZ UDPGothic" pitchFamily="34" charset="-120"/>
                        </a:rPr>
                        <a:t>創出時間</a:t>
                      </a:r>
                      <a:endParaRPr lang="en-US" sz="850" dirty="0">
                        <a:latin typeface="BIZ UDPGothic" charset="0"/>
                        <a:ea typeface="BIZ UDPGothic" charset="0"/>
                        <a:cs typeface="BIZ UDPGothic" charset="0"/>
                      </a:endParaRPr>
                    </a:p>
                    <a:p>
                      <a:pPr marL="0" indent="0" algn="ctr">
                        <a:buNone/>
                      </a:pPr>
                      <a:r>
                        <a:rPr lang="en-US" sz="850" b="1" dirty="0">
                          <a:solidFill>
                            <a:srgbClr val="FFFFFF"/>
                          </a:solidFill>
                          <a:latin typeface="BIZ UDPGothic" pitchFamily="34" charset="0"/>
                          <a:ea typeface="BIZ UDPGothic" pitchFamily="34" charset="-122"/>
                          <a:cs typeface="BIZ UDPGothic" pitchFamily="34" charset="-120"/>
                        </a:rPr>
                        <a:t>1品種／2品種</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4C5C"/>
                    </a:solidFill>
                  </a:tcPr>
                </a:tc>
                <a:extLst>
                  <a:ext uri="{0D108BD9-81ED-4DB2-BD59-A6C34878D82A}">
                    <a16:rowId xmlns:a16="http://schemas.microsoft.com/office/drawing/2014/main" val="10000"/>
                  </a:ext>
                </a:extLst>
              </a:tr>
              <a:tr h="329184">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早番</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6:30〜11:00（投入は8:30から）</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投入パート1名</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同じ方が詰め作業へ転換</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150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150／150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0／0（業務転換）</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中番</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11:00〜19:00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投入パート1名</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早番の残りを詰め、以降は多能工化へ</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480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100／18</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b="1" dirty="0">
                          <a:solidFill>
                            <a:srgbClr val="B84A0A"/>
                          </a:solidFill>
                          <a:latin typeface="BIZ UDPGothic" pitchFamily="34" charset="0"/>
                          <a:ea typeface="BIZ UDPGothic" pitchFamily="34" charset="-122"/>
                          <a:cs typeface="BIZ UDPGothic" pitchFamily="34" charset="-120"/>
                        </a:rPr>
                        <a:t>380／462</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遅番（夜勤）</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19:00〜26:00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派遣1名（社員がカバーも）</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投入専任なし。入替はオペレーター兼務</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420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0／0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b="1" dirty="0">
                          <a:solidFill>
                            <a:srgbClr val="B84A0A"/>
                          </a:solidFill>
                          <a:latin typeface="BIZ UDPGothic" pitchFamily="34" charset="0"/>
                          <a:ea typeface="BIZ UDPGothic" pitchFamily="34" charset="-122"/>
                          <a:cs typeface="BIZ UDPGothic" pitchFamily="34" charset="-120"/>
                        </a:rPr>
                        <a:t>420／420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搬入・開梱・片付け</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全シフト</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上3行の内数（65＋43＋22分）</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台車で搬入21分（仮）＋開梱43分＋片付け22分</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（内数）</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86／86</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−86／−86</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装填・入替</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約2時間に1回</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なし</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新規。日中は詰め担当、遅番はオペレーター</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45／45</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−45／−45</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型替え・点検</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品種切替時・始業時</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なし</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新規（仮）。型替え20分＋点検・清掃10分</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30／30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tc>
                  <a:txBody>
                    <a:bodyPr/>
                    <a:lstStyle/>
                    <a:p>
                      <a:pPr marL="0" indent="0" algn="ctr">
                        <a:buNone/>
                      </a:pPr>
                      <a:r>
                        <a:rPr lang="en-US" sz="850" dirty="0">
                          <a:solidFill>
                            <a:srgbClr val="1F2A30"/>
                          </a:solidFill>
                          <a:latin typeface="BIZ UDPGothic" pitchFamily="34" charset="0"/>
                          <a:ea typeface="BIZ UDPGothic" pitchFamily="34" charset="-122"/>
                          <a:cs typeface="BIZ UDPGothic" pitchFamily="34" charset="-120"/>
                        </a:rPr>
                        <a:t>−30／−30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合計</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8:30〜26:00（17.5時間）</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tc>
                  <a:txBody>
                    <a:bodyPr/>
                    <a:lstStyle/>
                    <a:p>
                      <a:pPr marL="0" indent="0">
                        <a:buNone/>
                      </a:pPr>
                      <a:r>
                        <a:rPr lang="en-US" sz="850" b="1" dirty="0">
                          <a:solidFill>
                            <a:srgbClr val="1F2A30"/>
                          </a:solidFill>
                          <a:latin typeface="BIZ UDPGothic" pitchFamily="34" charset="0"/>
                          <a:ea typeface="BIZ UDPGothic" pitchFamily="34" charset="-122"/>
                          <a:cs typeface="BIZ UDPGothic" pitchFamily="34" charset="-120"/>
                        </a:rPr>
                        <a:t>延べ3名／日</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tc>
                  <a:txBody>
                    <a:bodyPr/>
                    <a:lstStyle/>
                    <a:p>
                      <a:pPr marL="0" indent="0">
                        <a:buNone/>
                      </a:pPr>
                      <a:r>
                        <a:rPr lang="en-US" sz="850" dirty="0">
                          <a:solidFill>
                            <a:srgbClr val="1F2A30"/>
                          </a:solidFill>
                          <a:latin typeface="BIZ UDPGothic" pitchFamily="34" charset="0"/>
                          <a:ea typeface="BIZ UDPGothic" pitchFamily="34" charset="-122"/>
                          <a:cs typeface="BIZ UDPGothic" pitchFamily="34" charset="-120"/>
                        </a:rPr>
                        <a:t>詰めは早番・中番のみ</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tc>
                  <a:txBody>
                    <a:bodyPr/>
                    <a:lstStyle/>
                    <a:p>
                      <a:pPr marL="0" indent="0" algn="ctr">
                        <a:buNone/>
                      </a:pPr>
                      <a:r>
                        <a:rPr lang="en-US" sz="850" b="1" dirty="0">
                          <a:solidFill>
                            <a:srgbClr val="1F2A30"/>
                          </a:solidFill>
                          <a:latin typeface="BIZ UDPGothic" pitchFamily="34" charset="0"/>
                          <a:ea typeface="BIZ UDPGothic" pitchFamily="34" charset="-122"/>
                          <a:cs typeface="BIZ UDPGothic" pitchFamily="34" charset="-120"/>
                        </a:rPr>
                        <a:t>1,050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tc>
                  <a:txBody>
                    <a:bodyPr/>
                    <a:lstStyle/>
                    <a:p>
                      <a:pPr marL="0" indent="0" algn="ctr">
                        <a:buNone/>
                      </a:pPr>
                      <a:r>
                        <a:rPr lang="en-US" sz="850" b="1" dirty="0">
                          <a:solidFill>
                            <a:srgbClr val="1F2A30"/>
                          </a:solidFill>
                          <a:latin typeface="BIZ UDPGothic" pitchFamily="34" charset="0"/>
                          <a:ea typeface="BIZ UDPGothic" pitchFamily="34" charset="-122"/>
                          <a:cs typeface="BIZ UDPGothic" pitchFamily="34" charset="-120"/>
                        </a:rPr>
                        <a:t>411／329（平均370）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tc>
                  <a:txBody>
                    <a:bodyPr/>
                    <a:lstStyle/>
                    <a:p>
                      <a:pPr marL="0" indent="0" algn="ctr">
                        <a:buNone/>
                      </a:pPr>
                      <a:r>
                        <a:rPr lang="en-US" sz="850" b="1" dirty="0">
                          <a:solidFill>
                            <a:srgbClr val="B84A0A"/>
                          </a:solidFill>
                          <a:latin typeface="BIZ UDPGothic" pitchFamily="34" charset="0"/>
                          <a:ea typeface="BIZ UDPGothic" pitchFamily="34" charset="-122"/>
                          <a:cs typeface="BIZ UDPGothic" pitchFamily="34" charset="-120"/>
                        </a:rPr>
                        <a:t>639／721（平均680）</a:t>
                      </a:r>
                      <a:endParaRPr lang="en-US" sz="850" dirty="0">
                        <a:latin typeface="BIZ UDPGothic" charset="0"/>
                        <a:ea typeface="BIZ UDPGothic" charset="0"/>
                        <a:cs typeface="BIZ UDPGothic" charset="0"/>
                      </a:endParaRPr>
                    </a:p>
                  </a:txBody>
                  <a:tcPr marL="27432" marR="27432" marT="27432" marB="27432"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EF4F5"/>
                    </a:solidFill>
                  </a:tcPr>
                </a:tc>
                <a:extLst>
                  <a:ext uri="{0D108BD9-81ED-4DB2-BD59-A6C34878D82A}">
                    <a16:rowId xmlns:a16="http://schemas.microsoft.com/office/drawing/2014/main" val="10007"/>
                  </a:ext>
                </a:extLst>
              </a:tr>
            </a:tbl>
          </a:graphicData>
        </a:graphic>
      </p:graphicFrame>
      <p:sp>
        <p:nvSpPr>
          <p:cNvPr id="18" name="Text 15"/>
          <p:cNvSpPr/>
          <p:nvPr/>
        </p:nvSpPr>
        <p:spPr>
          <a:xfrm>
            <a:off x="320040" y="4572000"/>
            <a:ext cx="8503920" cy="237744"/>
          </a:xfrm>
          <a:prstGeom prst="rect">
            <a:avLst/>
          </a:prstGeom>
          <a:noFill/>
          <a:ln/>
        </p:spPr>
        <p:txBody>
          <a:bodyPr wrap="square" lIns="0" tIns="0" rIns="0" bIns="0" rtlCol="0" anchor="ctr"/>
          <a:lstStyle/>
          <a:p>
            <a:pPr marL="0" indent="0">
              <a:buNone/>
            </a:pPr>
            <a:r>
              <a:rPr lang="en-US" sz="850" b="1" dirty="0">
                <a:solidFill>
                  <a:srgbClr val="0F4C5C"/>
                </a:solidFill>
                <a:latin typeface="BIZ UDPGothic" pitchFamily="34" charset="0"/>
                <a:ea typeface="BIZ UDPGothic" pitchFamily="34" charset="-122"/>
                <a:cs typeface="BIZ UDPGothic" pitchFamily="34" charset="-120"/>
              </a:rPr>
              <a:t>製袋室の配置人数：</a:t>
            </a:r>
            <a:r>
              <a:rPr lang="en-US" sz="850" dirty="0">
                <a:solidFill>
                  <a:srgbClr val="1F2A30"/>
                </a:solidFill>
                <a:latin typeface="BIZ UDPGothic" pitchFamily="34" charset="0"/>
                <a:ea typeface="BIZ UDPGothic" pitchFamily="34" charset="-122"/>
                <a:cs typeface="BIZ UDPGothic" pitchFamily="34" charset="-120"/>
              </a:rPr>
              <a:t>現状2名／シフト → 導入後 早番2名・中番2名・遅番1名（オペレーターのみ）。　</a:t>
            </a:r>
            <a:r>
              <a:rPr lang="en-US" sz="850" b="1" dirty="0">
                <a:solidFill>
                  <a:srgbClr val="0F4C5C"/>
                </a:solidFill>
                <a:latin typeface="BIZ UDPGothic" pitchFamily="34" charset="0"/>
                <a:ea typeface="BIZ UDPGothic" pitchFamily="34" charset="-122"/>
                <a:cs typeface="BIZ UDPGothic" pitchFamily="34" charset="-120"/>
              </a:rPr>
              <a:t>仮置き：</a:t>
            </a:r>
            <a:r>
              <a:rPr lang="en-US" sz="850" dirty="0">
                <a:solidFill>
                  <a:srgbClr val="1F2A30"/>
                </a:solidFill>
                <a:latin typeface="BIZ UDPGothic" pitchFamily="34" charset="0"/>
                <a:ea typeface="BIZ UDPGothic" pitchFamily="34" charset="-122"/>
                <a:cs typeface="BIZ UDPGothic" pitchFamily="34" charset="-120"/>
              </a:rPr>
              <a:t>搬入65→21分、開梱43分、片付け22分、型替え20分、始業点検10分は確認後に別紙1とあわせて差し替えます。</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4C5C"/>
          </a:solidFill>
          <a:ln w="12700">
            <a:solidFill>
              <a:srgbClr val="0F4C5C"/>
            </a:solidFill>
            <a:prstDash val="solid"/>
          </a:ln>
        </p:spPr>
      </p:sp>
      <p:sp>
        <p:nvSpPr>
          <p:cNvPr id="3" name="Shape 1"/>
          <p:cNvSpPr/>
          <p:nvPr/>
        </p:nvSpPr>
        <p:spPr>
          <a:xfrm>
            <a:off x="320040" y="182880"/>
            <a:ext cx="109728" cy="320040"/>
          </a:xfrm>
          <a:prstGeom prst="rect">
            <a:avLst/>
          </a:prstGeom>
          <a:solidFill>
            <a:srgbClr val="F26B1D"/>
          </a:solidFill>
          <a:ln w="12700">
            <a:solidFill>
              <a:srgbClr val="F26B1D"/>
            </a:solidFill>
            <a:prstDash val="solid"/>
          </a:ln>
        </p:spPr>
      </p:sp>
      <p:sp>
        <p:nvSpPr>
          <p:cNvPr id="4" name="Text 2"/>
          <p:cNvSpPr/>
          <p:nvPr/>
        </p:nvSpPr>
        <p:spPr>
          <a:xfrm>
            <a:off x="530352" y="73152"/>
            <a:ext cx="8321040" cy="548640"/>
          </a:xfrm>
          <a:prstGeom prst="rect">
            <a:avLst/>
          </a:prstGeom>
          <a:noFill/>
          <a:ln/>
        </p:spPr>
        <p:txBody>
          <a:bodyPr wrap="square" lIns="0" tIns="0" rIns="0" bIns="0" rtlCol="0" anchor="ctr"/>
          <a:lstStyle/>
          <a:p>
            <a:pPr marL="0" indent="0">
              <a:buNone/>
            </a:pPr>
            <a:r>
              <a:rPr lang="en-US" sz="2200" b="1" dirty="0">
                <a:solidFill>
                  <a:srgbClr val="FFFFFF"/>
                </a:solidFill>
                <a:latin typeface="BIZ UDPGothic" pitchFamily="34" charset="0"/>
                <a:ea typeface="BIZ UDPGothic" pitchFamily="34" charset="-122"/>
                <a:cs typeface="BIZ UDPGothic" pitchFamily="34" charset="-120"/>
              </a:rPr>
              <a:t>6. 導入する設備の概要と見積の構成</a:t>
            </a:r>
            <a:endParaRPr lang="en-US" sz="2200" dirty="0"/>
          </a:p>
        </p:txBody>
      </p:sp>
      <p:sp>
        <p:nvSpPr>
          <p:cNvPr id="5" name="Text 3"/>
          <p:cNvSpPr/>
          <p:nvPr/>
        </p:nvSpPr>
        <p:spPr>
          <a:xfrm>
            <a:off x="320040" y="731520"/>
            <a:ext cx="8503920" cy="310896"/>
          </a:xfrm>
          <a:prstGeom prst="rect">
            <a:avLst/>
          </a:prstGeom>
          <a:noFill/>
          <a:ln/>
        </p:spPr>
        <p:txBody>
          <a:bodyPr wrap="square" lIns="0" tIns="0" rIns="0" bIns="0" rtlCol="0" anchor="ctr"/>
          <a:lstStyle/>
          <a:p>
            <a:pPr marL="0" indent="0">
              <a:buNone/>
            </a:pPr>
            <a:r>
              <a:rPr lang="en-US" sz="1100" dirty="0">
                <a:solidFill>
                  <a:srgbClr val="5B6770"/>
                </a:solidFill>
                <a:latin typeface="BIZ UDPGothic" pitchFamily="34" charset="0"/>
                <a:ea typeface="BIZ UDPGothic" pitchFamily="34" charset="-122"/>
                <a:cs typeface="BIZ UDPGothic" pitchFamily="34" charset="-120"/>
              </a:rPr>
              <a:t>株式会社フジシール 御見積書（2026年9月24日・見積No.20260924）および提案資料より</a:t>
            </a:r>
            <a:endParaRPr lang="en-US" sz="1100" dirty="0"/>
          </a:p>
        </p:txBody>
      </p:sp>
      <p:sp>
        <p:nvSpPr>
          <p:cNvPr id="6" name="Text 4"/>
          <p:cNvSpPr/>
          <p:nvPr/>
        </p:nvSpPr>
        <p:spPr>
          <a:xfrm>
            <a:off x="320040" y="4828032"/>
            <a:ext cx="6400800" cy="228600"/>
          </a:xfrm>
          <a:prstGeom prst="rect">
            <a:avLst/>
          </a:prstGeom>
          <a:noFill/>
          <a:ln/>
        </p:spPr>
        <p:txBody>
          <a:bodyPr wrap="square" lIns="0" tIns="0" rIns="0" bIns="0" rtlCol="0" anchor="ctr"/>
          <a:lstStyle/>
          <a:p>
            <a:pPr marL="0" indent="0">
              <a:buNone/>
            </a:pPr>
            <a:r>
              <a:rPr lang="en-US" sz="900" dirty="0">
                <a:solidFill>
                  <a:srgbClr val="8A9BA8"/>
                </a:solidFill>
                <a:latin typeface="BIZ UDPGothic" pitchFamily="34" charset="0"/>
                <a:ea typeface="BIZ UDPGothic" pitchFamily="34" charset="-122"/>
                <a:cs typeface="BIZ UDPGothic" pitchFamily="34" charset="-120"/>
              </a:rPr>
              <a:t>株式会社トンボ飲料様　Gライン パウチ自動供給装置の導入</a:t>
            </a:r>
            <a:endParaRPr lang="en-US" sz="900" dirty="0"/>
          </a:p>
        </p:txBody>
      </p:sp>
      <p:sp>
        <p:nvSpPr>
          <p:cNvPr id="7" name="Text 5"/>
          <p:cNvSpPr/>
          <p:nvPr/>
        </p:nvSpPr>
        <p:spPr>
          <a:xfrm>
            <a:off x="8321040" y="4828032"/>
            <a:ext cx="502920" cy="228600"/>
          </a:xfrm>
          <a:prstGeom prst="rect">
            <a:avLst/>
          </a:prstGeom>
          <a:noFill/>
          <a:ln/>
        </p:spPr>
        <p:txBody>
          <a:bodyPr wrap="square" lIns="0" tIns="0" rIns="0" bIns="0" rtlCol="0" anchor="ctr"/>
          <a:lstStyle/>
          <a:p>
            <a:pPr marL="0" indent="0" algn="r">
              <a:buNone/>
            </a:pPr>
            <a:r>
              <a:rPr lang="en-US" sz="900" dirty="0">
                <a:solidFill>
                  <a:srgbClr val="8A9BA8"/>
                </a:solidFill>
                <a:latin typeface="BIZ UDPGothic" pitchFamily="34" charset="0"/>
                <a:ea typeface="BIZ UDPGothic" pitchFamily="34" charset="-122"/>
                <a:cs typeface="BIZ UDPGothic" pitchFamily="34" charset="-120"/>
              </a:rPr>
              <a:t>7</a:t>
            </a:r>
            <a:endParaRPr lang="en-US" sz="900" dirty="0"/>
          </a:p>
        </p:txBody>
      </p:sp>
      <p:sp>
        <p:nvSpPr>
          <p:cNvPr id="8" name="Shape 6"/>
          <p:cNvSpPr/>
          <p:nvPr/>
        </p:nvSpPr>
        <p:spPr>
          <a:xfrm>
            <a:off x="320040" y="1115568"/>
            <a:ext cx="4023360" cy="3429000"/>
          </a:xfrm>
          <a:prstGeom prst="rect">
            <a:avLst/>
          </a:prstGeom>
          <a:solidFill>
            <a:srgbClr val="EEF4F5"/>
          </a:solidFill>
          <a:ln w="12700">
            <a:solidFill>
              <a:srgbClr val="D5DEE2"/>
            </a:solidFill>
            <a:prstDash val="solid"/>
          </a:ln>
        </p:spPr>
      </p:sp>
      <p:sp>
        <p:nvSpPr>
          <p:cNvPr id="9" name="Shape 7"/>
          <p:cNvSpPr/>
          <p:nvPr/>
        </p:nvSpPr>
        <p:spPr>
          <a:xfrm>
            <a:off x="320040" y="1115568"/>
            <a:ext cx="73152" cy="3429000"/>
          </a:xfrm>
          <a:prstGeom prst="rect">
            <a:avLst/>
          </a:prstGeom>
          <a:solidFill>
            <a:srgbClr val="F26B1D"/>
          </a:solidFill>
          <a:ln w="12700">
            <a:solidFill>
              <a:srgbClr val="F26B1D"/>
            </a:solidFill>
            <a:prstDash val="solid"/>
          </a:ln>
        </p:spPr>
      </p:sp>
      <p:sp>
        <p:nvSpPr>
          <p:cNvPr id="10" name="Text 8"/>
          <p:cNvSpPr/>
          <p:nvPr/>
        </p:nvSpPr>
        <p:spPr>
          <a:xfrm>
            <a:off x="502920" y="1170432"/>
            <a:ext cx="3749040" cy="292608"/>
          </a:xfrm>
          <a:prstGeom prst="rect">
            <a:avLst/>
          </a:prstGeom>
          <a:noFill/>
          <a:ln/>
        </p:spPr>
        <p:txBody>
          <a:bodyPr wrap="square" lIns="0" tIns="0" rIns="0" bIns="0" rtlCol="0" anchor="ctr"/>
          <a:lstStyle/>
          <a:p>
            <a:pPr marL="0" indent="0">
              <a:buNone/>
            </a:pPr>
            <a:r>
              <a:rPr lang="en-US" sz="1250" b="1" dirty="0">
                <a:solidFill>
                  <a:srgbClr val="0F4C5C"/>
                </a:solidFill>
                <a:latin typeface="BIZ UDPGothic" pitchFamily="34" charset="0"/>
                <a:ea typeface="BIZ UDPGothic" pitchFamily="34" charset="-122"/>
                <a:cs typeface="BIZ UDPGothic" pitchFamily="34" charset="-120"/>
              </a:rPr>
              <a:t>設備の概要</a:t>
            </a:r>
            <a:endParaRPr lang="en-US" sz="1250" dirty="0"/>
          </a:p>
        </p:txBody>
      </p:sp>
      <p:sp>
        <p:nvSpPr>
          <p:cNvPr id="11" name="Shape 9"/>
          <p:cNvSpPr/>
          <p:nvPr/>
        </p:nvSpPr>
        <p:spPr>
          <a:xfrm>
            <a:off x="4526280" y="1115568"/>
            <a:ext cx="4297680" cy="3429000"/>
          </a:xfrm>
          <a:prstGeom prst="rect">
            <a:avLst/>
          </a:prstGeom>
          <a:solidFill>
            <a:srgbClr val="EEF4F5"/>
          </a:solidFill>
          <a:ln w="12700">
            <a:solidFill>
              <a:srgbClr val="D5DEE2"/>
            </a:solidFill>
            <a:prstDash val="solid"/>
          </a:ln>
        </p:spPr>
      </p:sp>
      <p:sp>
        <p:nvSpPr>
          <p:cNvPr id="12" name="Shape 10"/>
          <p:cNvSpPr/>
          <p:nvPr/>
        </p:nvSpPr>
        <p:spPr>
          <a:xfrm>
            <a:off x="4526280" y="1115568"/>
            <a:ext cx="73152" cy="3429000"/>
          </a:xfrm>
          <a:prstGeom prst="rect">
            <a:avLst/>
          </a:prstGeom>
          <a:solidFill>
            <a:srgbClr val="F26B1D"/>
          </a:solidFill>
          <a:ln w="12700">
            <a:solidFill>
              <a:srgbClr val="F26B1D"/>
            </a:solidFill>
            <a:prstDash val="solid"/>
          </a:ln>
        </p:spPr>
      </p:sp>
      <p:sp>
        <p:nvSpPr>
          <p:cNvPr id="13" name="Text 11"/>
          <p:cNvSpPr/>
          <p:nvPr/>
        </p:nvSpPr>
        <p:spPr>
          <a:xfrm>
            <a:off x="4709160" y="1170432"/>
            <a:ext cx="4023360" cy="292608"/>
          </a:xfrm>
          <a:prstGeom prst="rect">
            <a:avLst/>
          </a:prstGeom>
          <a:noFill/>
          <a:ln/>
        </p:spPr>
        <p:txBody>
          <a:bodyPr wrap="square" lIns="0" tIns="0" rIns="0" bIns="0" rtlCol="0" anchor="ctr"/>
          <a:lstStyle/>
          <a:p>
            <a:pPr marL="0" indent="0">
              <a:buNone/>
            </a:pPr>
            <a:r>
              <a:rPr lang="en-US" sz="1250" b="1" dirty="0">
                <a:solidFill>
                  <a:srgbClr val="0F4C5C"/>
                </a:solidFill>
                <a:latin typeface="BIZ UDPGothic" pitchFamily="34" charset="0"/>
                <a:ea typeface="BIZ UDPGothic" pitchFamily="34" charset="-122"/>
                <a:cs typeface="BIZ UDPGothic" pitchFamily="34" charset="-120"/>
              </a:rPr>
              <a:t>見積の構成（税抜）</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3703320" cy="2542032"/>
        </p:xfrm>
        <a:graphic>
          <a:graphicData uri="http://schemas.openxmlformats.org/drawingml/2006/table">
            <a:tbl>
              <a:tblPr/>
              <a:tblGrid>
                <a:gridCol w="8686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名称</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パウチ自動供給装置（ロボットアーム式供給）</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メーカー</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株式会社フジシール</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設置場所</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4号棟1階 製袋室（既設SPM機のマガジン脇）</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供給方式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専用パレットをU字型コンベアで搬送し、ロボットアームがパウチを取り出してマガジンへ投入</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供給能力</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100袋あたり15秒</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ストック量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5段×4列＝20パレット＝24,000袋（約2時間分）</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専用パレット</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1枚1,200袋・型替えで2種のパウチ兼用</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対象パウチ</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幅80〜96mm、高さ115〜150mm</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設備重量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約2t</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納期</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発注から7〜9か月程度（メーカーの受注状況次第）</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buNone/>
                      </a:pPr>
                      <a:r>
                        <a:rPr lang="en-US" sz="950" b="1" dirty="0">
                          <a:solidFill>
                            <a:srgbClr val="0F4C5C"/>
                          </a:solidFill>
                          <a:latin typeface="BIZ UDPGothic" pitchFamily="34" charset="0"/>
                          <a:ea typeface="BIZ UDPGothic" pitchFamily="34" charset="-122"/>
                          <a:cs typeface="BIZ UDPGothic" pitchFamily="34" charset="-120"/>
                        </a:rPr>
                        <a:t>発注時期</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交付決定（2027年4〜5月の見込み）の後に発注</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709160" y="1517904"/>
          <a:ext cx="3977640" cy="2324100"/>
        </p:xfrm>
        <a:graphic>
          <a:graphicData uri="http://schemas.openxmlformats.org/drawingml/2006/table">
            <a:tbl>
              <a:tblPr/>
              <a:tblGrid>
                <a:gridCol w="242316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0">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項目</a:t>
                      </a:r>
                      <a:endParaRPr lang="en-US" sz="950" dirty="0">
                        <a:latin typeface="BIZ UDPGothic" charset="0"/>
                        <a:ea typeface="BIZ UDPGothic" charset="0"/>
                        <a:cs typeface="BIZ UDPGothic" charset="0"/>
                      </a:endParaRPr>
                    </a:p>
                  </a:txBody>
                  <a:tcPr marL="36576" marR="36576" marT="36576" marB="36576">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数量</a:t>
                      </a:r>
                      <a:endParaRPr lang="en-US" sz="950" dirty="0">
                        <a:latin typeface="BIZ UDPGothic" charset="0"/>
                        <a:ea typeface="BIZ UDPGothic" charset="0"/>
                        <a:cs typeface="BIZ UDPGothic" charset="0"/>
                      </a:endParaRPr>
                    </a:p>
                  </a:txBody>
                  <a:tcPr marL="36576" marR="36576" marT="36576" marB="36576">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0F4C5C"/>
                    </a:solidFill>
                  </a:tcPr>
                </a:tc>
                <a:tc>
                  <a:txBody>
                    <a:bodyPr/>
                    <a:lstStyle/>
                    <a:p>
                      <a:pPr marL="0" indent="0" algn="ctr">
                        <a:buNone/>
                      </a:pPr>
                      <a:r>
                        <a:rPr lang="en-US" sz="950" b="1" dirty="0">
                          <a:solidFill>
                            <a:srgbClr val="FFFFFF"/>
                          </a:solidFill>
                          <a:latin typeface="BIZ UDPGothic" pitchFamily="34" charset="0"/>
                          <a:ea typeface="BIZ UDPGothic" pitchFamily="34" charset="-122"/>
                          <a:cs typeface="BIZ UDPGothic" pitchFamily="34" charset="-120"/>
                        </a:rPr>
                        <a:t>金額（円）</a:t>
                      </a:r>
                      <a:endParaRPr lang="en-US" sz="950" dirty="0">
                        <a:latin typeface="BIZ UDPGothic" charset="0"/>
                        <a:ea typeface="BIZ UDPGothic" charset="0"/>
                        <a:cs typeface="BIZ UDPGothic" charset="0"/>
                      </a:endParaRPr>
                    </a:p>
                  </a:txBody>
                  <a:tcPr marL="36576" marR="36576" marT="36576" marB="36576">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0F4C5C"/>
                    </a:solidFill>
                  </a:tcPr>
                </a:tc>
                <a:extLst>
                  <a:ext uri="{0D108BD9-81ED-4DB2-BD59-A6C34878D82A}">
                    <a16:rowId xmlns:a16="http://schemas.microsoft.com/office/drawing/2014/main" val="10000"/>
                  </a:ext>
                </a:extLst>
              </a:tr>
              <a:tr h="0">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パウチ自動供給装置（ロボットアーム式供給）</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F2A30"/>
                          </a:solidFill>
                          <a:latin typeface="BIZ UDPGothic" pitchFamily="34" charset="0"/>
                          <a:ea typeface="BIZ UDPGothic" pitchFamily="34" charset="-122"/>
                          <a:cs typeface="BIZ UDPGothic" pitchFamily="34" charset="-120"/>
                        </a:rPr>
                        <a:t>1式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r">
                        <a:buNone/>
                      </a:pPr>
                      <a:r>
                        <a:rPr lang="en-US" sz="950" dirty="0">
                          <a:solidFill>
                            <a:srgbClr val="1F2A30"/>
                          </a:solidFill>
                          <a:latin typeface="BIZ UDPGothic" pitchFamily="34" charset="0"/>
                          <a:ea typeface="BIZ UDPGothic" pitchFamily="34" charset="-122"/>
                          <a:cs typeface="BIZ UDPGothic" pitchFamily="34" charset="-120"/>
                        </a:rPr>
                        <a:t>55,250,000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専用パレット（機内25枚＋予備65枚）</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F2A30"/>
                          </a:solidFill>
                          <a:latin typeface="BIZ UDPGothic" pitchFamily="34" charset="0"/>
                          <a:ea typeface="BIZ UDPGothic" pitchFamily="34" charset="-122"/>
                          <a:cs typeface="BIZ UDPGothic" pitchFamily="34" charset="-120"/>
                        </a:rPr>
                        <a:t>90枚</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r">
                        <a:buNone/>
                      </a:pPr>
                      <a:r>
                        <a:rPr lang="en-US" sz="950" dirty="0">
                          <a:solidFill>
                            <a:srgbClr val="1F2A30"/>
                          </a:solidFill>
                          <a:latin typeface="BIZ UDPGothic" pitchFamily="34" charset="0"/>
                          <a:ea typeface="BIZ UDPGothic" pitchFamily="34" charset="-122"/>
                          <a:cs typeface="BIZ UDPGothic" pitchFamily="34" charset="-120"/>
                        </a:rPr>
                        <a:t>31,500,000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仮置き台車</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F2A30"/>
                          </a:solidFill>
                          <a:latin typeface="BIZ UDPGothic" pitchFamily="34" charset="0"/>
                          <a:ea typeface="BIZ UDPGothic" pitchFamily="34" charset="-122"/>
                          <a:cs typeface="BIZ UDPGothic" pitchFamily="34" charset="-120"/>
                        </a:rPr>
                        <a:t>17台</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r">
                        <a:buNone/>
                      </a:pPr>
                      <a:r>
                        <a:rPr lang="en-US" sz="950" dirty="0">
                          <a:solidFill>
                            <a:srgbClr val="1F2A30"/>
                          </a:solidFill>
                          <a:latin typeface="BIZ UDPGothic" pitchFamily="34" charset="0"/>
                          <a:ea typeface="BIZ UDPGothic" pitchFamily="34" charset="-122"/>
                          <a:cs typeface="BIZ UDPGothic" pitchFamily="34" charset="-120"/>
                        </a:rPr>
                        <a:t>2,040,000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装置輸送費（車上渡し）</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F2A30"/>
                          </a:solidFill>
                          <a:latin typeface="BIZ UDPGothic" pitchFamily="34" charset="0"/>
                          <a:ea typeface="BIZ UDPGothic" pitchFamily="34" charset="-122"/>
                          <a:cs typeface="BIZ UDPGothic" pitchFamily="34" charset="-120"/>
                        </a:rPr>
                        <a:t>1式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r">
                        <a:buNone/>
                      </a:pPr>
                      <a:r>
                        <a:rPr lang="en-US" sz="950" dirty="0">
                          <a:solidFill>
                            <a:srgbClr val="1F2A30"/>
                          </a:solidFill>
                          <a:latin typeface="BIZ UDPGothic" pitchFamily="34" charset="0"/>
                          <a:ea typeface="BIZ UDPGothic" pitchFamily="34" charset="-122"/>
                          <a:cs typeface="BIZ UDPGothic" pitchFamily="34" charset="-120"/>
                        </a:rPr>
                        <a:t>300,000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既設SPM機 改造部品・設計変更費</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F2A30"/>
                          </a:solidFill>
                          <a:latin typeface="BIZ UDPGothic" pitchFamily="34" charset="0"/>
                          <a:ea typeface="BIZ UDPGothic" pitchFamily="34" charset="-122"/>
                          <a:cs typeface="BIZ UDPGothic" pitchFamily="34" charset="-120"/>
                        </a:rPr>
                        <a:t>1式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r">
                        <a:buNone/>
                      </a:pPr>
                      <a:r>
                        <a:rPr lang="en-US" sz="950" dirty="0">
                          <a:solidFill>
                            <a:srgbClr val="1F2A30"/>
                          </a:solidFill>
                          <a:latin typeface="BIZ UDPGothic" pitchFamily="34" charset="0"/>
                          <a:ea typeface="BIZ UDPGothic" pitchFamily="34" charset="-122"/>
                          <a:cs typeface="BIZ UDPGothic" pitchFamily="34" charset="-120"/>
                        </a:rPr>
                        <a:t>3,600,000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50" dirty="0">
                          <a:solidFill>
                            <a:srgbClr val="1F2A30"/>
                          </a:solidFill>
                          <a:latin typeface="BIZ UDPGothic" pitchFamily="34" charset="0"/>
                          <a:ea typeface="BIZ UDPGothic" pitchFamily="34" charset="-122"/>
                          <a:cs typeface="BIZ UDPGothic" pitchFamily="34" charset="-120"/>
                        </a:rPr>
                        <a:t>現地改造工事費（工事〜調整〜生産立会 約11日）</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F2A30"/>
                          </a:solidFill>
                          <a:latin typeface="BIZ UDPGothic" pitchFamily="34" charset="0"/>
                          <a:ea typeface="BIZ UDPGothic" pitchFamily="34" charset="-122"/>
                          <a:cs typeface="BIZ UDPGothic" pitchFamily="34" charset="-120"/>
                        </a:rPr>
                        <a:t>1式</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tc>
                  <a:txBody>
                    <a:bodyPr/>
                    <a:lstStyle/>
                    <a:p>
                      <a:pPr marL="0" indent="0" algn="r">
                        <a:buNone/>
                      </a:pPr>
                      <a:r>
                        <a:rPr lang="en-US" sz="950" dirty="0">
                          <a:solidFill>
                            <a:srgbClr val="1F2A30"/>
                          </a:solidFill>
                          <a:latin typeface="BIZ UDPGothic" pitchFamily="34" charset="0"/>
                          <a:ea typeface="BIZ UDPGothic" pitchFamily="34" charset="-122"/>
                          <a:cs typeface="BIZ UDPGothic" pitchFamily="34" charset="-120"/>
                        </a:rPr>
                        <a:t>4,100,000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950" b="1" dirty="0">
                          <a:solidFill>
                            <a:srgbClr val="1F2A30"/>
                          </a:solidFill>
                          <a:latin typeface="BIZ UDPGothic" pitchFamily="34" charset="0"/>
                          <a:ea typeface="BIZ UDPGothic" pitchFamily="34" charset="-122"/>
                          <a:cs typeface="BIZ UDPGothic" pitchFamily="34" charset="-120"/>
                        </a:rPr>
                        <a:t>小計</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lgn="ctr">
                        <a:buNone/>
                      </a:pP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lgn="r">
                        <a:buNone/>
                      </a:pPr>
                      <a:r>
                        <a:rPr lang="en-US" sz="950" b="1" dirty="0">
                          <a:solidFill>
                            <a:srgbClr val="1F2A30"/>
                          </a:solidFill>
                          <a:latin typeface="BIZ UDPGothic" pitchFamily="34" charset="0"/>
                          <a:ea typeface="BIZ UDPGothic" pitchFamily="34" charset="-122"/>
                          <a:cs typeface="BIZ UDPGothic" pitchFamily="34" charset="-120"/>
                        </a:rPr>
                        <a:t>96,790,000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extLst>
                  <a:ext uri="{0D108BD9-81ED-4DB2-BD59-A6C34878D82A}">
                    <a16:rowId xmlns:a16="http://schemas.microsoft.com/office/drawing/2014/main" val="10007"/>
                  </a:ext>
                </a:extLst>
              </a:tr>
              <a:tr h="0">
                <a:tc>
                  <a:txBody>
                    <a:bodyPr/>
                    <a:lstStyle/>
                    <a:p>
                      <a:pPr marL="0" indent="0">
                        <a:buNone/>
                      </a:pPr>
                      <a:r>
                        <a:rPr lang="en-US" sz="950" b="1" dirty="0">
                          <a:solidFill>
                            <a:srgbClr val="1F2A30"/>
                          </a:solidFill>
                          <a:latin typeface="BIZ UDPGothic" pitchFamily="34" charset="0"/>
                          <a:ea typeface="BIZ UDPGothic" pitchFamily="34" charset="-122"/>
                          <a:cs typeface="BIZ UDPGothic" pitchFamily="34" charset="-120"/>
                        </a:rPr>
                        <a:t>値引き</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lgn="ctr">
                        <a:buNone/>
                      </a:pP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lgn="r">
                        <a:buNone/>
                      </a:pPr>
                      <a:r>
                        <a:rPr lang="en-US" sz="950" b="1" dirty="0">
                          <a:solidFill>
                            <a:srgbClr val="1F2A30"/>
                          </a:solidFill>
                          <a:latin typeface="BIZ UDPGothic" pitchFamily="34" charset="0"/>
                          <a:ea typeface="BIZ UDPGothic" pitchFamily="34" charset="-122"/>
                          <a:cs typeface="BIZ UDPGothic" pitchFamily="34" charset="-120"/>
                        </a:rPr>
                        <a:t>△4,790,000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extLst>
                  <a:ext uri="{0D108BD9-81ED-4DB2-BD59-A6C34878D82A}">
                    <a16:rowId xmlns:a16="http://schemas.microsoft.com/office/drawing/2014/main" val="10008"/>
                  </a:ext>
                </a:extLst>
              </a:tr>
              <a:tr h="0">
                <a:tc>
                  <a:txBody>
                    <a:bodyPr/>
                    <a:lstStyle/>
                    <a:p>
                      <a:pPr marL="0" indent="0">
                        <a:buNone/>
                      </a:pPr>
                      <a:r>
                        <a:rPr lang="en-US" sz="950" b="1" dirty="0">
                          <a:solidFill>
                            <a:srgbClr val="1F2A30"/>
                          </a:solidFill>
                          <a:latin typeface="BIZ UDPGothic" pitchFamily="34" charset="0"/>
                          <a:ea typeface="BIZ UDPGothic" pitchFamily="34" charset="-122"/>
                          <a:cs typeface="BIZ UDPGothic" pitchFamily="34" charset="-120"/>
                        </a:rPr>
                        <a:t>合計</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lgn="ctr">
                        <a:buNone/>
                      </a:pP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tc>
                  <a:txBody>
                    <a:bodyPr/>
                    <a:lstStyle/>
                    <a:p>
                      <a:pPr marL="0" indent="0" algn="r">
                        <a:buNone/>
                      </a:pPr>
                      <a:r>
                        <a:rPr lang="en-US" sz="950" b="1" dirty="0">
                          <a:solidFill>
                            <a:srgbClr val="B84A0A"/>
                          </a:solidFill>
                          <a:latin typeface="BIZ UDPGothic" pitchFamily="34" charset="0"/>
                          <a:ea typeface="BIZ UDPGothic" pitchFamily="34" charset="-122"/>
                          <a:cs typeface="BIZ UDPGothic" pitchFamily="34" charset="-120"/>
                        </a:rPr>
                        <a:t>92,000,000</a:t>
                      </a:r>
                      <a:endParaRPr lang="en-US" sz="950" dirty="0">
                        <a:latin typeface="BIZ UDPGothic" charset="0"/>
                        <a:ea typeface="BIZ UDPGothic" charset="0"/>
                        <a:cs typeface="BIZ UDPGothic" charset="0"/>
                      </a:endParaRPr>
                    </a:p>
                  </a:txBody>
                  <a:tcPr marL="36576" marR="36576" marT="36576" marB="36576" anchor="ctr">
                    <a:lnL w="6350" cap="flat" cmpd="sng" algn="ctr">
                      <a:solidFill>
                        <a:srgbClr val="C9D3D8"/>
                      </a:solidFill>
                      <a:prstDash val="solid"/>
                      <a:round/>
                      <a:headEnd type="none" w="med" len="med"/>
                      <a:tailEnd type="none" w="med" len="med"/>
                    </a:lnL>
                    <a:lnR w="6350" cap="flat" cmpd="sng" algn="ctr">
                      <a:solidFill>
                        <a:srgbClr val="C9D3D8"/>
                      </a:solidFill>
                      <a:prstDash val="solid"/>
                      <a:round/>
                      <a:headEnd type="none" w="med" len="med"/>
                      <a:tailEnd type="none" w="med" len="med"/>
                    </a:lnR>
                    <a:lnT w="6350" cap="flat" cmpd="sng" algn="ctr">
                      <a:solidFill>
                        <a:srgbClr val="C9D3D8"/>
                      </a:solidFill>
                      <a:prstDash val="solid"/>
                      <a:round/>
                      <a:headEnd type="none" w="med" len="med"/>
                      <a:tailEnd type="none" w="med" len="med"/>
                    </a:lnT>
                    <a:lnB w="6350" cap="flat" cmpd="sng" algn="ctr">
                      <a:solidFill>
                        <a:srgbClr val="C9D3D8"/>
                      </a:solidFill>
                      <a:prstDash val="solid"/>
                      <a:round/>
                      <a:headEnd type="none" w="med" len="med"/>
                      <a:tailEnd type="none" w="med" len="med"/>
                    </a:lnB>
                    <a:solidFill>
                      <a:srgbClr val="E1EBEE"/>
                    </a:solidFill>
                  </a:tcPr>
                </a:tc>
                <a:extLst>
                  <a:ext uri="{0D108BD9-81ED-4DB2-BD59-A6C34878D82A}">
                    <a16:rowId xmlns:a16="http://schemas.microsoft.com/office/drawing/2014/main" val="10009"/>
                  </a:ext>
                </a:extLst>
              </a:tr>
            </a:tbl>
          </a:graphicData>
        </a:graphic>
      </p:graphicFrame>
      <p:sp>
        <p:nvSpPr>
          <p:cNvPr id="16" name="Text 12"/>
          <p:cNvSpPr/>
          <p:nvPr/>
        </p:nvSpPr>
        <p:spPr>
          <a:xfrm>
            <a:off x="4709160" y="3931920"/>
            <a:ext cx="3977640" cy="566928"/>
          </a:xfrm>
          <a:prstGeom prst="rect">
            <a:avLst/>
          </a:prstGeom>
          <a:noFill/>
          <a:ln/>
        </p:spPr>
        <p:txBody>
          <a:bodyPr wrap="square" lIns="0" tIns="0" rIns="0" bIns="0" rtlCol="0" anchor="t"/>
          <a:lstStyle/>
          <a:p>
            <a:pPr marL="0" indent="0">
              <a:buNone/>
            </a:pPr>
            <a:r>
              <a:rPr lang="en-US" sz="900" b="1" dirty="0">
                <a:solidFill>
                  <a:srgbClr val="5B6770"/>
                </a:solidFill>
                <a:latin typeface="BIZ UDPGothic" pitchFamily="34" charset="0"/>
                <a:ea typeface="BIZ UDPGothic" pitchFamily="34" charset="-122"/>
                <a:cs typeface="BIZ UDPGothic" pitchFamily="34" charset="-120"/>
              </a:rPr>
              <a:t>見積条件：</a:t>
            </a:r>
            <a:r>
              <a:rPr lang="en-US" sz="900" dirty="0">
                <a:solidFill>
                  <a:srgbClr val="5B6770"/>
                </a:solidFill>
                <a:latin typeface="BIZ UDPGothic" pitchFamily="34" charset="0"/>
                <a:ea typeface="BIZ UDPGothic" pitchFamily="34" charset="-122"/>
                <a:cs typeface="BIZ UDPGothic" pitchFamily="34" charset="-120"/>
              </a:rPr>
              <a:t>消費税別・概算金額。ユーティリティ工事は別途。車上渡し条件。</a:t>
            </a:r>
            <a:endParaRPr lang="en-US" sz="900" dirty="0"/>
          </a:p>
          <a:p>
            <a:pPr marL="0" indent="0">
              <a:buNone/>
            </a:pPr>
            <a:r>
              <a:rPr lang="en-US" sz="900" b="1" dirty="0">
                <a:solidFill>
                  <a:srgbClr val="5B6770"/>
                </a:solidFill>
                <a:latin typeface="BIZ UDPGothic" pitchFamily="34" charset="0"/>
                <a:ea typeface="BIZ UDPGothic" pitchFamily="34" charset="-122"/>
                <a:cs typeface="BIZ UDPGothic" pitchFamily="34" charset="-120"/>
              </a:rPr>
              <a:t>トンボ飲料様の手配範囲：</a:t>
            </a:r>
            <a:r>
              <a:rPr lang="en-US" sz="900" dirty="0">
                <a:solidFill>
                  <a:srgbClr val="5B6770"/>
                </a:solidFill>
                <a:latin typeface="BIZ UDPGothic" pitchFamily="34" charset="0"/>
                <a:ea typeface="BIZ UDPGothic" pitchFamily="34" charset="-122"/>
                <a:cs typeface="BIZ UDPGothic" pitchFamily="34" charset="-120"/>
              </a:rPr>
              <a:t>荷降ろし・設置（アンカー固定まで）、搬入経路上の機器の一時解体、試運転用の製品・資材。</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1507</Words>
  <Application>Microsoft Office PowerPoint</Application>
  <PresentationFormat>画面に合わせる (16:9)</PresentationFormat>
  <Paragraphs>377</Paragraphs>
  <Slides>7</Slides>
  <Notes>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7</vt:i4>
      </vt:variant>
    </vt:vector>
  </HeadingPairs>
  <TitlesOfParts>
    <vt:vector size="10" baseType="lpstr">
      <vt:lpstr>BIZ UDPGothic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Gライン パウチ自動供給装置 レイアウト・工程ビフォーアフター</dc:title>
  <dc:subject>PptxGenJS Presentation</dc:subject>
  <dc:creator>PptxGenJS</dc:creator>
  <cp:lastModifiedBy>本木</cp:lastModifiedBy>
  <cp:revision>2</cp:revision>
  <dcterms:created xsi:type="dcterms:W3CDTF">2026-09-30T08:00:13Z</dcterms:created>
  <dcterms:modified xsi:type="dcterms:W3CDTF">2026-09-30T08:24:09Z</dcterms:modified>
</cp:coreProperties>
</file>