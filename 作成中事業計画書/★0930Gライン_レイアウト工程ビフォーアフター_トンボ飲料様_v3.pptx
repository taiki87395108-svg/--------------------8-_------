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58" r:id="rId5"/>
    <p:sldId id="259" r:id="rId6"/>
    <p:sldId id="264" r:id="rId7"/>
    <p:sldId id="260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8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318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417320"/>
            <a:ext cx="164592" cy="132588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60120" y="1371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Gライン パウチ自動供給装置の導入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60120" y="21031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レイアウトと工程のビフォー・アフター／人の配置・担当人数・工数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3063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 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2026年9月30日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3434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出所：フジシール提案資料（2025/12/22・2026/3/25）、御見積書（2026/9/24）、ヒアリングリスト（v5）、配置図面（4号棟1F・2F）、社内打合せ（2026/9/30）、事業計画書（その3）別紙1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1. Gライン全体の流れと人の配置（現状）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1323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製造ラインは A・D（ドリンク類：セレブレ・シャンメリー等）／F（スティックゼリー）／E・G（パウチゼリー）の5本。本事業はGライン全体が対象で、装置は製袋室に導入し、投入の自動化で安定稼働と人員の再配置につなげます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01168" y="1060704"/>
            <a:ext cx="8741664" cy="2688336"/>
          </a:xfrm>
          <a:prstGeom prst="rect">
            <a:avLst/>
          </a:prstGeom>
          <a:solidFill>
            <a:srgbClr val="F3F8F9"/>
          </a:solidFill>
          <a:ln w="19050">
            <a:solidFill>
              <a:srgbClr val="0F4C5C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201168" y="1054291"/>
            <a:ext cx="4206240" cy="206987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274320" y="1048829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本事業の対象：Gライン全体（パウチゼリーの製造工程）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511296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効果：投入担当の確保に左右されず17.5時間稼働を維持。創出した時間（約13.3時間／日）は多能工化・品質管理へ再配分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1609344"/>
            <a:ext cx="123444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20040" y="1609344"/>
            <a:ext cx="123444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" y="1609344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資材保管室（1F）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3192" y="2002536"/>
            <a:ext cx="10881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空パウチ（1束50袋・段ボール）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u="sng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人手 ① 搬入</a:t>
            </a:r>
            <a:endParaRPr lang="en-US" sz="900" u="sng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投入担当が数箱ずつ製袋室へ運ぶ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728216" y="1335024"/>
            <a:ext cx="2304288" cy="2157984"/>
          </a:xfrm>
          <a:prstGeom prst="rect">
            <a:avLst/>
          </a:prstGeom>
          <a:solidFill>
            <a:srgbClr val="FDE8DC"/>
          </a:solidFill>
          <a:ln w="381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728216" y="1335024"/>
            <a:ext cx="2304288" cy="237744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728216" y="1344168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装置を導入する範囲：製袋室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83080" y="1609344"/>
            <a:ext cx="219456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1783080" y="1609344"/>
            <a:ext cx="219456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783080" y="16093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製袋室（1F）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856232" y="198424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sz="8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投入担当（②〜⑦）</a:t>
            </a:r>
            <a:endParaRPr lang="en-US" sz="900" u="sng" dirty="0"/>
          </a:p>
          <a:p>
            <a:pPr marL="0" indent="0">
              <a:spcAft>
                <a:spcPts val="100"/>
              </a:spcAft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開梱・ほぐし→踏み台からマガジンへ手投入（3分詰めて5分で空、の繰り返し）</a:t>
            </a:r>
          </a:p>
          <a:p>
            <a:pPr marL="0" indent="0">
              <a:spcAft>
                <a:spcPts val="100"/>
              </a:spcAft>
              <a:buNone/>
            </a:pPr>
            <a:r>
              <a:rPr sz="8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オペレーター（⑧）</a:t>
            </a:r>
          </a:p>
          <a:p>
            <a:pPr marL="0" indent="0">
              <a:spcAft>
                <a:spcPts val="100"/>
              </a:spcAft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製袋機の運転・監視</a:t>
            </a:r>
          </a:p>
          <a:p>
            <a:pPr marL="0" indent="0">
              <a:spcAft>
                <a:spcPts val="100"/>
              </a:spcAft>
              <a:buNone/>
            </a:pPr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自動：スパウト（ストロー）圧着→検査</a:t>
            </a:r>
          </a:p>
        </p:txBody>
      </p:sp>
      <p:sp>
        <p:nvSpPr>
          <p:cNvPr id="24" name="Shape 22"/>
          <p:cNvSpPr/>
          <p:nvPr/>
        </p:nvSpPr>
        <p:spPr>
          <a:xfrm>
            <a:off x="1952244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892808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263140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203704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560320" y="2926080"/>
            <a:ext cx="13898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2名／シフト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オペレーター1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投入パート1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206240" y="1609344"/>
            <a:ext cx="219456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206240" y="1609344"/>
            <a:ext cx="219456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206240" y="16093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充填室・殺菌室（1F）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279392" y="1984248"/>
            <a:ext cx="20482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sz="8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充填担当1名（⑨）</a:t>
            </a:r>
            <a:endParaRPr lang="en-US" sz="900" u="sng" dirty="0"/>
          </a:p>
          <a:p>
            <a:pPr marL="0" indent="0">
              <a:spcAft>
                <a:spcPts val="100"/>
              </a:spcAft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G仕込室で調合・殺菌した液を充填→キャップ→殺菌室（リフトスチーマー）で容器ごと殺菌</a:t>
            </a:r>
          </a:p>
          <a:p>
            <a:pPr marL="0" indent="0">
              <a:spcAft>
                <a:spcPts val="100"/>
              </a:spcAft>
              <a:buNone/>
            </a:pPr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自動：キャップ供給（ホッパローダ）</a:t>
            </a:r>
          </a:p>
        </p:txBody>
      </p:sp>
      <p:sp>
        <p:nvSpPr>
          <p:cNvPr id="33" name="Shape 31"/>
          <p:cNvSpPr/>
          <p:nvPr/>
        </p:nvSpPr>
        <p:spPr>
          <a:xfrm>
            <a:off x="4375404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4315968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4672584" y="2926080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1名／シフト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629400" y="1609344"/>
            <a:ext cx="2194560" cy="1847088"/>
          </a:xfrm>
          <a:prstGeom prst="rect">
            <a:avLst/>
          </a:prstGeom>
          <a:solidFill>
            <a:srgbClr val="EEF4F5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6629400" y="1609344"/>
            <a:ext cx="2194560" cy="347472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6629400" y="16093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包装室（2F）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02552" y="2002536"/>
            <a:ext cx="20482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人手 包装担当2〜3名（⑩）</a:t>
            </a:r>
            <a:endParaRPr lang="en-US" sz="900" u="sng" dirty="0"/>
          </a:p>
          <a:p>
            <a:pPr marL="0" indent="0">
              <a:spcAft>
                <a:spcPts val="100"/>
              </a:spcAft>
              <a:buNone/>
            </a:pPr>
            <a:r>
              <a:rPr sz="9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包装・箱詰め→1階へ下ろして製品倉庫・出荷</a:t>
            </a:r>
          </a:p>
        </p:txBody>
      </p:sp>
      <p:sp>
        <p:nvSpPr>
          <p:cNvPr id="40" name="Shape 38"/>
          <p:cNvSpPr/>
          <p:nvPr/>
        </p:nvSpPr>
        <p:spPr>
          <a:xfrm>
            <a:off x="6798564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6739128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7109460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7050024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7420356" y="2962656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7360920" y="3113532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717536" y="2926080"/>
            <a:ext cx="10789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2〜3名／シフト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1572768" y="2432304"/>
            <a:ext cx="128016" cy="274320"/>
          </a:xfrm>
          <a:prstGeom prst="rightArrow">
            <a:avLst/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4059936" y="2432304"/>
            <a:ext cx="128016" cy="274320"/>
          </a:xfrm>
          <a:prstGeom prst="rightArrow">
            <a:avLst/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6419088" y="2432304"/>
            <a:ext cx="192024" cy="274320"/>
          </a:xfrm>
          <a:prstGeom prst="rightArrow">
            <a:avLst/>
          </a:prstGeom>
          <a:solidFill>
            <a:srgbClr val="8A9BA8"/>
          </a:solidFill>
          <a:ln w="12700">
            <a:solidFill>
              <a:srgbClr val="8A9BA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320040" y="3822192"/>
            <a:ext cx="272491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320040" y="3822192"/>
            <a:ext cx="73152" cy="950976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502920" y="38496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稼働時間・シフト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02920" y="409651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稼働 8:30〜26:00（17.5時間）</a:t>
            </a:r>
            <a:endParaRPr lang="en-US" sz="850" dirty="0"/>
          </a:p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早番 6:30〜11:00・中番 11:00〜19:00</a:t>
            </a:r>
          </a:p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遅番 19:00〜26:00（夜勤）</a:t>
            </a:r>
          </a:p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遅番の投入は派遣で賄えず社員がカバー出勤</a:t>
            </a:r>
          </a:p>
        </p:txBody>
      </p:sp>
      <p:sp>
        <p:nvSpPr>
          <p:cNvPr id="54" name="Shape 52"/>
          <p:cNvSpPr/>
          <p:nvPr/>
        </p:nvSpPr>
        <p:spPr>
          <a:xfrm>
            <a:off x="3209544" y="3822192"/>
            <a:ext cx="272491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3"/>
          <p:cNvSpPr/>
          <p:nvPr/>
        </p:nvSpPr>
        <p:spPr>
          <a:xfrm>
            <a:off x="3209544" y="3822192"/>
            <a:ext cx="73152" cy="950976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3392424" y="38496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生産量（計画）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3392424" y="409651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1品種の日 15万袋／日（稼働日の約半分）</a:t>
            </a:r>
            <a:endParaRPr lang="en-US" sz="850" dirty="0"/>
          </a:p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2品種の日 10万袋／日（稼働日の約半分）</a:t>
            </a:r>
          </a:p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製袋機の能力 150袋／分</a:t>
            </a:r>
          </a:p>
          <a:p>
            <a:pPr marL="127000" indent="-127000">
              <a:buSzPct val="100000"/>
              <a:buChar char="•"/>
            </a:pP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Gライン売上 約14億円（全社売上比 約13%）</a:t>
            </a:r>
          </a:p>
        </p:txBody>
      </p:sp>
      <p:sp>
        <p:nvSpPr>
          <p:cNvPr id="58" name="Shape 56"/>
          <p:cNvSpPr/>
          <p:nvPr/>
        </p:nvSpPr>
        <p:spPr>
          <a:xfrm>
            <a:off x="6099048" y="3822192"/>
            <a:ext cx="272491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099048" y="3822192"/>
            <a:ext cx="73152" cy="950976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281928" y="3849624"/>
            <a:ext cx="2450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人員配置（各シフト）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281928" y="4096512"/>
            <a:ext cx="2450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 2名（オペレーター＋投入パート）</a:t>
            </a:r>
            <a:endParaRPr lang="en-US" sz="850" dirty="0"/>
          </a:p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充填室 1名／包装室 2〜3名</a:t>
            </a:r>
            <a:endParaRPr lang="en-US" sz="850" dirty="0"/>
          </a:p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合計 5〜6名／シフト（日勤・夜勤同じ）</a:t>
            </a:r>
            <a:endParaRPr lang="en-US" sz="850" dirty="0"/>
          </a:p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投入パートの作業を自動化するのが本事業</a:t>
            </a:r>
            <a:endParaRPr lang="en-US" sz="850" dirty="0"/>
          </a:p>
        </p:txBody>
      </p:sp>
      <p:sp>
        <p:nvSpPr>
          <p:cNvPr id="62" name="Rectangle 61"/>
          <p:cNvSpPr/>
          <p:nvPr/>
        </p:nvSpPr>
        <p:spPr>
          <a:xfrm>
            <a:off x="4206240" y="1344168"/>
            <a:ext cx="2194560" cy="228600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261104" y="134416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 dirty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※ 仕込室（1F）から調合液を送る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2. パウチとスパウト（ストロー）とは ― 製袋機で行う工程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Gラインで作る「パウチゼリー」の容器の説明。本事業で自動化するのは、この容器の元になる空パウチを製袋機へ投入する作業です。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株式会社トンボ飲料様　Gライン パウチ自動供給装置の導入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097280"/>
            <a:ext cx="1463040" cy="274320"/>
          </a:xfrm>
          <a:prstGeom prst="rect">
            <a:avLst/>
          </a:prstGeom>
          <a:solidFill>
            <a:srgbClr val="5B6770"/>
          </a:solidFill>
          <a:ln w="12700">
            <a:solidFill>
              <a:srgbClr val="5B677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製品と容器の写真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463040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balance_pawamina_orange_produ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496" y="1499616"/>
            <a:ext cx="853922" cy="896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" y="2450592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① 完成品の例：自社グループ製品「パワミナ200 Jelly」（バランス㈱販売）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5164" y="1463040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tombow_spout_pouch_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97" y="1499616"/>
            <a:ext cx="1346489" cy="8961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455164" y="2450592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② 口栓（スパウト）付きパウチ。アルミ袋にスパウトを付けた状態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71216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tombow_spout_pouch_cap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125" y="2907792"/>
            <a:ext cx="1370665" cy="896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11480" y="3858768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③ 袋の上部に熱圧着したスパウトとキャップ。この圧着を製袋機で行う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5164" y="2871216"/>
            <a:ext cx="193395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fujiseal_spout_1_top_row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4086" y="2907792"/>
            <a:ext cx="896112" cy="8961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55164" y="3858768"/>
            <a:ext cx="1933955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④ スパウト単体（ストロー状の注ぎ口）。下側の舟形の部分を袋に溶着する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4206240"/>
            <a:ext cx="3977639" cy="1645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出所：バランス㈱、トンボ飲料、㈱フジシール の各Webサイト（製品・容器の紹介ページ）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663440" y="1097280"/>
            <a:ext cx="2103120" cy="27432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109728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製袋機の工程（スパウトの圧着</a:t>
            </a:r>
            <a:r>
              <a:rPr sz="1100" b="1" dirty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73168" y="1463040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937760" y="1508760"/>
            <a:ext cx="420624" cy="548640"/>
          </a:xfrm>
          <a:prstGeom prst="roundRect">
            <a:avLst/>
          </a:prstGeom>
          <a:solidFill>
            <a:srgbClr val="D9DEE3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32120" y="1490472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① 空パウチ（平らな袋）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1709928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1束50袋・段ボールで納品。投入担当が手でマガジン（製袋機の投入口）へ入れる ← 本事業で自動化する作業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074920" y="2103120"/>
            <a:ext cx="146304" cy="73152"/>
          </a:xfrm>
          <a:prstGeom prst="downArrow">
            <a:avLst/>
          </a:prstGeom>
          <a:solidFill>
            <a:srgbClr val="0F4C5C"/>
          </a:solidFill>
          <a:ln w="31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73168" y="2176272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937760" y="2368296"/>
            <a:ext cx="420624" cy="402335"/>
          </a:xfrm>
          <a:prstGeom prst="roundRect">
            <a:avLst/>
          </a:prstGeom>
          <a:solidFill>
            <a:srgbClr val="D9DEE3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88636" y="2258568"/>
            <a:ext cx="118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01768" y="2350008"/>
            <a:ext cx="292608" cy="45720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532120" y="2203703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② 製袋機（既設SPM機）でスパウトを熱圧着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32120" y="2423160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袋の口にストロー状の注ぎ口「スパウト」を熱で溶着する（自動、150袋／分）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5074920" y="2816352"/>
            <a:ext cx="146304" cy="73152"/>
          </a:xfrm>
          <a:prstGeom prst="downArrow">
            <a:avLst/>
          </a:prstGeom>
          <a:solidFill>
            <a:srgbClr val="0F4C5C"/>
          </a:solidFill>
          <a:ln w="31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773168" y="2889504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937760" y="3081528"/>
            <a:ext cx="420624" cy="402335"/>
          </a:xfrm>
          <a:prstGeom prst="roundRect">
            <a:avLst/>
          </a:prstGeom>
          <a:solidFill>
            <a:srgbClr val="D9DEE3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88636" y="2971800"/>
            <a:ext cx="118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01768" y="3063240"/>
            <a:ext cx="292608" cy="45720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32120" y="2916936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③ リークチェッカで検査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136392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圧着部からの漏れがないか検査（自動）→ コンベアで充填室へ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5074920" y="3529584"/>
            <a:ext cx="146304" cy="73152"/>
          </a:xfrm>
          <a:prstGeom prst="downArrow">
            <a:avLst/>
          </a:prstGeom>
          <a:solidFill>
            <a:srgbClr val="0F4C5C"/>
          </a:solidFill>
          <a:ln w="31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773168" y="3602736"/>
            <a:ext cx="395020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937760" y="3794759"/>
            <a:ext cx="420624" cy="402335"/>
          </a:xfrm>
          <a:prstGeom prst="roundRect">
            <a:avLst/>
          </a:prstGeom>
          <a:solidFill>
            <a:srgbClr val="F6E3C8"/>
          </a:solidFill>
          <a:ln w="9525">
            <a:solidFill>
              <a:srgbClr val="7F8C9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88636" y="3685031"/>
            <a:ext cx="11887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001768" y="3776472"/>
            <a:ext cx="292608" cy="45720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047488" y="3630168"/>
            <a:ext cx="201168" cy="73152"/>
          </a:xfrm>
          <a:prstGeom prst="rect">
            <a:avLst/>
          </a:prstGeom>
          <a:solidFill>
            <a:srgbClr val="F26B1D"/>
          </a:solidFill>
          <a:ln w="3175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3630168"/>
            <a:ext cx="312724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④ 充填室で充填・キャップ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32120" y="3849624"/>
            <a:ext cx="3127248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ゼリーを充填してキャップを付け、殺菌室で容器ごと殺菌 → 2階で包装・箱詰め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73168" y="4261104"/>
            <a:ext cx="3950208" cy="1280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オレンジ＝圧着部・キャップ。図は概念図（寸法は実物と異なります）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4480560"/>
            <a:ext cx="8503920" cy="31089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1480" y="4480560"/>
            <a:ext cx="8321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dirty="0" err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用語：</a:t>
            </a:r>
            <a:r>
              <a:rPr sz="850" b="0" dirty="0" err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パウチ＝アルミ等を貼り合わせた柔らかい袋。スパウト＝飲み口になるストロー状の注ぎ口（キャップ付き</a:t>
            </a:r>
            <a:r>
              <a:rPr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）。</a:t>
            </a:r>
            <a:r>
              <a:rPr sz="850" b="0" dirty="0" err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製袋機＝空パウチにスパウトを圧着する機械（既設SPM機</a:t>
            </a:r>
            <a:r>
              <a:rPr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）。</a:t>
            </a:r>
            <a:endParaRPr lang="en-US" sz="85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  <a:p>
            <a:pPr algn="l"/>
            <a:r>
              <a:rPr sz="850" b="0" dirty="0" err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マガジン＝製袋機</a:t>
            </a:r>
            <a:r>
              <a:rPr lang="ja-JP" altLang="en-US" sz="850" b="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に空パウチを入れる</a:t>
            </a:r>
            <a:r>
              <a:rPr lang="ja-JP" altLang="en-US" sz="850" dirty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ための</a:t>
            </a:r>
            <a:r>
              <a:rPr sz="850" b="0" dirty="0" err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投入口</a:t>
            </a:r>
            <a:endParaRPr sz="850" b="0" dirty="0">
              <a:solidFill>
                <a:srgbClr val="1F2A30"/>
              </a:solidFill>
              <a:latin typeface="BIZ UDPGothic"/>
              <a:ea typeface="BIZ UDPGothic"/>
              <a:cs typeface="BIZ UDP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3. 製袋室のレイアウト ビフォー・アフター（デフォルメ図）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a〜iは機械の記号で、次ページ「各機械の役割」と対応（①〜は別紙1の工程番号）。寸法・角度・位置は簡略化しています。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4114800" cy="2971800"/>
          </a:xfrm>
          <a:prstGeom prst="rect">
            <a:avLst/>
          </a:prstGeom>
          <a:solidFill>
            <a:srgbClr val="F7F9FA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20040" y="1097280"/>
            <a:ext cx="914400" cy="292608"/>
          </a:xfrm>
          <a:prstGeom prst="rect">
            <a:avLst/>
          </a:prstGeom>
          <a:solidFill>
            <a:srgbClr val="5B6770"/>
          </a:solidFill>
          <a:ln w="12700">
            <a:solidFill>
              <a:srgbClr val="5B677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2004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現状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25880" y="1097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◀ </a:t>
            </a:r>
            <a:r>
              <a:rPr lang="en-US" sz="800" dirty="0" err="1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資材保管室から搬入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520" y="1965960"/>
            <a:ext cx="1234440" cy="1234440"/>
          </a:xfrm>
          <a:prstGeom prst="rect">
            <a:avLst/>
          </a:prstGeom>
          <a:solidFill>
            <a:srgbClr val="FFF2CC"/>
          </a:solidFill>
          <a:ln w="15875">
            <a:solidFill>
              <a:srgbClr val="E6A1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731520" y="1965960"/>
            <a:ext cx="123444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a. 製袋機</a:t>
            </a:r>
            <a:endParaRPr lang="en-US" sz="950" u="sng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（既設SPM機）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スパウト熱圧着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965960" y="1810512"/>
            <a:ext cx="182880" cy="777240"/>
          </a:xfrm>
          <a:prstGeom prst="rect">
            <a:avLst/>
          </a:prstGeom>
          <a:solidFill>
            <a:srgbClr val="DDEBF7"/>
          </a:solidFill>
          <a:ln w="15875">
            <a:solidFill>
              <a:srgbClr val="0070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563624" y="160020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B53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b. マガジン</a:t>
            </a:r>
            <a:endParaRPr lang="en-US" sz="850" u="sng" dirty="0"/>
          </a:p>
        </p:txBody>
      </p:sp>
      <p:sp>
        <p:nvSpPr>
          <p:cNvPr id="17" name="Shape 15"/>
          <p:cNvSpPr/>
          <p:nvPr/>
        </p:nvSpPr>
        <p:spPr>
          <a:xfrm>
            <a:off x="1965960" y="3337560"/>
            <a:ext cx="1371600" cy="182880"/>
          </a:xfrm>
          <a:prstGeom prst="rect">
            <a:avLst/>
          </a:prstGeom>
          <a:solidFill>
            <a:srgbClr val="FFD9EC"/>
          </a:solidFill>
          <a:ln w="15875">
            <a:solidFill>
              <a:srgbClr val="E75A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691640" y="35478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B5176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d. コンベア（搬送）</a:t>
            </a:r>
            <a:endParaRPr lang="en-US" sz="850" u="sng" dirty="0"/>
          </a:p>
        </p:txBody>
      </p:sp>
      <p:sp>
        <p:nvSpPr>
          <p:cNvPr id="19" name="Shape 17"/>
          <p:cNvSpPr/>
          <p:nvPr/>
        </p:nvSpPr>
        <p:spPr>
          <a:xfrm>
            <a:off x="3355848" y="3063240"/>
            <a:ext cx="566928" cy="658368"/>
          </a:xfrm>
          <a:prstGeom prst="rect">
            <a:avLst/>
          </a:prstGeom>
          <a:solidFill>
            <a:srgbClr val="E9DDF5"/>
          </a:solidFill>
          <a:ln w="15875">
            <a:solidFill>
              <a:srgbClr val="7030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3355848" y="3063240"/>
            <a:ext cx="566928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e. リーク</a:t>
            </a:r>
            <a:endParaRPr lang="en-US" sz="850" u="sng" dirty="0"/>
          </a:p>
          <a:p>
            <a:pPr marL="0" indent="0" algn="ctr">
              <a:buNone/>
            </a:pPr>
            <a:r>
              <a:rPr lang="en-US" sz="85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チェッカ</a:t>
            </a:r>
            <a:endParaRPr lang="en-US" sz="850" u="sng" dirty="0"/>
          </a:p>
        </p:txBody>
      </p:sp>
      <p:sp>
        <p:nvSpPr>
          <p:cNvPr id="21" name="Shape 19"/>
          <p:cNvSpPr/>
          <p:nvPr/>
        </p:nvSpPr>
        <p:spPr>
          <a:xfrm>
            <a:off x="3959352" y="3291840"/>
            <a:ext cx="384048" cy="201168"/>
          </a:xfrm>
          <a:prstGeom prst="rightArrow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721608" y="374904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充填室へ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703320" y="1426464"/>
            <a:ext cx="658368" cy="502920"/>
          </a:xfrm>
          <a:prstGeom prst="rect">
            <a:avLst/>
          </a:prstGeom>
          <a:solidFill>
            <a:srgbClr val="E7E6E6"/>
          </a:solidFill>
          <a:ln w="15875">
            <a:solidFill>
              <a:srgbClr val="7F7F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703320" y="1426464"/>
            <a:ext cx="65836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f. ホッパ</a:t>
            </a:r>
            <a:endParaRPr lang="en-US" sz="850" u="sng" dirty="0"/>
          </a:p>
          <a:p>
            <a:pPr marL="0" indent="0" algn="ctr">
              <a:buNone/>
            </a:pPr>
            <a:r>
              <a:rPr lang="en-US" sz="85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ローダ</a:t>
            </a:r>
            <a:endParaRPr lang="en-US" sz="850" u="sng" dirty="0"/>
          </a:p>
        </p:txBody>
      </p:sp>
      <p:sp>
        <p:nvSpPr>
          <p:cNvPr id="25" name="Shape 23"/>
          <p:cNvSpPr/>
          <p:nvPr/>
        </p:nvSpPr>
        <p:spPr>
          <a:xfrm>
            <a:off x="2221992" y="1874520"/>
            <a:ext cx="548640" cy="658368"/>
          </a:xfrm>
          <a:prstGeom prst="rect">
            <a:avLst/>
          </a:prstGeom>
          <a:solidFill>
            <a:srgbClr val="E2F0D9"/>
          </a:solidFill>
          <a:ln w="15875">
            <a:solidFill>
              <a:srgbClr val="00B05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2221992" y="1874520"/>
            <a:ext cx="54864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146B2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c. 踏み台</a:t>
            </a:r>
            <a:endParaRPr lang="en-US" sz="850" u="sng" dirty="0"/>
          </a:p>
        </p:txBody>
      </p:sp>
      <p:sp>
        <p:nvSpPr>
          <p:cNvPr id="27" name="Shape 25"/>
          <p:cNvSpPr/>
          <p:nvPr/>
        </p:nvSpPr>
        <p:spPr>
          <a:xfrm>
            <a:off x="2427732" y="1554480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2368296" y="1705356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834640" y="1993392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投入担当（パート）1名 ②〜⑦</a:t>
            </a:r>
            <a:endParaRPr lang="en-US" sz="800" dirty="0"/>
          </a:p>
          <a:p>
            <a:pPr marL="0" indent="0"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手でほぐしてマガジンへ投入</a:t>
            </a:r>
          </a:p>
          <a:p>
            <a:pPr marL="0" indent="0"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3分詰めて5分で空、の繰り返し</a:t>
            </a:r>
          </a:p>
          <a:p>
            <a:pPr marL="0" indent="0">
              <a:buNone/>
            </a:pPr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1日約131回、離れられない</a:t>
            </a:r>
          </a:p>
        </p:txBody>
      </p:sp>
      <p:sp>
        <p:nvSpPr>
          <p:cNvPr id="30" name="Shape 28"/>
          <p:cNvSpPr/>
          <p:nvPr/>
        </p:nvSpPr>
        <p:spPr>
          <a:xfrm flipH="1">
            <a:off x="2167128" y="2103120"/>
            <a:ext cx="182880" cy="0"/>
          </a:xfrm>
          <a:prstGeom prst="line">
            <a:avLst/>
          </a:prstGeom>
          <a:noFill/>
          <a:ln w="15875">
            <a:solidFill>
              <a:srgbClr val="2F5D8A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286000" y="2670048"/>
            <a:ext cx="502920" cy="310896"/>
          </a:xfrm>
          <a:prstGeom prst="rect">
            <a:avLst/>
          </a:prstGeom>
          <a:solidFill>
            <a:srgbClr val="EFE3D3"/>
          </a:solidFill>
          <a:ln w="15875">
            <a:solidFill>
              <a:srgbClr val="B089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2286000" y="2670048"/>
            <a:ext cx="50292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パウチ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段ボール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862072" y="2670048"/>
            <a:ext cx="502920" cy="310896"/>
          </a:xfrm>
          <a:prstGeom prst="rect">
            <a:avLst/>
          </a:prstGeom>
          <a:solidFill>
            <a:srgbClr val="EFE3D3"/>
          </a:solidFill>
          <a:ln w="15875">
            <a:solidFill>
              <a:srgbClr val="B0896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862072" y="2670048"/>
            <a:ext cx="50292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パウチ</a:t>
            </a:r>
            <a:endParaRPr lang="en-US" sz="750" dirty="0"/>
          </a:p>
          <a:p>
            <a:pPr marL="0" indent="0" algn="ctr">
              <a:buNone/>
            </a:pPr>
            <a:r>
              <a:rPr lang="en-US" sz="750" b="1" dirty="0">
                <a:solidFill>
                  <a:srgbClr val="7A5A3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段ボール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202436" y="3246120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1143000" y="3396996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457200" y="37033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5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オペレーター1名 ⑧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62272" y="2423160"/>
            <a:ext cx="219456" cy="329184"/>
          </a:xfrm>
          <a:prstGeom prst="rightArrow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4709160" y="1097280"/>
            <a:ext cx="4114800" cy="2971800"/>
          </a:xfrm>
          <a:prstGeom prst="rect">
            <a:avLst/>
          </a:prstGeom>
          <a:solidFill>
            <a:srgbClr val="F7F9FA"/>
          </a:solidFill>
          <a:ln w="1905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4709160" y="1097280"/>
            <a:ext cx="914400" cy="292608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70916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導入後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715000" y="10972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82312" y="144475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◀ </a:t>
            </a:r>
            <a:r>
              <a:rPr lang="en-US" sz="800" dirty="0" err="1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資材保管室から搬入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120640" y="1965960"/>
            <a:ext cx="1234440" cy="1234440"/>
          </a:xfrm>
          <a:prstGeom prst="rect">
            <a:avLst/>
          </a:prstGeom>
          <a:solidFill>
            <a:srgbClr val="FFF2CC"/>
          </a:solidFill>
          <a:ln w="15875">
            <a:solidFill>
              <a:srgbClr val="E6A1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5120640" y="1965960"/>
            <a:ext cx="123444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50" b="1" u="sng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a. 製袋機</a:t>
            </a:r>
            <a:endParaRPr lang="en-US" sz="950" u="sng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（既設SPM機）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スパウト熱圧着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355080" y="1810512"/>
            <a:ext cx="182880" cy="777240"/>
          </a:xfrm>
          <a:prstGeom prst="rect">
            <a:avLst/>
          </a:prstGeom>
          <a:solidFill>
            <a:srgbClr val="DDEBF7"/>
          </a:solidFill>
          <a:ln w="15875">
            <a:solidFill>
              <a:srgbClr val="0070C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5952744" y="160020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0B53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b. マガジン</a:t>
            </a:r>
            <a:endParaRPr lang="en-US" sz="850" u="sng" dirty="0"/>
          </a:p>
        </p:txBody>
      </p:sp>
      <p:sp>
        <p:nvSpPr>
          <p:cNvPr id="48" name="Shape 46"/>
          <p:cNvSpPr/>
          <p:nvPr/>
        </p:nvSpPr>
        <p:spPr>
          <a:xfrm>
            <a:off x="6355080" y="3337560"/>
            <a:ext cx="1371600" cy="182880"/>
          </a:xfrm>
          <a:prstGeom prst="rect">
            <a:avLst/>
          </a:prstGeom>
          <a:solidFill>
            <a:srgbClr val="FFD9EC"/>
          </a:solidFill>
          <a:ln w="15875">
            <a:solidFill>
              <a:srgbClr val="E75AA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6080760" y="35478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B5176B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d. コンベア（搬送）</a:t>
            </a:r>
            <a:endParaRPr lang="en-US" sz="850" u="sng" dirty="0"/>
          </a:p>
        </p:txBody>
      </p:sp>
      <p:sp>
        <p:nvSpPr>
          <p:cNvPr id="50" name="Shape 48"/>
          <p:cNvSpPr/>
          <p:nvPr/>
        </p:nvSpPr>
        <p:spPr>
          <a:xfrm>
            <a:off x="7744968" y="3063240"/>
            <a:ext cx="566928" cy="658368"/>
          </a:xfrm>
          <a:prstGeom prst="rect">
            <a:avLst/>
          </a:prstGeom>
          <a:solidFill>
            <a:srgbClr val="E9DDF5"/>
          </a:solidFill>
          <a:ln w="15875">
            <a:solidFill>
              <a:srgbClr val="7030A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9"/>
          <p:cNvSpPr/>
          <p:nvPr/>
        </p:nvSpPr>
        <p:spPr>
          <a:xfrm>
            <a:off x="7744968" y="3063240"/>
            <a:ext cx="566928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e. リーク</a:t>
            </a:r>
            <a:endParaRPr lang="en-US" sz="850" u="sng" dirty="0"/>
          </a:p>
          <a:p>
            <a:pPr marL="0" indent="0" algn="ctr">
              <a:buNone/>
            </a:pPr>
            <a:r>
              <a:rPr lang="en-US" sz="850" b="1" u="sng" dirty="0">
                <a:solidFill>
                  <a:srgbClr val="5E2A8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チェッカ</a:t>
            </a:r>
            <a:endParaRPr lang="en-US" sz="850" u="sng" dirty="0"/>
          </a:p>
        </p:txBody>
      </p:sp>
      <p:sp>
        <p:nvSpPr>
          <p:cNvPr id="52" name="Shape 50"/>
          <p:cNvSpPr/>
          <p:nvPr/>
        </p:nvSpPr>
        <p:spPr>
          <a:xfrm>
            <a:off x="8348472" y="3291840"/>
            <a:ext cx="384048" cy="201168"/>
          </a:xfrm>
          <a:prstGeom prst="rightArrow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8110728" y="374904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充填室へ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1426464"/>
            <a:ext cx="658368" cy="502920"/>
          </a:xfrm>
          <a:prstGeom prst="rect">
            <a:avLst/>
          </a:prstGeom>
          <a:solidFill>
            <a:srgbClr val="E7E6E6"/>
          </a:solidFill>
          <a:ln w="15875">
            <a:solidFill>
              <a:srgbClr val="7F7F7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8092440" y="1426464"/>
            <a:ext cx="65836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f. ホッパ</a:t>
            </a:r>
            <a:endParaRPr lang="en-US" sz="850" u="sng" dirty="0"/>
          </a:p>
          <a:p>
            <a:pPr marL="0" indent="0" algn="ctr">
              <a:buNone/>
            </a:pPr>
            <a:r>
              <a:rPr lang="en-US" sz="850" b="1" u="sng" dirty="0">
                <a:solidFill>
                  <a:srgbClr val="595959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ローダ</a:t>
            </a:r>
            <a:endParaRPr lang="en-US" sz="850" u="sng" dirty="0"/>
          </a:p>
        </p:txBody>
      </p:sp>
      <p:sp>
        <p:nvSpPr>
          <p:cNvPr id="56" name="Shape 54"/>
          <p:cNvSpPr/>
          <p:nvPr/>
        </p:nvSpPr>
        <p:spPr>
          <a:xfrm>
            <a:off x="6611112" y="1481328"/>
            <a:ext cx="1243584" cy="1481328"/>
          </a:xfrm>
          <a:prstGeom prst="rect">
            <a:avLst/>
          </a:prstGeom>
          <a:solidFill>
            <a:srgbClr val="FDE2E0"/>
          </a:solidFill>
          <a:ln w="2540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55"/>
          <p:cNvSpPr/>
          <p:nvPr/>
        </p:nvSpPr>
        <p:spPr>
          <a:xfrm>
            <a:off x="6611112" y="1499616"/>
            <a:ext cx="1243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u="sng" dirty="0">
                <a:solidFill>
                  <a:srgbClr val="B800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g. 自動供給装置（新設）</a:t>
            </a:r>
            <a:endParaRPr lang="en-US" sz="850" u="sng" dirty="0"/>
          </a:p>
        </p:txBody>
      </p:sp>
      <p:sp>
        <p:nvSpPr>
          <p:cNvPr id="58" name="Shape 56"/>
          <p:cNvSpPr/>
          <p:nvPr/>
        </p:nvSpPr>
        <p:spPr>
          <a:xfrm>
            <a:off x="6702552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702552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>
            <a:off x="6702552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702552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702552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6986016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6986016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6986016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64"/>
          <p:cNvSpPr/>
          <p:nvPr/>
        </p:nvSpPr>
        <p:spPr>
          <a:xfrm>
            <a:off x="6986016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Shape 65"/>
          <p:cNvSpPr/>
          <p:nvPr/>
        </p:nvSpPr>
        <p:spPr>
          <a:xfrm>
            <a:off x="6986016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7269480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7269480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68"/>
          <p:cNvSpPr/>
          <p:nvPr/>
        </p:nvSpPr>
        <p:spPr>
          <a:xfrm>
            <a:off x="7269480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Shape 69"/>
          <p:cNvSpPr/>
          <p:nvPr/>
        </p:nvSpPr>
        <p:spPr>
          <a:xfrm>
            <a:off x="7269480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2" name="Shape 70"/>
          <p:cNvSpPr/>
          <p:nvPr/>
        </p:nvSpPr>
        <p:spPr>
          <a:xfrm>
            <a:off x="7269480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Shape 71"/>
          <p:cNvSpPr/>
          <p:nvPr/>
        </p:nvSpPr>
        <p:spPr>
          <a:xfrm>
            <a:off x="7552944" y="173736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72"/>
          <p:cNvSpPr/>
          <p:nvPr/>
        </p:nvSpPr>
        <p:spPr>
          <a:xfrm>
            <a:off x="7552944" y="182880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7552944" y="192024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7552944" y="201168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75"/>
          <p:cNvSpPr/>
          <p:nvPr/>
        </p:nvSpPr>
        <p:spPr>
          <a:xfrm>
            <a:off x="7552944" y="2103120"/>
            <a:ext cx="182880" cy="73152"/>
          </a:xfrm>
          <a:prstGeom prst="rect">
            <a:avLst/>
          </a:prstGeom>
          <a:solidFill>
            <a:srgbClr val="F4A6A0"/>
          </a:solidFill>
          <a:ln w="635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Text 76"/>
          <p:cNvSpPr/>
          <p:nvPr/>
        </p:nvSpPr>
        <p:spPr>
          <a:xfrm>
            <a:off x="6629400" y="22128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B800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h. 専用パレット 5段×4列</a:t>
            </a:r>
            <a:endParaRPr lang="en-US" sz="750" dirty="0"/>
          </a:p>
          <a:p>
            <a:pPr marL="0" indent="0" algn="ctr">
              <a:buNone/>
            </a:pPr>
            <a:r>
              <a:rPr lang="en-US" sz="750" dirty="0">
                <a:solidFill>
                  <a:srgbClr val="B800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（24,000袋≒約2時間分）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6684264" y="2578608"/>
            <a:ext cx="274320" cy="274320"/>
          </a:xfrm>
          <a:prstGeom prst="ellipse">
            <a:avLst/>
          </a:prstGeom>
          <a:solidFill>
            <a:srgbClr val="E60000"/>
          </a:solidFill>
          <a:ln w="12700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Text 78"/>
          <p:cNvSpPr/>
          <p:nvPr/>
        </p:nvSpPr>
        <p:spPr>
          <a:xfrm>
            <a:off x="6995160" y="2542032"/>
            <a:ext cx="841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ロボットアームが</a:t>
            </a:r>
            <a:endParaRPr lang="en-US" sz="750" dirty="0"/>
          </a:p>
          <a:p>
            <a:pPr marL="0" indent="0">
              <a:buNone/>
            </a:pPr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マガジンへ供給</a:t>
            </a:r>
          </a:p>
        </p:txBody>
      </p:sp>
      <p:sp>
        <p:nvSpPr>
          <p:cNvPr id="81" name="Shape 79"/>
          <p:cNvSpPr/>
          <p:nvPr/>
        </p:nvSpPr>
        <p:spPr>
          <a:xfrm flipH="1" flipV="1">
            <a:off x="6556248" y="2331720"/>
            <a:ext cx="128016" cy="356616"/>
          </a:xfrm>
          <a:prstGeom prst="line">
            <a:avLst/>
          </a:prstGeom>
          <a:noFill/>
          <a:ln w="15875">
            <a:solidFill>
              <a:srgbClr val="E60000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2" name="Shape 80"/>
          <p:cNvSpPr/>
          <p:nvPr/>
        </p:nvSpPr>
        <p:spPr>
          <a:xfrm>
            <a:off x="8074152" y="2011680"/>
            <a:ext cx="713232" cy="960120"/>
          </a:xfrm>
          <a:prstGeom prst="rect">
            <a:avLst/>
          </a:prstGeom>
          <a:solidFill>
            <a:srgbClr val="FDE8DC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8074152" y="2029968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u="sng" dirty="0">
                <a:solidFill>
                  <a:srgbClr val="B84A0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i. 仮置き台車</a:t>
            </a:r>
            <a:endParaRPr lang="en-US" sz="750" u="sng" dirty="0"/>
          </a:p>
        </p:txBody>
      </p:sp>
      <p:sp>
        <p:nvSpPr>
          <p:cNvPr id="84" name="Shape 82"/>
          <p:cNvSpPr/>
          <p:nvPr/>
        </p:nvSpPr>
        <p:spPr>
          <a:xfrm>
            <a:off x="8362188" y="2212848"/>
            <a:ext cx="137160" cy="137160"/>
          </a:xfrm>
          <a:prstGeom prst="ellipse">
            <a:avLst/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5" name="Shape 83"/>
          <p:cNvSpPr/>
          <p:nvPr/>
        </p:nvSpPr>
        <p:spPr>
          <a:xfrm>
            <a:off x="8302752" y="2363724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6" name="Text 84"/>
          <p:cNvSpPr/>
          <p:nvPr/>
        </p:nvSpPr>
        <p:spPr>
          <a:xfrm>
            <a:off x="8074152" y="26517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7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② パレット詰め</a:t>
            </a:r>
            <a:endParaRPr lang="en-US" sz="650" dirty="0"/>
          </a:p>
          <a:p>
            <a:pPr marL="0" indent="0" algn="ctr">
              <a:buNone/>
            </a:pPr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約2分／枚</a:t>
            </a:r>
          </a:p>
          <a:p>
            <a:pPr marL="0" indent="0" algn="ctr">
              <a:buNone/>
            </a:pPr>
            <a:r>
              <a:rPr sz="7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早番・中番</a:t>
            </a:r>
          </a:p>
        </p:txBody>
      </p:sp>
      <p:sp>
        <p:nvSpPr>
          <p:cNvPr id="87" name="Shape 85"/>
          <p:cNvSpPr/>
          <p:nvPr/>
        </p:nvSpPr>
        <p:spPr>
          <a:xfrm flipH="1">
            <a:off x="7872984" y="2468880"/>
            <a:ext cx="201168" cy="0"/>
          </a:xfrm>
          <a:prstGeom prst="line">
            <a:avLst/>
          </a:prstGeom>
          <a:noFill/>
          <a:ln w="15875">
            <a:solidFill>
              <a:srgbClr val="F26B1D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8" name="Text 86"/>
          <p:cNvSpPr/>
          <p:nvPr/>
        </p:nvSpPr>
        <p:spPr>
          <a:xfrm>
            <a:off x="7872984" y="2286000"/>
            <a:ext cx="2011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B84A0A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装填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5591556" y="3246120"/>
            <a:ext cx="137160" cy="137160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0" name="Shape 88"/>
          <p:cNvSpPr/>
          <p:nvPr/>
        </p:nvSpPr>
        <p:spPr>
          <a:xfrm>
            <a:off x="5532120" y="3396996"/>
            <a:ext cx="256032" cy="274320"/>
          </a:xfrm>
          <a:prstGeom prst="roundRect">
            <a:avLst>
              <a:gd name="adj" fmla="val 25000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1" name="Text 89"/>
          <p:cNvSpPr/>
          <p:nvPr/>
        </p:nvSpPr>
        <p:spPr>
          <a:xfrm>
            <a:off x="4846320" y="37033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5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オペレーター1名 ⑤</a:t>
            </a:r>
            <a:endParaRPr lang="en-US" sz="850" dirty="0"/>
          </a:p>
          <a:p>
            <a:pPr marL="0" indent="0">
              <a:buNone/>
            </a:pPr>
            <a:r>
              <a:rPr sz="85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（遅番はパレット入替③を兼務）</a:t>
            </a:r>
          </a:p>
        </p:txBody>
      </p:sp>
      <p:sp>
        <p:nvSpPr>
          <p:cNvPr id="92" name="Shape 90"/>
          <p:cNvSpPr/>
          <p:nvPr/>
        </p:nvSpPr>
        <p:spPr>
          <a:xfrm>
            <a:off x="320040" y="4178808"/>
            <a:ext cx="219456" cy="137160"/>
          </a:xfrm>
          <a:prstGeom prst="rect">
            <a:avLst/>
          </a:prstGeom>
          <a:solidFill>
            <a:srgbClr val="FDE2E0"/>
          </a:solidFill>
          <a:ln w="15875">
            <a:solidFill>
              <a:srgbClr val="E600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576072" y="41330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新設（g・h）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1371600" y="4178808"/>
            <a:ext cx="219456" cy="137160"/>
          </a:xfrm>
          <a:prstGeom prst="rect">
            <a:avLst/>
          </a:prstGeom>
          <a:solidFill>
            <a:srgbClr val="FDE8DC"/>
          </a:solidFill>
          <a:ln w="15875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5" name="Text 93"/>
          <p:cNvSpPr/>
          <p:nvPr/>
        </p:nvSpPr>
        <p:spPr>
          <a:xfrm>
            <a:off x="1627632" y="4133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新設（i）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2286000" y="4178808"/>
            <a:ext cx="219456" cy="137160"/>
          </a:xfrm>
          <a:prstGeom prst="rect">
            <a:avLst/>
          </a:prstGeom>
          <a:solidFill>
            <a:srgbClr val="FFF2CC"/>
          </a:solidFill>
          <a:ln w="15875">
            <a:solidFill>
              <a:srgbClr val="E6A1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7" name="Text 95"/>
          <p:cNvSpPr/>
          <p:nvPr/>
        </p:nvSpPr>
        <p:spPr>
          <a:xfrm>
            <a:off x="2542032" y="413308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 err="1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既存の設備（a〜f</a:t>
            </a: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）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175504" y="4151376"/>
            <a:ext cx="82296" cy="82296"/>
          </a:xfrm>
          <a:prstGeom prst="ellipse">
            <a:avLst/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9" name="Shape 97"/>
          <p:cNvSpPr/>
          <p:nvPr/>
        </p:nvSpPr>
        <p:spPr>
          <a:xfrm>
            <a:off x="5143500" y="4242816"/>
            <a:ext cx="155448" cy="109728"/>
          </a:xfrm>
          <a:prstGeom prst="roundRect">
            <a:avLst>
              <a:gd name="adj" fmla="val 33333"/>
            </a:avLst>
          </a:prstGeom>
          <a:solidFill>
            <a:srgbClr val="2F5D8A"/>
          </a:solidFill>
          <a:ln w="6350">
            <a:solidFill>
              <a:srgbClr val="2F5D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0" name="Text 98"/>
          <p:cNvSpPr/>
          <p:nvPr/>
        </p:nvSpPr>
        <p:spPr>
          <a:xfrm>
            <a:off x="5358384" y="413308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オペレーター・投入担当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912864" y="4151376"/>
            <a:ext cx="82296" cy="82296"/>
          </a:xfrm>
          <a:prstGeom prst="ellipse">
            <a:avLst/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2" name="Shape 100"/>
          <p:cNvSpPr/>
          <p:nvPr/>
        </p:nvSpPr>
        <p:spPr>
          <a:xfrm>
            <a:off x="6880860" y="4242816"/>
            <a:ext cx="155448" cy="109728"/>
          </a:xfrm>
          <a:prstGeom prst="roundRect">
            <a:avLst>
              <a:gd name="adj" fmla="val 33333"/>
            </a:avLst>
          </a:prstGeom>
          <a:solidFill>
            <a:srgbClr val="F26B1D"/>
          </a:solidFill>
          <a:ln w="635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101"/>
          <p:cNvSpPr/>
          <p:nvPr/>
        </p:nvSpPr>
        <p:spPr>
          <a:xfrm>
            <a:off x="7095744" y="41330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詰め担当（導入後）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0040" y="4425696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変わる点：</a:t>
            </a:r>
            <a:r>
              <a:rPr sz="9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踏み台での手投入（3分詰めて5分で空、の繰り返し）がなくなり、マガジン脇に自動供給装置を設置。人は専用パレットへ詰めるだけになり、投入担当を常時置く必要がなくなる。製袋機より後ろの工程は変更なし。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4. 各機械の役割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記号a〜kは前ページのレイアウト図と対応。j・kは製袋室の外（図にはありません）。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5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15568"/>
          <a:ext cx="8503920" cy="333908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記号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区分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役割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導入後の変化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8F5D0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製袋機（既設SPM機）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既設・改造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パウチにストロー（スパウト）を熱圧着する。能力150袋／分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自動供給に合わせて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部品改造・設計変更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b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B5394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マガジン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製袋機の投入口。現在は踏み台に立った担当者が手で投入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装置から自動供給を受ける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c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46B2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踏み台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投入担当のパートが立って作業する台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手投入がなくなり使用しない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d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5176B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コンベア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スパウトを付けたパウチをリークチェッカへ搬送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e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5E2A8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リークチェッカ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スパウトの圧着漏れがないか検査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f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595959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ホッパローダ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充填後に付けるキャップを供給（隣の充填室へコンベアで送る）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g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000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パウチ自動供給装置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ロボットアームがパレットからパウチを取り出しマガジンへ自動供給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ストック20パレット（5段×4列＝24,000袋、約2時間分）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供給能力100袋／15秒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手投入を置き換える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h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000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専用パレット（90枚）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1枚1,200袋。型替えで2種のパウチに兼用（約1〜1.5分／枚）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装置内25枚（5段×4列＋予備1列）＋予備65枚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詰め作業に使用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（約2分／枚）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i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仮置き台車（17台）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詰め終わったパレットの一時保管と運搬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装填・入替に使用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j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充填・殺菌設備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既設（1F）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G仕込室で調合液を仕込み・殺菌 → 充填室で充填・キャップ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→ 殺菌室で容器ごと殺菌（リフトスチーマー）</a:t>
                      </a: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k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包装設備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既設・2F包装室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包装・箱詰めののち1階へ下ろす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変更なし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5. 投入作業のサイクル（現状 vs 導入後）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現状は「3分詰めて5分で空」の繰り返しで持ち場を離れられない。導入後は約2時間に1回の入替（約3分）だけになる（同じ4時間分で比較）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株式会社トンボ飲料様　Gライン パウチ自動供給装置の導入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開始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4602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1時間後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2時間後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6742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7979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3時間後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3407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7899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4時間後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9388" y="1225296"/>
            <a:ext cx="9144" cy="91440"/>
          </a:xfrm>
          <a:prstGeom prst="rect">
            <a:avLst/>
          </a:prstGeom>
          <a:solidFill>
            <a:srgbClr val="8A9BA8"/>
          </a:solidFill>
          <a:ln w="3175">
            <a:solidFill>
              <a:srgbClr val="8A9BA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" y="131673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現状：手投入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16736"/>
            <a:ext cx="57607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約8分サイクル（投入3分＋空になるまで5分）が4時間で30回、1日では約131回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1536192"/>
            <a:ext cx="8503920" cy="384048"/>
          </a:xfrm>
          <a:prstGeom prst="rect">
            <a:avLst/>
          </a:prstGeom>
          <a:solidFill>
            <a:srgbClr val="E6EEF1"/>
          </a:solidFill>
          <a:ln w="6350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004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3503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6968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70431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453895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73736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02082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304288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58775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871216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15468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3814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721607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00507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88536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85546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138927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2239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05855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98932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72783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556248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839712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123175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406640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690104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7973567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257031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540496" y="1536192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8328" y="1938528"/>
            <a:ext cx="5486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■ 投入（約3分）　□ 空になるまで（約5分：次の束のほぐし・開梱に追われる）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2157984"/>
            <a:ext cx="18288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1サイクルの拡大（約8分）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359152"/>
            <a:ext cx="1508760" cy="420624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828800" y="2359152"/>
            <a:ext cx="2514600" cy="420624"/>
          </a:xfrm>
          <a:prstGeom prst="rect">
            <a:avLst/>
          </a:prstGeom>
          <a:solidFill>
            <a:srgbClr val="E6EEF1"/>
          </a:solidFill>
          <a:ln w="6350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5759" y="2359152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投入 約3分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踏み台に上がり束を詰める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2359152"/>
            <a:ext cx="2423160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5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約5分で空になる</a:t>
            </a:r>
          </a:p>
          <a:p>
            <a:pPr algn="ctr"/>
            <a:r>
              <a:rPr sz="8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合間も次の束のほぐし・開梱で手が空かない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80" y="2157984"/>
            <a:ext cx="42976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1日の稼働1,050分 ÷ 8分 ≒ 約131回の投入。</a:t>
            </a:r>
          </a:p>
          <a:p>
            <a:pPr algn="l"/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投入担当（パート1名）はシフト中ずっと持ち場に拘束され、早番150分・中番480分・遅番420分＝1,050分／日。遅番は派遣が確保できず、日勤社員のカバー出勤が常態化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" y="290779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導入後：自動供給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63240" y="2907792"/>
            <a:ext cx="57607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装置に約2時間分（パレット20枚＝24,000袋、フジシール資料）を装填。入替は約3分×4時間で2回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3127248"/>
            <a:ext cx="8503920" cy="384048"/>
          </a:xfrm>
          <a:prstGeom prst="rect">
            <a:avLst/>
          </a:prstGeom>
          <a:solidFill>
            <a:srgbClr val="E6EEF1"/>
          </a:solidFill>
          <a:ln w="6350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465701" y="3127248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717661" y="3127248"/>
            <a:ext cx="106299" cy="384048"/>
          </a:xfrm>
          <a:prstGeom prst="rect">
            <a:avLst/>
          </a:prstGeom>
          <a:solidFill>
            <a:srgbClr val="F26B1D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79" y="3127248"/>
            <a:ext cx="39627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ロボットが自動供給 約2時間</a:t>
            </a:r>
          </a:p>
          <a:p>
            <a:pPr algn="ct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パウチ詰めは早番・中番が自分のペースでまとめて実施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63440" y="3127248"/>
            <a:ext cx="39627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ロボットが自動供給 約2時間</a:t>
            </a:r>
          </a:p>
          <a:p>
            <a:pPr algn="ct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パウチ詰めは早番・中番が自分のペースでまとめて実施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" y="3529584"/>
            <a:ext cx="5486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■ パレットの入替（約3分。遅番は製袋室オペレーターが兼務）　□ 人手不要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37124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パレット詰め（約2分／枚）</a:t>
            </a: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は早番・中番がまとめて行う → 1品種の日250分、2品種の日168分（月平均209分）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63440" y="37124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入替（約3分）</a:t>
            </a:r>
            <a:r>
              <a:rPr sz="85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は生産量÷24,000袋で1品種の日6回＝18分、2品種の日4回＝12分。遅番はオペレーターが兼務し、投入担当が不要に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4114800"/>
            <a:ext cx="2724912" cy="676656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57200" y="4133087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1,050分 → 251分／日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4462272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投入の拘束時間 → 導入後の関連作業（搬入20＋詰め209＋入替15＋型替え7、月平均）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9544" y="4114800"/>
            <a:ext cx="2724912" cy="676656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346703" y="4133087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約799分／日 創出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346703" y="4462272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≒13.3時間。主に中番・遅番で創出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99048" y="4114800"/>
            <a:ext cx="2724912" cy="676656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36208" y="4133087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7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省力化指数 0.78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36208" y="4462272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（1,030−231）÷1,030。別紙1の自動計算と同じ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6. パウチ供給工程のビフォー・アフター（1日の人手作業時間）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①〜の番号と数値は別紙1と同じ。オレンジ＝左は無くなる作業、右は新たな作業。下3段は前後で変わらない作業。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7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3200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097280"/>
            <a:ext cx="822960" cy="274320"/>
          </a:xfrm>
          <a:prstGeom prst="rect">
            <a:avLst/>
          </a:prstGeom>
          <a:solidFill>
            <a:srgbClr val="5B6770"/>
          </a:solidFill>
          <a:ln w="12700">
            <a:solidFill>
              <a:srgbClr val="5B677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0972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現状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97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投入担当の作業 1,050分／日（①〜⑦の合計）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26464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1426464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① 空パウチの搬入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42646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1426464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数箱ずつ5〜6回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（変わらない）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719072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4632" y="171907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② 段ボールの開梱・束出し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171907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43分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1719072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43箱×1分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（詰め作業に含める）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011680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" y="201168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③ 空段ボールの片付け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01168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22分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01168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43箱×0.5分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（詰め作業に含める）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304288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230428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④ パウチのほぐし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230428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563分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30428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（投入の合間に継続）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596896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" y="2596896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⑤ 踏み台の昇降・残量確認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2596896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79分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2596896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（0.6分×131回）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889504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632" y="2889504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⑥ マガジンへの手投入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88950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315分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889504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（2.4分×131回）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182112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84632" y="318211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⑦ 品種切替時のパウチ切替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318211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8分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182112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無くなる（月平均）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2品種の日に15分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474720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347472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⑧ 製袋機の運転・監視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347472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0" y="347472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オペレーター1名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767328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4632" y="37673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⑨ 充填（充填室）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376732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0" y="376732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1名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059935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84632" y="4059935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⑩ 包装・箱詰め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23160" y="4059935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2,625分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059935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2〜3名（平均2.5名）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1097280"/>
            <a:ext cx="4160520" cy="3310128"/>
          </a:xfrm>
          <a:prstGeom prst="rect">
            <a:avLst/>
          </a:prstGeom>
          <a:solidFill>
            <a:srgbClr val="F7F9FA"/>
          </a:solidFill>
          <a:ln w="15875">
            <a:solidFill>
              <a:srgbClr val="0F4C5C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663440" y="1097280"/>
            <a:ext cx="822960" cy="27432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663440" y="10972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導入後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0" y="10972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投入に代わる作業 251分／日（①〜④。うち新規231分）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54880" y="1426464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828032" y="1426464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① 空パウチの搬入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426464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20分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43800" y="1426464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変化なし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754880" y="1719072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828032" y="1719072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② 専用パレットへの詰め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0" y="1719072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209分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43800" y="1719072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新規（約2分／枚）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250／168分の平均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754880" y="2011680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828032" y="201168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③ パレットの装填・入替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0" y="201168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15分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43800" y="201168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新規（月平均）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約3分×約2時間に1回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754880" y="2304288"/>
            <a:ext cx="3977639" cy="256032"/>
          </a:xfrm>
          <a:prstGeom prst="rect">
            <a:avLst/>
          </a:prstGeom>
          <a:solidFill>
            <a:srgbClr val="FDE8DC"/>
          </a:solidFill>
          <a:ln w="19050">
            <a:solidFill>
              <a:srgbClr val="F26B1D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828032" y="230428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④ 専用パレットの型替え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230428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7分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43800" y="230428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新規（月平均7分）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2品種の日の半数で28分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754880" y="2596896"/>
            <a:ext cx="3977639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846320" y="2596896"/>
            <a:ext cx="3794760" cy="8412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8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（該当する作業なし）</a:t>
            </a:r>
          </a:p>
          <a:p>
            <a:pPr algn="ct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②③の開梱・片付けは詰め作業②に含めて計上</a:t>
            </a:r>
          </a:p>
          <a:p>
            <a:pPr algn="ctr"/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④〜⑦はロボットが供給するため無くなる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3474720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828032" y="3474720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⑤ 製袋機の運転・監視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0" y="3474720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43800" y="3474720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供給はロボット</a:t>
            </a:r>
          </a:p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（人手0分）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754880" y="3767328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828032" y="37673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⑥ 充填（充填室）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3767328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1,050分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43800" y="3767328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変化なし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754880" y="4059935"/>
            <a:ext cx="3977639" cy="256032"/>
          </a:xfrm>
          <a:prstGeom prst="rect">
            <a:avLst/>
          </a:prstGeom>
          <a:solidFill>
            <a:srgbClr val="EEF4F5"/>
          </a:solidFill>
          <a:ln w="9525">
            <a:solidFill>
              <a:srgbClr val="C9D3D8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828032" y="4059935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1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⑦ 包装・箱詰め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0" y="4059935"/>
            <a:ext cx="71323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2,625分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4059935"/>
            <a:ext cx="1161288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変化なし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4480560"/>
            <a:ext cx="8503920" cy="31089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11480" y="4480560"/>
            <a:ext cx="8321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>
                <a:solidFill>
                  <a:srgbClr val="0F4C5C"/>
                </a:solidFill>
                <a:latin typeface="BIZ UDPGothic"/>
                <a:ea typeface="BIZ UDPGothic"/>
                <a:cs typeface="BIZ UDPGothic"/>
              </a:rPr>
              <a:t>別紙1の計算：</a:t>
            </a:r>
            <a:r>
              <a:rPr sz="10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削減 1,030分／日（17.2時間） − 発生 231分／日（3.9時間） ＝ 799分／日（13.3時間）　</a:t>
            </a:r>
            <a:r>
              <a:rPr sz="10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省力化指数 0.78</a:t>
            </a:r>
            <a:r>
              <a:rPr sz="1000" b="0">
                <a:solidFill>
                  <a:srgbClr val="1F2A30"/>
                </a:solidFill>
                <a:latin typeface="BIZ UDPGothic"/>
                <a:ea typeface="BIZ UDPGothic"/>
                <a:cs typeface="BIZ UDPGothic"/>
              </a:rPr>
              <a:t>（＝799÷1,030）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7. 人の配置・担当人数・工数の変化（シフト別）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投入担当の作業（現状）と、それに代わる作業（導入後）の1日の時間。導入後は「1品種の日／2品種の日」の順です。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97280"/>
            <a:ext cx="2724912" cy="67665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57200" y="11155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1,050分 → 251分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14447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投入担当の作業→導入後の関連作業（月平均。搬入20分は変わらず）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9544" y="1097280"/>
            <a:ext cx="2724912" cy="67665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3346704" y="11155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約799分／日 創出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346704" y="14447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≒13.3時間／日。主に中番と遅番で創出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099048" y="1097280"/>
            <a:ext cx="2724912" cy="676656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236208" y="111556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700" b="1">
                <a:solidFill>
                  <a:srgbClr val="B84A0A"/>
                </a:solidFill>
                <a:latin typeface="BIZ UDPGothic"/>
                <a:ea typeface="BIZ UDPGothic"/>
                <a:cs typeface="BIZ UDPGothic"/>
              </a:rPr>
              <a:t>省力化指数 0.78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236208" y="144475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80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（1,030−231）÷1,030。別紙1の自動計算と同じ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0079892"/>
              </p:ext>
            </p:extLst>
          </p:nvPr>
        </p:nvGraphicFramePr>
        <p:xfrm>
          <a:off x="320040" y="1865376"/>
          <a:ext cx="8503920" cy="26517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シフト・作業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時間帯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現状の担当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導入後の担当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現状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（分）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導入後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1品種／2品種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創出時間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1品種／2品種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早番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6:30〜11:00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（投入は8:30から）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投入パート1名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同じ方が詰め作業へ転換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150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150／150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0／0（業務転換）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中番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11:00〜19:00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投入パート1名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早番の残りを詰め、以降は多能工化へ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480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100／18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380／462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遅番（夜勤）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19:00〜26:00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派遣1名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（社員がカバーも）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投入専任なし。入替はオペレーター兼務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420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420／420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搬入（変わらない）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全シフト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上3行の内数（20分）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詰め担当が同じ回数を運ぶ（20分）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（内数）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20／20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−20／−20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装填・入替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約2時間に1回×約3分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なし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新規。日中は詰め担当、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遅番はオペレーターが兼務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18／12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−18／−12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型替え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パウチ形状が変わる日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なし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新規。機内25枚×約1.1分≒28分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（2品種の日の半数で発生→月平均7分）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0／14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0／−14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合計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8:30〜26:00（17.5時間）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延べ3名／日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詰めは早番・中番のみ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1,050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288／214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algn="ctr"/>
                      <a:r>
                        <a:rPr sz="850" b="1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（平均251）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762／836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pPr algn="ctr"/>
                      <a:r>
                        <a:rPr sz="850" b="1">
                          <a:solidFill>
                            <a:srgbClr val="B84A0A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（平均799）</a:t>
                      </a:r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457200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製袋室の配置人数：</a:t>
            </a:r>
            <a:r>
              <a:rPr lang="en-US" sz="850" dirty="0">
                <a:solidFill>
                  <a:srgbClr val="1F2A3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現状2名／シフト → 導入後 早番2名・中番2名・遅番1名（オペレーターのみ）。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F4C5C"/>
          </a:solidFill>
          <a:ln w="12700">
            <a:solidFill>
              <a:srgbClr val="0F4C5C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20040" y="182880"/>
            <a:ext cx="109728" cy="320040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30352" y="73152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BIZ UDPGothic"/>
                <a:ea typeface="BIZ UDPGothic"/>
                <a:cs typeface="BIZ UDPGothic"/>
              </a:rPr>
              <a:t>8. 導入する設備の概要と見積の構成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0040" y="731520"/>
            <a:ext cx="8503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77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株式会社フジシール 御見積書（2026年9月24日・見積No.20260924）および提案資料より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BA8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株式会社トンボ飲料様　Gライン パウチ自動供給装置の導入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 b="0">
                <a:solidFill>
                  <a:srgbClr val="8A9BA8"/>
                </a:solidFill>
                <a:latin typeface="BIZ UDPGothic"/>
                <a:ea typeface="BIZ UDPGothic"/>
                <a:cs typeface="BIZ UDPGothic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115568"/>
            <a:ext cx="4023360" cy="3584448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" y="1115568"/>
            <a:ext cx="73152" cy="3584448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2920" y="117043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設備の概要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26280" y="1115568"/>
            <a:ext cx="4297680" cy="3584448"/>
          </a:xfrm>
          <a:prstGeom prst="rect">
            <a:avLst/>
          </a:prstGeom>
          <a:solidFill>
            <a:srgbClr val="EEF4F5"/>
          </a:solidFill>
          <a:ln w="12700">
            <a:solidFill>
              <a:srgbClr val="D5DEE2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26280" y="1115568"/>
            <a:ext cx="73152" cy="3584448"/>
          </a:xfrm>
          <a:prstGeom prst="rect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09160" y="11704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4C5C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見積の構成（税抜）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17904"/>
          <a:ext cx="3703320" cy="283159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名称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パウチ自動供給装置（ロボットアーム式供給）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メーカー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株式会社フジシール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設置場所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4号棟1階 製袋室（既設SPM機のマガジン脇）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供給方式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専用パレットをU字型コンベアで搬送し、ロボットアームがパウチを取り出してマガジンへ投入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供給能力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100袋あたり15秒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ストック量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5段×4列＝20パレット＝24,000袋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（約2時間分：フジシール資料）</a:t>
                      </a: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1枚1,200袋、詰め 約2分／枚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  <a:p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型替え（2種兼用）約1〜1.5分／枚</a:t>
                      </a: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対象パウチ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幅80〜96mm、高さ115〜150mm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設備重量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約2t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納期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発注から7〜9か月（メーカーの受注状況次第）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0F4C5C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発注時期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交付決定（2027年4〜5月の見込み）の後に発注。2028年1月に完了予定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517904"/>
          <a:ext cx="3977640" cy="2179320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項目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数量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金額（円）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パウチ自動供給装置（ロボットアーム式）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55,250,000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専用パレット（機内25枚＋予備65枚）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90枚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31,500,000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仮置き台車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2,040,000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装置輸送費（車上渡し）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既設SPM機 改造部品・設計変更費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3,600,000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950" b="0">
                          <a:solidFill>
                            <a:srgbClr val="1F2A30"/>
                          </a:solidFill>
                          <a:latin typeface="BIZ UDPGothic"/>
                          <a:ea typeface="BIZ UDPGothic"/>
                          <a:cs typeface="BIZ UDPGothic"/>
                        </a:rPr>
                        <a:t>現地改造工事費（約11日の工事・調整）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4,100,000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小計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96,790,000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値引き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△4,790,000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F2A30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B84A0A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92,000,000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B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4709160" y="402336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見積条件：</a:t>
            </a:r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消費税別・概算金額。ユーティリティ工事は別途。車上渡し条件。</a:t>
            </a:r>
            <a:endParaRPr lang="en-US" sz="900" dirty="0"/>
          </a:p>
          <a:p>
            <a:pPr marL="0" indent="0">
              <a:buNone/>
            </a:pPr>
            <a:r>
              <a:rPr sz="7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トンボ飲料様の手配範囲：</a:t>
            </a:r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荷降ろし・設置（アンカー固定まで）、搬入経路上の機器の一時解体、試運転用の製品・資材。</a:t>
            </a:r>
          </a:p>
          <a:p>
            <a:pPr marL="0" indent="0">
              <a:buNone/>
            </a:pPr>
            <a:r>
              <a:rPr sz="750" b="1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補助申請：</a:t>
            </a:r>
            <a:r>
              <a:rPr sz="750" b="0">
                <a:solidFill>
                  <a:srgbClr val="5B6770"/>
                </a:solidFill>
                <a:latin typeface="BIZ UDPGothic"/>
                <a:ea typeface="BIZ UDPGothic"/>
                <a:cs typeface="BIZ UDPGothic"/>
              </a:rPr>
              <a:t>補助対象経費92,000,000円×補助率1/2＝補助金額46,000,000円。見積は値引き行の削除と名称の修正を依頼中（総額は不変）。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2059</Words>
  <Application>Microsoft Office PowerPoint</Application>
  <PresentationFormat>画面に合わせる (16:9)</PresentationFormat>
  <Paragraphs>451</Paragraphs>
  <Slides>9</Slides>
  <Notes>7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2" baseType="lpstr">
      <vt:lpstr>BIZ UDPGothic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Gライン パウチ自動供給装置 レイアウト・工程ビフォーアフター</dc:title>
  <dc:subject>PptxGenJS Presentation</dc:subject>
  <dc:creator>PptxGenJS</dc:creator>
  <cp:lastModifiedBy>本木</cp:lastModifiedBy>
  <cp:revision>13</cp:revision>
  <dcterms:created xsi:type="dcterms:W3CDTF">2026-09-30T08:00:13Z</dcterms:created>
  <dcterms:modified xsi:type="dcterms:W3CDTF">2026-09-30T13:00:00Z</dcterms:modified>
</cp:coreProperties>
</file>