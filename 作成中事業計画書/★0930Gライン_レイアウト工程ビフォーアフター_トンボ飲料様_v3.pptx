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3" r:id="rId4"/>
    <p:sldId id="258" r:id="rId5"/>
    <p:sldId id="259" r:id="rId6"/>
    <p:sldId id="264" r:id="rId7"/>
    <p:sldId id="260" r:id="rId8"/>
    <p:sldId id="261" r:id="rId9"/>
    <p:sldId id="262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5" d="100"/>
          <a:sy n="125" d="100"/>
        </p:scale>
        <p:origin x="80" y="5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73183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4C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417320"/>
            <a:ext cx="164592" cy="1325880"/>
          </a:xfrm>
          <a:prstGeom prst="rect">
            <a:avLst/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3" name="Text 1"/>
          <p:cNvSpPr/>
          <p:nvPr/>
        </p:nvSpPr>
        <p:spPr>
          <a:xfrm>
            <a:off x="960120" y="137160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Gライン パウチ自動供給装置の導入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60120" y="21031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レイアウトと工程のビフォー・アフター／人の配置・担当人数・工数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30632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株式会社トンボ飲料 様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0120" y="3520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2026年9月30日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434340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 b="0" dirty="0">
                <a:solidFill>
                  <a:srgbClr val="8A9BA8"/>
                </a:solidFill>
                <a:latin typeface="BIZ UDPGothic"/>
                <a:ea typeface="BIZ UDPGothic"/>
                <a:cs typeface="BIZ UDPGothic"/>
              </a:rPr>
              <a:t>出所：フジシール提案資料（2025/12/22・2026/3/25）、御見積書（2026/9/24）、ヒアリングリスト（v5）、配置図面（4号棟1F・2F）、社内打合せ（2026/9/30）、事業計画書（その3）別紙1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3" name="Shape 1"/>
          <p:cNvSpPr/>
          <p:nvPr/>
        </p:nvSpPr>
        <p:spPr>
          <a:xfrm>
            <a:off x="320040" y="182880"/>
            <a:ext cx="109728" cy="320040"/>
          </a:xfrm>
          <a:prstGeom prst="rect">
            <a:avLst/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4" name="Text 2"/>
          <p:cNvSpPr/>
          <p:nvPr/>
        </p:nvSpPr>
        <p:spPr>
          <a:xfrm>
            <a:off x="530352" y="7315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200" b="1" dirty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1. Gライン全体の流れと人の配置（現状）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713232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50" b="0" dirty="0">
                <a:solidFill>
                  <a:srgbClr val="5B6770"/>
                </a:solidFill>
                <a:latin typeface="BIZ UDPGothic"/>
                <a:ea typeface="BIZ UDPGothic"/>
                <a:cs typeface="BIZ UDPGothic"/>
              </a:rPr>
              <a:t>製造ラインは A・D（ドリンク類：セレブレ・シャンメリー等）／F（スティックゼリー）／E・G（パウチゼリー）の5本。本事業はGライン全体が対象で、装置は製袋室に導入し、投入の自動化で安定稼働と人員の再配置につなげます。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A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株式会社トンボ飲料様　Gライン パウチ自動供給装置の導入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321040" y="482803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900" b="0" dirty="0">
                <a:solidFill>
                  <a:srgbClr val="8A9BA8"/>
                </a:solidFill>
                <a:latin typeface="BIZ UDPGothic"/>
                <a:ea typeface="BIZ UDPGothic"/>
                <a:cs typeface="BIZ UDPGothic"/>
              </a:rPr>
              <a:t>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01168" y="1060704"/>
            <a:ext cx="8741664" cy="2688336"/>
          </a:xfrm>
          <a:prstGeom prst="rect">
            <a:avLst/>
          </a:prstGeom>
          <a:solidFill>
            <a:srgbClr val="F3F8F9"/>
          </a:solidFill>
          <a:ln w="19050">
            <a:solidFill>
              <a:srgbClr val="0F4C5C"/>
            </a:solidFill>
            <a:prstDash val="dash"/>
          </a:ln>
        </p:spPr>
        <p:txBody>
          <a:bodyPr/>
          <a:lstStyle/>
          <a:p>
            <a:endParaRPr dirty="0"/>
          </a:p>
        </p:txBody>
      </p:sp>
      <p:sp>
        <p:nvSpPr>
          <p:cNvPr id="9" name="Shape 7"/>
          <p:cNvSpPr/>
          <p:nvPr/>
        </p:nvSpPr>
        <p:spPr>
          <a:xfrm>
            <a:off x="201168" y="1054291"/>
            <a:ext cx="4206240" cy="206987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10" name="Text 8"/>
          <p:cNvSpPr/>
          <p:nvPr/>
        </p:nvSpPr>
        <p:spPr>
          <a:xfrm>
            <a:off x="274320" y="1048829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本事業の対象：Gライン全体（パウチゼリーの製造工程）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0040" y="3511296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 b="1" dirty="0">
                <a:solidFill>
                  <a:srgbClr val="0F4C5C"/>
                </a:solidFill>
                <a:latin typeface="BIZ UDPGothic"/>
                <a:ea typeface="BIZ UDPGothic"/>
                <a:cs typeface="BIZ UDPGothic"/>
              </a:rPr>
              <a:t>効果：投入担当の確保に左右されず17.5時間稼働を維持。創出した時間（約13.3時間／日）は多能工化・品質管理へ再配分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1609344"/>
            <a:ext cx="1234440" cy="1847088"/>
          </a:xfrm>
          <a:prstGeom prst="rect">
            <a:avLst/>
          </a:prstGeom>
          <a:solidFill>
            <a:srgbClr val="EEF4F5"/>
          </a:solidFill>
          <a:ln w="12700">
            <a:solidFill>
              <a:srgbClr val="0F4C5C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14" name="Shape 12"/>
          <p:cNvSpPr/>
          <p:nvPr/>
        </p:nvSpPr>
        <p:spPr>
          <a:xfrm>
            <a:off x="320040" y="1609344"/>
            <a:ext cx="1234440" cy="347472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15" name="Text 13"/>
          <p:cNvSpPr/>
          <p:nvPr/>
        </p:nvSpPr>
        <p:spPr>
          <a:xfrm>
            <a:off x="320040" y="1609344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900" b="1" dirty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資材保管室（1F）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93192" y="2002536"/>
            <a:ext cx="108813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F2A3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空パウチ（1束50袋・段ボール）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b="1" u="sng" dirty="0">
                <a:solidFill>
                  <a:srgbClr val="0F4C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人手 ① 搬入</a:t>
            </a:r>
            <a:endParaRPr lang="en-US" sz="1000" u="sng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F2A3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投入担当が数箱ずつ製袋室へ運ぶ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728216" y="1335024"/>
            <a:ext cx="2304288" cy="2157984"/>
          </a:xfrm>
          <a:prstGeom prst="rect">
            <a:avLst/>
          </a:prstGeom>
          <a:solidFill>
            <a:srgbClr val="FDE8DC"/>
          </a:solidFill>
          <a:ln w="38100">
            <a:solidFill>
              <a:srgbClr val="F26B1D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18" name="Shape 16"/>
          <p:cNvSpPr/>
          <p:nvPr/>
        </p:nvSpPr>
        <p:spPr>
          <a:xfrm>
            <a:off x="1728216" y="1335024"/>
            <a:ext cx="2304288" cy="237744"/>
          </a:xfrm>
          <a:prstGeom prst="rect">
            <a:avLst/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19" name="Text 17"/>
          <p:cNvSpPr/>
          <p:nvPr/>
        </p:nvSpPr>
        <p:spPr>
          <a:xfrm>
            <a:off x="1728216" y="1344168"/>
            <a:ext cx="2304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装置を導入する範囲：製袋室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783080" y="1609344"/>
            <a:ext cx="2194560" cy="1847088"/>
          </a:xfrm>
          <a:prstGeom prst="rect">
            <a:avLst/>
          </a:prstGeom>
          <a:solidFill>
            <a:srgbClr val="EEF4F5"/>
          </a:solidFill>
          <a:ln w="12700">
            <a:solidFill>
              <a:srgbClr val="0F4C5C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21" name="Shape 19"/>
          <p:cNvSpPr/>
          <p:nvPr/>
        </p:nvSpPr>
        <p:spPr>
          <a:xfrm>
            <a:off x="1783080" y="1609344"/>
            <a:ext cx="2194560" cy="347472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22" name="Text 20"/>
          <p:cNvSpPr/>
          <p:nvPr/>
        </p:nvSpPr>
        <p:spPr>
          <a:xfrm>
            <a:off x="1783080" y="160934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製袋室（1F）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856232" y="1984248"/>
            <a:ext cx="20482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sz="900" b="1" dirty="0">
                <a:solidFill>
                  <a:srgbClr val="0F4C5C"/>
                </a:solidFill>
                <a:latin typeface="BIZ UDPGothic"/>
                <a:ea typeface="BIZ UDPGothic"/>
                <a:cs typeface="BIZ UDPGothic"/>
              </a:rPr>
              <a:t>人手 投入担当（②〜⑦）</a:t>
            </a:r>
            <a:endParaRPr lang="en-US" sz="1000" u="sng" dirty="0"/>
          </a:p>
          <a:p>
            <a:pPr marL="0" indent="0">
              <a:spcAft>
                <a:spcPts val="100"/>
              </a:spcAft>
              <a:buNone/>
            </a:pPr>
            <a:r>
              <a:rPr sz="900" b="0" dirty="0">
                <a:solidFill>
                  <a:srgbClr val="1F2A30"/>
                </a:solidFill>
                <a:latin typeface="BIZ UDPGothic"/>
                <a:ea typeface="BIZ UDPGothic"/>
                <a:cs typeface="BIZ UDPGothic"/>
              </a:rPr>
              <a:t>開梱・ほぐし→踏み台からマガジンへ手投入（3分詰めて5分で空、の繰り返し）</a:t>
            </a:r>
          </a:p>
          <a:p>
            <a:pPr marL="0" indent="0">
              <a:spcAft>
                <a:spcPts val="100"/>
              </a:spcAft>
              <a:buNone/>
            </a:pPr>
            <a:r>
              <a:rPr sz="900" b="1" dirty="0">
                <a:solidFill>
                  <a:srgbClr val="0F4C5C"/>
                </a:solidFill>
                <a:latin typeface="BIZ UDPGothic"/>
                <a:ea typeface="BIZ UDPGothic"/>
                <a:cs typeface="BIZ UDPGothic"/>
              </a:rPr>
              <a:t>人手 オペレーター（⑧）</a:t>
            </a:r>
          </a:p>
          <a:p>
            <a:pPr marL="0" indent="0">
              <a:spcAft>
                <a:spcPts val="100"/>
              </a:spcAft>
              <a:buNone/>
            </a:pPr>
            <a:r>
              <a:rPr sz="900" b="0" dirty="0">
                <a:solidFill>
                  <a:srgbClr val="1F2A30"/>
                </a:solidFill>
                <a:latin typeface="BIZ UDPGothic"/>
                <a:ea typeface="BIZ UDPGothic"/>
                <a:cs typeface="BIZ UDPGothic"/>
              </a:rPr>
              <a:t>製袋機の運転・監視</a:t>
            </a:r>
          </a:p>
          <a:p>
            <a:pPr marL="0" indent="0">
              <a:spcAft>
                <a:spcPts val="100"/>
              </a:spcAft>
              <a:buNone/>
            </a:pPr>
            <a:r>
              <a:rPr sz="900" b="0" dirty="0">
                <a:solidFill>
                  <a:srgbClr val="5B6770"/>
                </a:solidFill>
                <a:latin typeface="BIZ UDPGothic"/>
                <a:ea typeface="BIZ UDPGothic"/>
                <a:cs typeface="BIZ UDPGothic"/>
              </a:rPr>
              <a:t>自動：スパウト（ストロー）圧着→検査</a:t>
            </a:r>
          </a:p>
        </p:txBody>
      </p:sp>
      <p:sp>
        <p:nvSpPr>
          <p:cNvPr id="24" name="Shape 22"/>
          <p:cNvSpPr/>
          <p:nvPr/>
        </p:nvSpPr>
        <p:spPr>
          <a:xfrm>
            <a:off x="1952244" y="2962656"/>
            <a:ext cx="137160" cy="137160"/>
          </a:xfrm>
          <a:prstGeom prst="ellipse">
            <a:avLst/>
          </a:prstGeom>
          <a:solidFill>
            <a:srgbClr val="2F5D8A"/>
          </a:solidFill>
          <a:ln w="6350">
            <a:solidFill>
              <a:srgbClr val="2F5D8A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25" name="Shape 23"/>
          <p:cNvSpPr/>
          <p:nvPr/>
        </p:nvSpPr>
        <p:spPr>
          <a:xfrm>
            <a:off x="1892808" y="3113532"/>
            <a:ext cx="256032" cy="274320"/>
          </a:xfrm>
          <a:prstGeom prst="roundRect">
            <a:avLst>
              <a:gd name="adj" fmla="val 25000"/>
            </a:avLst>
          </a:prstGeom>
          <a:solidFill>
            <a:srgbClr val="2F5D8A"/>
          </a:solidFill>
          <a:ln w="6350">
            <a:solidFill>
              <a:srgbClr val="2F5D8A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26" name="Shape 24"/>
          <p:cNvSpPr/>
          <p:nvPr/>
        </p:nvSpPr>
        <p:spPr>
          <a:xfrm>
            <a:off x="2263140" y="2962656"/>
            <a:ext cx="137160" cy="137160"/>
          </a:xfrm>
          <a:prstGeom prst="ellipse">
            <a:avLst/>
          </a:prstGeom>
          <a:solidFill>
            <a:srgbClr val="2F5D8A"/>
          </a:solidFill>
          <a:ln w="6350">
            <a:solidFill>
              <a:srgbClr val="2F5D8A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27" name="Shape 25"/>
          <p:cNvSpPr/>
          <p:nvPr/>
        </p:nvSpPr>
        <p:spPr>
          <a:xfrm>
            <a:off x="2203704" y="3113532"/>
            <a:ext cx="256032" cy="274320"/>
          </a:xfrm>
          <a:prstGeom prst="roundRect">
            <a:avLst>
              <a:gd name="adj" fmla="val 25000"/>
            </a:avLst>
          </a:prstGeom>
          <a:solidFill>
            <a:srgbClr val="2F5D8A"/>
          </a:solidFill>
          <a:ln w="6350">
            <a:solidFill>
              <a:srgbClr val="2F5D8A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28" name="Text 26"/>
          <p:cNvSpPr/>
          <p:nvPr/>
        </p:nvSpPr>
        <p:spPr>
          <a:xfrm>
            <a:off x="2560320" y="2926080"/>
            <a:ext cx="13898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4C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2名／シフト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0F4C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オペレーター1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0F4C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投入パート1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206240" y="1609344"/>
            <a:ext cx="2194560" cy="1847088"/>
          </a:xfrm>
          <a:prstGeom prst="rect">
            <a:avLst/>
          </a:prstGeom>
          <a:solidFill>
            <a:srgbClr val="EEF4F5"/>
          </a:solidFill>
          <a:ln w="12700">
            <a:solidFill>
              <a:srgbClr val="0F4C5C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30" name="Shape 28"/>
          <p:cNvSpPr/>
          <p:nvPr/>
        </p:nvSpPr>
        <p:spPr>
          <a:xfrm>
            <a:off x="4206240" y="1609344"/>
            <a:ext cx="2194560" cy="347472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31" name="Text 29"/>
          <p:cNvSpPr/>
          <p:nvPr/>
        </p:nvSpPr>
        <p:spPr>
          <a:xfrm>
            <a:off x="4206240" y="160934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000" b="1" dirty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充填室・殺菌室（1F）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279392" y="1984248"/>
            <a:ext cx="20482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sz="900" b="1" dirty="0">
                <a:solidFill>
                  <a:srgbClr val="0F4C5C"/>
                </a:solidFill>
                <a:latin typeface="BIZ UDPGothic"/>
                <a:ea typeface="BIZ UDPGothic"/>
                <a:cs typeface="BIZ UDPGothic"/>
              </a:rPr>
              <a:t>人手 充填担当1名（⑨）</a:t>
            </a:r>
            <a:endParaRPr lang="en-US" sz="1000" u="sng" dirty="0"/>
          </a:p>
          <a:p>
            <a:pPr marL="0" indent="0">
              <a:spcAft>
                <a:spcPts val="100"/>
              </a:spcAft>
              <a:buNone/>
            </a:pPr>
            <a:r>
              <a:rPr sz="900" b="0" dirty="0">
                <a:solidFill>
                  <a:srgbClr val="1F2A30"/>
                </a:solidFill>
                <a:latin typeface="BIZ UDPGothic"/>
                <a:ea typeface="BIZ UDPGothic"/>
                <a:cs typeface="BIZ UDPGothic"/>
              </a:rPr>
              <a:t>G仕込室で調合・殺菌した液を充填→キャップ→殺菌室（リフトスチーマー）で容器ごと殺菌</a:t>
            </a:r>
          </a:p>
          <a:p>
            <a:pPr marL="0" indent="0">
              <a:spcAft>
                <a:spcPts val="100"/>
              </a:spcAft>
              <a:buNone/>
            </a:pPr>
            <a:r>
              <a:rPr sz="900" b="0" dirty="0">
                <a:solidFill>
                  <a:srgbClr val="5B6770"/>
                </a:solidFill>
                <a:latin typeface="BIZ UDPGothic"/>
                <a:ea typeface="BIZ UDPGothic"/>
                <a:cs typeface="BIZ UDPGothic"/>
              </a:rPr>
              <a:t>自動：キャップ供給（ホッパローダ）</a:t>
            </a:r>
          </a:p>
        </p:txBody>
      </p:sp>
      <p:sp>
        <p:nvSpPr>
          <p:cNvPr id="33" name="Shape 31"/>
          <p:cNvSpPr/>
          <p:nvPr/>
        </p:nvSpPr>
        <p:spPr>
          <a:xfrm>
            <a:off x="4375404" y="2962656"/>
            <a:ext cx="137160" cy="137160"/>
          </a:xfrm>
          <a:prstGeom prst="ellipse">
            <a:avLst/>
          </a:prstGeom>
          <a:solidFill>
            <a:srgbClr val="2F5D8A"/>
          </a:solidFill>
          <a:ln w="6350">
            <a:solidFill>
              <a:srgbClr val="2F5D8A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34" name="Shape 32"/>
          <p:cNvSpPr/>
          <p:nvPr/>
        </p:nvSpPr>
        <p:spPr>
          <a:xfrm>
            <a:off x="4315968" y="3113532"/>
            <a:ext cx="256032" cy="274320"/>
          </a:xfrm>
          <a:prstGeom prst="roundRect">
            <a:avLst>
              <a:gd name="adj" fmla="val 25000"/>
            </a:avLst>
          </a:prstGeom>
          <a:solidFill>
            <a:srgbClr val="2F5D8A"/>
          </a:solidFill>
          <a:ln w="6350">
            <a:solidFill>
              <a:srgbClr val="2F5D8A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35" name="Text 33"/>
          <p:cNvSpPr/>
          <p:nvPr/>
        </p:nvSpPr>
        <p:spPr>
          <a:xfrm>
            <a:off x="4672584" y="2926080"/>
            <a:ext cx="17007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4C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1名／シフト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629400" y="1609344"/>
            <a:ext cx="2194560" cy="1847088"/>
          </a:xfrm>
          <a:prstGeom prst="rect">
            <a:avLst/>
          </a:prstGeom>
          <a:solidFill>
            <a:srgbClr val="EEF4F5"/>
          </a:solidFill>
          <a:ln w="12700">
            <a:solidFill>
              <a:srgbClr val="0F4C5C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37" name="Shape 35"/>
          <p:cNvSpPr/>
          <p:nvPr/>
        </p:nvSpPr>
        <p:spPr>
          <a:xfrm>
            <a:off x="6629400" y="1609344"/>
            <a:ext cx="2194560" cy="347472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38" name="Text 36"/>
          <p:cNvSpPr/>
          <p:nvPr/>
        </p:nvSpPr>
        <p:spPr>
          <a:xfrm>
            <a:off x="6629400" y="160934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包装室（2F）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702552" y="2002536"/>
            <a:ext cx="204825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sz="1000" b="1" dirty="0">
                <a:solidFill>
                  <a:srgbClr val="0F4C5C"/>
                </a:solidFill>
                <a:latin typeface="BIZ UDPGothic"/>
                <a:ea typeface="BIZ UDPGothic"/>
                <a:cs typeface="BIZ UDPGothic"/>
              </a:rPr>
              <a:t>人手 包装担当2〜3名（⑩）</a:t>
            </a:r>
            <a:endParaRPr lang="en-US" sz="1000" u="sng" dirty="0"/>
          </a:p>
          <a:p>
            <a:pPr marL="0" indent="0">
              <a:spcAft>
                <a:spcPts val="100"/>
              </a:spcAft>
              <a:buNone/>
            </a:pPr>
            <a:r>
              <a:rPr sz="1000" b="0" dirty="0">
                <a:solidFill>
                  <a:srgbClr val="1F2A30"/>
                </a:solidFill>
                <a:latin typeface="BIZ UDPGothic"/>
                <a:ea typeface="BIZ UDPGothic"/>
                <a:cs typeface="BIZ UDPGothic"/>
              </a:rPr>
              <a:t>包装・箱詰め→1階へ下ろして製品倉庫・出荷</a:t>
            </a:r>
          </a:p>
        </p:txBody>
      </p:sp>
      <p:sp>
        <p:nvSpPr>
          <p:cNvPr id="40" name="Shape 38"/>
          <p:cNvSpPr/>
          <p:nvPr/>
        </p:nvSpPr>
        <p:spPr>
          <a:xfrm>
            <a:off x="6798564" y="2962656"/>
            <a:ext cx="137160" cy="137160"/>
          </a:xfrm>
          <a:prstGeom prst="ellipse">
            <a:avLst/>
          </a:prstGeom>
          <a:solidFill>
            <a:srgbClr val="2F5D8A"/>
          </a:solidFill>
          <a:ln w="6350">
            <a:solidFill>
              <a:srgbClr val="2F5D8A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41" name="Shape 39"/>
          <p:cNvSpPr/>
          <p:nvPr/>
        </p:nvSpPr>
        <p:spPr>
          <a:xfrm>
            <a:off x="6739128" y="3113532"/>
            <a:ext cx="256032" cy="274320"/>
          </a:xfrm>
          <a:prstGeom prst="roundRect">
            <a:avLst>
              <a:gd name="adj" fmla="val 25000"/>
            </a:avLst>
          </a:prstGeom>
          <a:solidFill>
            <a:srgbClr val="2F5D8A"/>
          </a:solidFill>
          <a:ln w="6350">
            <a:solidFill>
              <a:srgbClr val="2F5D8A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42" name="Shape 40"/>
          <p:cNvSpPr/>
          <p:nvPr/>
        </p:nvSpPr>
        <p:spPr>
          <a:xfrm>
            <a:off x="7109460" y="2962656"/>
            <a:ext cx="137160" cy="137160"/>
          </a:xfrm>
          <a:prstGeom prst="ellipse">
            <a:avLst/>
          </a:prstGeom>
          <a:solidFill>
            <a:srgbClr val="2F5D8A"/>
          </a:solidFill>
          <a:ln w="6350">
            <a:solidFill>
              <a:srgbClr val="2F5D8A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43" name="Shape 41"/>
          <p:cNvSpPr/>
          <p:nvPr/>
        </p:nvSpPr>
        <p:spPr>
          <a:xfrm>
            <a:off x="7050024" y="3113532"/>
            <a:ext cx="256032" cy="274320"/>
          </a:xfrm>
          <a:prstGeom prst="roundRect">
            <a:avLst>
              <a:gd name="adj" fmla="val 25000"/>
            </a:avLst>
          </a:prstGeom>
          <a:solidFill>
            <a:srgbClr val="2F5D8A"/>
          </a:solidFill>
          <a:ln w="6350">
            <a:solidFill>
              <a:srgbClr val="2F5D8A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44" name="Shape 42"/>
          <p:cNvSpPr/>
          <p:nvPr/>
        </p:nvSpPr>
        <p:spPr>
          <a:xfrm>
            <a:off x="7420356" y="2962656"/>
            <a:ext cx="137160" cy="137160"/>
          </a:xfrm>
          <a:prstGeom prst="ellipse">
            <a:avLst/>
          </a:prstGeom>
          <a:solidFill>
            <a:srgbClr val="2F5D8A"/>
          </a:solidFill>
          <a:ln w="6350">
            <a:solidFill>
              <a:srgbClr val="2F5D8A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45" name="Shape 43"/>
          <p:cNvSpPr/>
          <p:nvPr/>
        </p:nvSpPr>
        <p:spPr>
          <a:xfrm>
            <a:off x="7360920" y="3113532"/>
            <a:ext cx="256032" cy="274320"/>
          </a:xfrm>
          <a:prstGeom prst="roundRect">
            <a:avLst>
              <a:gd name="adj" fmla="val 25000"/>
            </a:avLst>
          </a:prstGeom>
          <a:solidFill>
            <a:srgbClr val="2F5D8A"/>
          </a:solidFill>
          <a:ln w="6350">
            <a:solidFill>
              <a:srgbClr val="2F5D8A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46" name="Text 44"/>
          <p:cNvSpPr/>
          <p:nvPr/>
        </p:nvSpPr>
        <p:spPr>
          <a:xfrm>
            <a:off x="7717536" y="2926080"/>
            <a:ext cx="10789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4C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2〜3名／シフト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1572768" y="2432304"/>
            <a:ext cx="128016" cy="274320"/>
          </a:xfrm>
          <a:prstGeom prst="rightArrow">
            <a:avLst/>
          </a:prstGeom>
          <a:solidFill>
            <a:srgbClr val="8A9BA8"/>
          </a:solidFill>
          <a:ln w="12700">
            <a:solidFill>
              <a:srgbClr val="8A9BA8"/>
            </a:solidFill>
            <a:prstDash val="solid"/>
          </a:ln>
        </p:spPr>
        <p:txBody>
          <a:bodyPr/>
          <a:lstStyle/>
          <a:p>
            <a:endParaRPr sz="2000" dirty="0"/>
          </a:p>
        </p:txBody>
      </p:sp>
      <p:sp>
        <p:nvSpPr>
          <p:cNvPr id="48" name="Shape 46"/>
          <p:cNvSpPr/>
          <p:nvPr/>
        </p:nvSpPr>
        <p:spPr>
          <a:xfrm>
            <a:off x="4059936" y="2432304"/>
            <a:ext cx="128016" cy="274320"/>
          </a:xfrm>
          <a:prstGeom prst="rightArrow">
            <a:avLst/>
          </a:prstGeom>
          <a:solidFill>
            <a:srgbClr val="8A9BA8"/>
          </a:solidFill>
          <a:ln w="12700">
            <a:solidFill>
              <a:srgbClr val="8A9BA8"/>
            </a:solidFill>
            <a:prstDash val="solid"/>
          </a:ln>
        </p:spPr>
        <p:txBody>
          <a:bodyPr/>
          <a:lstStyle/>
          <a:p>
            <a:endParaRPr sz="2000" dirty="0"/>
          </a:p>
        </p:txBody>
      </p:sp>
      <p:sp>
        <p:nvSpPr>
          <p:cNvPr id="49" name="Shape 47"/>
          <p:cNvSpPr/>
          <p:nvPr/>
        </p:nvSpPr>
        <p:spPr>
          <a:xfrm>
            <a:off x="6419088" y="2432304"/>
            <a:ext cx="192024" cy="274320"/>
          </a:xfrm>
          <a:prstGeom prst="rightArrow">
            <a:avLst/>
          </a:prstGeom>
          <a:solidFill>
            <a:srgbClr val="8A9BA8"/>
          </a:solidFill>
          <a:ln w="12700">
            <a:solidFill>
              <a:srgbClr val="8A9BA8"/>
            </a:solidFill>
            <a:prstDash val="solid"/>
          </a:ln>
        </p:spPr>
        <p:txBody>
          <a:bodyPr/>
          <a:lstStyle/>
          <a:p>
            <a:endParaRPr sz="2000" dirty="0"/>
          </a:p>
        </p:txBody>
      </p:sp>
      <p:sp>
        <p:nvSpPr>
          <p:cNvPr id="50" name="Shape 48"/>
          <p:cNvSpPr/>
          <p:nvPr/>
        </p:nvSpPr>
        <p:spPr>
          <a:xfrm>
            <a:off x="320040" y="3822192"/>
            <a:ext cx="2724912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2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51" name="Shape 49"/>
          <p:cNvSpPr/>
          <p:nvPr/>
        </p:nvSpPr>
        <p:spPr>
          <a:xfrm>
            <a:off x="320040" y="3822192"/>
            <a:ext cx="73152" cy="950976"/>
          </a:xfrm>
          <a:prstGeom prst="rect">
            <a:avLst/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52" name="Text 50"/>
          <p:cNvSpPr/>
          <p:nvPr/>
        </p:nvSpPr>
        <p:spPr>
          <a:xfrm>
            <a:off x="502920" y="3849624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4C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稼働時間・シフト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502920" y="4096512"/>
            <a:ext cx="2450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buSzPct val="100000"/>
              <a:buChar char="•"/>
            </a:pPr>
            <a:r>
              <a:rPr sz="900" b="0" dirty="0">
                <a:solidFill>
                  <a:srgbClr val="1F2A30"/>
                </a:solidFill>
                <a:latin typeface="BIZ UDPGothic"/>
                <a:ea typeface="BIZ UDPGothic"/>
                <a:cs typeface="BIZ UDPGothic"/>
              </a:rPr>
              <a:t>稼働 8:30〜26:00（17.5時間）</a:t>
            </a:r>
            <a:endParaRPr lang="en-US" sz="900" dirty="0"/>
          </a:p>
          <a:p>
            <a:pPr marL="127000" indent="-127000">
              <a:buSzPct val="100000"/>
              <a:buChar char="•"/>
            </a:pPr>
            <a:r>
              <a:rPr sz="900" b="0" dirty="0">
                <a:solidFill>
                  <a:srgbClr val="1F2A30"/>
                </a:solidFill>
                <a:latin typeface="BIZ UDPGothic"/>
                <a:ea typeface="BIZ UDPGothic"/>
                <a:cs typeface="BIZ UDPGothic"/>
              </a:rPr>
              <a:t>早番 6:30〜11:00・中番 11:00〜19:00</a:t>
            </a:r>
          </a:p>
          <a:p>
            <a:pPr marL="127000" indent="-127000">
              <a:buSzPct val="100000"/>
              <a:buChar char="•"/>
            </a:pPr>
            <a:r>
              <a:rPr sz="900" b="0" dirty="0">
                <a:solidFill>
                  <a:srgbClr val="1F2A30"/>
                </a:solidFill>
                <a:latin typeface="BIZ UDPGothic"/>
                <a:ea typeface="BIZ UDPGothic"/>
                <a:cs typeface="BIZ UDPGothic"/>
              </a:rPr>
              <a:t>遅番 19:00〜26:00（夜勤）</a:t>
            </a:r>
          </a:p>
          <a:p>
            <a:pPr marL="127000" indent="-127000">
              <a:buSzPct val="100000"/>
              <a:buChar char="•"/>
            </a:pPr>
            <a:r>
              <a:rPr sz="900" b="0" dirty="0">
                <a:solidFill>
                  <a:srgbClr val="1F2A30"/>
                </a:solidFill>
                <a:latin typeface="BIZ UDPGothic"/>
                <a:ea typeface="BIZ UDPGothic"/>
                <a:cs typeface="BIZ UDPGothic"/>
              </a:rPr>
              <a:t>遅番の投入は派遣で賄えず社員がカバー出勤</a:t>
            </a:r>
          </a:p>
        </p:txBody>
      </p:sp>
      <p:sp>
        <p:nvSpPr>
          <p:cNvPr id="54" name="Shape 52"/>
          <p:cNvSpPr/>
          <p:nvPr/>
        </p:nvSpPr>
        <p:spPr>
          <a:xfrm>
            <a:off x="3209544" y="3822192"/>
            <a:ext cx="2724912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2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55" name="Shape 53"/>
          <p:cNvSpPr/>
          <p:nvPr/>
        </p:nvSpPr>
        <p:spPr>
          <a:xfrm>
            <a:off x="3209544" y="3822192"/>
            <a:ext cx="73152" cy="950976"/>
          </a:xfrm>
          <a:prstGeom prst="rect">
            <a:avLst/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56" name="Text 54"/>
          <p:cNvSpPr/>
          <p:nvPr/>
        </p:nvSpPr>
        <p:spPr>
          <a:xfrm>
            <a:off x="3392424" y="3849624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4C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生産量（計画）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3392424" y="4096512"/>
            <a:ext cx="2450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buSzPct val="100000"/>
              <a:buChar char="•"/>
            </a:pPr>
            <a:r>
              <a:rPr sz="900" b="0" dirty="0">
                <a:solidFill>
                  <a:srgbClr val="1F2A30"/>
                </a:solidFill>
                <a:latin typeface="BIZ UDPGothic"/>
                <a:ea typeface="BIZ UDPGothic"/>
                <a:cs typeface="BIZ UDPGothic"/>
              </a:rPr>
              <a:t>1品種の日 15万袋／日（稼働日の約半分）</a:t>
            </a:r>
            <a:endParaRPr lang="en-US" sz="900" dirty="0"/>
          </a:p>
          <a:p>
            <a:pPr marL="127000" indent="-127000">
              <a:buSzPct val="100000"/>
              <a:buChar char="•"/>
            </a:pPr>
            <a:r>
              <a:rPr sz="900" b="0" dirty="0">
                <a:solidFill>
                  <a:srgbClr val="1F2A30"/>
                </a:solidFill>
                <a:latin typeface="BIZ UDPGothic"/>
                <a:ea typeface="BIZ UDPGothic"/>
                <a:cs typeface="BIZ UDPGothic"/>
              </a:rPr>
              <a:t>2品種の日 10万袋／日（稼働日の約半分）</a:t>
            </a:r>
          </a:p>
          <a:p>
            <a:pPr marL="127000" indent="-127000">
              <a:buSzPct val="100000"/>
              <a:buChar char="•"/>
            </a:pPr>
            <a:r>
              <a:rPr sz="900" b="0" dirty="0">
                <a:solidFill>
                  <a:srgbClr val="1F2A30"/>
                </a:solidFill>
                <a:latin typeface="BIZ UDPGothic"/>
                <a:ea typeface="BIZ UDPGothic"/>
                <a:cs typeface="BIZ UDPGothic"/>
              </a:rPr>
              <a:t>製袋機の能力 150袋／分</a:t>
            </a:r>
          </a:p>
          <a:p>
            <a:pPr marL="127000" indent="-127000">
              <a:buSzPct val="100000"/>
              <a:buChar char="•"/>
            </a:pPr>
            <a:r>
              <a:rPr sz="900" b="0" dirty="0">
                <a:solidFill>
                  <a:srgbClr val="1F2A30"/>
                </a:solidFill>
                <a:latin typeface="BIZ UDPGothic"/>
                <a:ea typeface="BIZ UDPGothic"/>
                <a:cs typeface="BIZ UDPGothic"/>
              </a:rPr>
              <a:t>Gライン売上 約14億円（全社売上比 約13%）</a:t>
            </a:r>
          </a:p>
        </p:txBody>
      </p:sp>
      <p:sp>
        <p:nvSpPr>
          <p:cNvPr id="58" name="Shape 56"/>
          <p:cNvSpPr/>
          <p:nvPr/>
        </p:nvSpPr>
        <p:spPr>
          <a:xfrm>
            <a:off x="6099048" y="3822192"/>
            <a:ext cx="2724912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2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59" name="Shape 57"/>
          <p:cNvSpPr/>
          <p:nvPr/>
        </p:nvSpPr>
        <p:spPr>
          <a:xfrm>
            <a:off x="6099048" y="3822192"/>
            <a:ext cx="73152" cy="950976"/>
          </a:xfrm>
          <a:prstGeom prst="rect">
            <a:avLst/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60" name="Text 58"/>
          <p:cNvSpPr/>
          <p:nvPr/>
        </p:nvSpPr>
        <p:spPr>
          <a:xfrm>
            <a:off x="6281928" y="3849624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4C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人員配置（各シフト）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6281928" y="4096512"/>
            <a:ext cx="2450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900" dirty="0">
                <a:solidFill>
                  <a:srgbClr val="1F2A3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製袋室 2名（オペレーター＋投入パート）</a:t>
            </a:r>
            <a:endParaRPr lang="en-US" sz="900" dirty="0"/>
          </a:p>
          <a:p>
            <a:pPr marL="127000" indent="-127000">
              <a:buSzPct val="100000"/>
              <a:buChar char="•"/>
            </a:pPr>
            <a:r>
              <a:rPr lang="en-US" sz="900" dirty="0">
                <a:solidFill>
                  <a:srgbClr val="1F2A3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充填室 1名／包装室 2〜3名</a:t>
            </a:r>
            <a:endParaRPr lang="en-US" sz="900" dirty="0"/>
          </a:p>
          <a:p>
            <a:pPr marL="127000" indent="-127000">
              <a:buSzPct val="100000"/>
              <a:buChar char="•"/>
            </a:pPr>
            <a:r>
              <a:rPr lang="en-US" sz="900" dirty="0">
                <a:solidFill>
                  <a:srgbClr val="1F2A3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合計 5〜6名／シフト（日勤・夜勤同じ）</a:t>
            </a:r>
            <a:endParaRPr lang="en-US" sz="900" dirty="0"/>
          </a:p>
          <a:p>
            <a:pPr marL="127000" indent="-127000">
              <a:buSzPct val="100000"/>
              <a:buChar char="•"/>
            </a:pPr>
            <a:r>
              <a:rPr lang="en-US" sz="900" dirty="0">
                <a:solidFill>
                  <a:srgbClr val="1F2A3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投入パートの作業を自動化するのが本事業</a:t>
            </a:r>
            <a:endParaRPr lang="en-US" sz="900" dirty="0"/>
          </a:p>
        </p:txBody>
      </p:sp>
      <p:sp>
        <p:nvSpPr>
          <p:cNvPr id="62" name="Rectangle 61"/>
          <p:cNvSpPr/>
          <p:nvPr/>
        </p:nvSpPr>
        <p:spPr>
          <a:xfrm>
            <a:off x="4206240" y="1344168"/>
            <a:ext cx="2194560" cy="228600"/>
          </a:xfrm>
          <a:prstGeom prst="rect">
            <a:avLst/>
          </a:prstGeom>
          <a:solidFill>
            <a:srgbClr val="EEF4F5"/>
          </a:solidFill>
          <a:ln w="9525">
            <a:solidFill>
              <a:srgbClr val="C9D3D8"/>
            </a:solidFill>
          </a:ln>
        </p:spPr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3" name="TextBox 62"/>
          <p:cNvSpPr txBox="1"/>
          <p:nvPr/>
        </p:nvSpPr>
        <p:spPr>
          <a:xfrm>
            <a:off x="4261104" y="1344168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50" b="0" dirty="0">
                <a:solidFill>
                  <a:srgbClr val="5B6770"/>
                </a:solidFill>
                <a:latin typeface="BIZ UDPGothic"/>
                <a:ea typeface="BIZ UDPGothic"/>
                <a:cs typeface="BIZ UDPGothic"/>
              </a:rPr>
              <a:t>※ 仕込室（1F）から調合液を送る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</a:ln>
        </p:spPr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320040" y="182880"/>
            <a:ext cx="109728" cy="320040"/>
          </a:xfrm>
          <a:prstGeom prst="rect">
            <a:avLst/>
          </a:prstGeom>
          <a:solidFill>
            <a:srgbClr val="F26B1D"/>
          </a:solidFill>
          <a:ln w="12700">
            <a:solidFill>
              <a:srgbClr val="F26B1D"/>
            </a:solidFill>
          </a:ln>
        </p:spPr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30352" y="73152"/>
            <a:ext cx="832104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200" b="1" dirty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2. パウチとスパウト（ストロー）とは ― 製袋機で行う工程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31520"/>
            <a:ext cx="85039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100" b="0" dirty="0">
                <a:solidFill>
                  <a:srgbClr val="5B6770"/>
                </a:solidFill>
                <a:latin typeface="BIZ UDPGothic"/>
                <a:ea typeface="BIZ UDPGothic"/>
                <a:cs typeface="BIZ UDPGothic"/>
              </a:rPr>
              <a:t>Gラインで作る「パウチゼリー」の容器の説明。本事業で自動化するのは、この容器の元になる空パウチを製袋機へ投入する作業です。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0" dirty="0">
                <a:solidFill>
                  <a:srgbClr val="8A9BA8"/>
                </a:solidFill>
                <a:latin typeface="BIZ UDPGothic"/>
                <a:ea typeface="BIZ UDPGothic"/>
                <a:cs typeface="BIZ UDPGothic"/>
              </a:rPr>
              <a:t>株式会社トンボ飲料様　Gライン パウチ自動供給装置の導入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4828032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900" b="0" dirty="0">
                <a:solidFill>
                  <a:srgbClr val="8A9BA8"/>
                </a:solidFill>
                <a:latin typeface="BIZ UDPGothic"/>
                <a:ea typeface="BIZ UDPGothic"/>
                <a:cs typeface="BIZ UDPGothic"/>
              </a:rPr>
              <a:t>3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097280"/>
            <a:ext cx="1463040" cy="274320"/>
          </a:xfrm>
          <a:prstGeom prst="rect">
            <a:avLst/>
          </a:prstGeom>
          <a:solidFill>
            <a:srgbClr val="5B6770"/>
          </a:solidFill>
          <a:ln w="12700">
            <a:solidFill>
              <a:srgbClr val="5B6770"/>
            </a:solidFill>
          </a:ln>
        </p:spPr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320040" y="109728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100" b="1" dirty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製品と容器の写真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463040"/>
            <a:ext cx="1933955" cy="96926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8"/>
            </a:solidFill>
          </a:ln>
        </p:spPr>
        <p:txBody>
          <a:bodyPr rtlCol="0" anchor="ctr"/>
          <a:lstStyle/>
          <a:p>
            <a:pPr algn="ctr"/>
            <a:endParaRPr sz="2400" dirty="0"/>
          </a:p>
        </p:txBody>
      </p:sp>
      <p:pic>
        <p:nvPicPr>
          <p:cNvPr id="12" name="Picture 11" descr="balance_pawamina_orange_produc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496" y="1499616"/>
            <a:ext cx="853922" cy="89611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" y="2450592"/>
            <a:ext cx="1933955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dirty="0">
                <a:solidFill>
                  <a:srgbClr val="1F2A30"/>
                </a:solidFill>
                <a:latin typeface="BIZ UDPGothic"/>
                <a:ea typeface="BIZ UDPGothic"/>
                <a:cs typeface="BIZ UDPGothic"/>
              </a:rPr>
              <a:t>① 完成品の例：自社グループ製品「パワミナ200 Jelly」</a:t>
            </a:r>
            <a:endParaRPr lang="en-US" sz="1000" b="0" dirty="0">
              <a:solidFill>
                <a:srgbClr val="1F2A30"/>
              </a:solidFill>
              <a:latin typeface="BIZ UDPGothic"/>
              <a:ea typeface="BIZ UDPGothic"/>
              <a:cs typeface="BIZ UDPGothic"/>
            </a:endParaRPr>
          </a:p>
          <a:p>
            <a:pPr algn="l"/>
            <a:r>
              <a:rPr sz="1000" b="0" dirty="0">
                <a:solidFill>
                  <a:srgbClr val="1F2A30"/>
                </a:solidFill>
                <a:latin typeface="BIZ UDPGothic"/>
                <a:ea typeface="BIZ UDPGothic"/>
                <a:cs typeface="BIZ UDPGothic"/>
              </a:rPr>
              <a:t>（バランス㈱販売）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55164" y="1463040"/>
            <a:ext cx="1933955" cy="96926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8"/>
            </a:solidFill>
          </a:ln>
        </p:spPr>
        <p:txBody>
          <a:bodyPr rtlCol="0" anchor="ctr"/>
          <a:lstStyle/>
          <a:p>
            <a:pPr algn="ctr"/>
            <a:endParaRPr sz="2400" dirty="0"/>
          </a:p>
        </p:txBody>
      </p:sp>
      <p:pic>
        <p:nvPicPr>
          <p:cNvPr id="15" name="Picture 14" descr="tombow_spout_pouch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8897" y="1499616"/>
            <a:ext cx="1346489" cy="89611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455164" y="2450592"/>
            <a:ext cx="1933955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dirty="0">
                <a:solidFill>
                  <a:srgbClr val="1F2A30"/>
                </a:solidFill>
                <a:latin typeface="BIZ UDPGothic"/>
                <a:ea typeface="BIZ UDPGothic"/>
                <a:cs typeface="BIZ UDPGothic"/>
              </a:rPr>
              <a:t>② 口栓（スパウト）付きパウチ。アルミ袋にスパウトを付けた状態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2975121"/>
            <a:ext cx="1933955" cy="96926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8"/>
            </a:solidFill>
          </a:ln>
        </p:spPr>
        <p:txBody>
          <a:bodyPr rtlCol="0" anchor="ctr"/>
          <a:lstStyle/>
          <a:p>
            <a:pPr algn="ctr"/>
            <a:endParaRPr sz="2400" dirty="0"/>
          </a:p>
        </p:txBody>
      </p:sp>
      <p:pic>
        <p:nvPicPr>
          <p:cNvPr id="18" name="Picture 17" descr="tombow_spout_pouch_cap_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125" y="3011697"/>
            <a:ext cx="1370665" cy="89611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11480" y="3962673"/>
            <a:ext cx="1933955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dirty="0">
                <a:solidFill>
                  <a:srgbClr val="1F2A30"/>
                </a:solidFill>
                <a:latin typeface="BIZ UDPGothic"/>
                <a:ea typeface="BIZ UDPGothic"/>
                <a:cs typeface="BIZ UDPGothic"/>
              </a:rPr>
              <a:t>③ 袋の上部に熱圧着したスパウトとキャップ。</a:t>
            </a:r>
            <a:endParaRPr lang="en-US" sz="1000" b="0" dirty="0">
              <a:solidFill>
                <a:srgbClr val="1F2A30"/>
              </a:solidFill>
              <a:latin typeface="BIZ UDPGothic"/>
              <a:ea typeface="BIZ UDPGothic"/>
              <a:cs typeface="BIZ UDPGothic"/>
            </a:endParaRPr>
          </a:p>
          <a:p>
            <a:pPr algn="l"/>
            <a:r>
              <a:rPr sz="1000" b="0" dirty="0">
                <a:solidFill>
                  <a:srgbClr val="1F2A30"/>
                </a:solidFill>
                <a:latin typeface="BIZ UDPGothic"/>
                <a:ea typeface="BIZ UDPGothic"/>
                <a:cs typeface="BIZ UDPGothic"/>
              </a:rPr>
              <a:t>この圧着を製袋機で行う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55164" y="2975121"/>
            <a:ext cx="1933955" cy="969264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8"/>
            </a:solidFill>
          </a:ln>
        </p:spPr>
        <p:txBody>
          <a:bodyPr rtlCol="0" anchor="ctr"/>
          <a:lstStyle/>
          <a:p>
            <a:pPr algn="ctr"/>
            <a:endParaRPr sz="2400" dirty="0"/>
          </a:p>
        </p:txBody>
      </p:sp>
      <p:pic>
        <p:nvPicPr>
          <p:cNvPr id="21" name="Picture 20" descr="fujiseal_spout_1_top_row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74086" y="3011697"/>
            <a:ext cx="896112" cy="89611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455164" y="3962673"/>
            <a:ext cx="1933955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dirty="0">
                <a:solidFill>
                  <a:srgbClr val="1F2A30"/>
                </a:solidFill>
                <a:latin typeface="BIZ UDPGothic"/>
                <a:ea typeface="BIZ UDPGothic"/>
                <a:cs typeface="BIZ UDPGothic"/>
              </a:rPr>
              <a:t>④ スパウト単体（ストロー状の注ぎ口）。</a:t>
            </a:r>
            <a:endParaRPr lang="en-US" sz="1000" b="0" dirty="0">
              <a:solidFill>
                <a:srgbClr val="1F2A30"/>
              </a:solidFill>
              <a:latin typeface="BIZ UDPGothic"/>
              <a:ea typeface="BIZ UDPGothic"/>
              <a:cs typeface="BIZ UDPGothic"/>
            </a:endParaRPr>
          </a:p>
          <a:p>
            <a:pPr algn="l"/>
            <a:r>
              <a:rPr sz="1000" b="0" dirty="0">
                <a:solidFill>
                  <a:srgbClr val="1F2A30"/>
                </a:solidFill>
                <a:latin typeface="BIZ UDPGothic"/>
                <a:ea typeface="BIZ UDPGothic"/>
                <a:cs typeface="BIZ UDPGothic"/>
              </a:rPr>
              <a:t>下側の舟形の部分を袋に溶着する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63440" y="1097280"/>
            <a:ext cx="4160520" cy="3310128"/>
          </a:xfrm>
          <a:prstGeom prst="rect">
            <a:avLst/>
          </a:prstGeom>
          <a:solidFill>
            <a:srgbClr val="F7F9FA"/>
          </a:solidFill>
          <a:ln w="15875">
            <a:solidFill>
              <a:srgbClr val="0F4C5C"/>
            </a:solidFill>
          </a:ln>
        </p:spPr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5" name="Rectangle 24"/>
          <p:cNvSpPr/>
          <p:nvPr/>
        </p:nvSpPr>
        <p:spPr>
          <a:xfrm>
            <a:off x="4663440" y="1097280"/>
            <a:ext cx="2103120" cy="274320"/>
          </a:xfrm>
          <a:prstGeom prst="rect">
            <a:avLst/>
          </a:prstGeom>
          <a:solidFill>
            <a:srgbClr val="F26B1D"/>
          </a:solidFill>
          <a:ln w="12700">
            <a:solidFill>
              <a:srgbClr val="F26B1D"/>
            </a:solidFill>
          </a:ln>
        </p:spPr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6" name="TextBox 25"/>
          <p:cNvSpPr txBox="1"/>
          <p:nvPr/>
        </p:nvSpPr>
        <p:spPr>
          <a:xfrm>
            <a:off x="4663440" y="109728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100" b="1" dirty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製袋機の工程（スパウトの圧着）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73168" y="1463040"/>
            <a:ext cx="3950208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8"/>
            </a:solidFill>
          </a:ln>
        </p:spPr>
        <p:txBody>
          <a:bodyPr rtlCol="0" anchor="ctr"/>
          <a:lstStyle/>
          <a:p>
            <a:pPr algn="ctr"/>
            <a:endParaRPr sz="2400" dirty="0"/>
          </a:p>
        </p:txBody>
      </p:sp>
      <p:sp>
        <p:nvSpPr>
          <p:cNvPr id="28" name="Rounded Rectangle 27"/>
          <p:cNvSpPr/>
          <p:nvPr/>
        </p:nvSpPr>
        <p:spPr>
          <a:xfrm>
            <a:off x="4937760" y="1508760"/>
            <a:ext cx="420624" cy="548640"/>
          </a:xfrm>
          <a:prstGeom prst="roundRect">
            <a:avLst/>
          </a:prstGeom>
          <a:solidFill>
            <a:srgbClr val="D9DEE3"/>
          </a:solidFill>
          <a:ln w="9525">
            <a:solidFill>
              <a:srgbClr val="7F8C96"/>
            </a:solidFill>
          </a:ln>
        </p:spPr>
        <p:txBody>
          <a:bodyPr rtlCol="0" anchor="ctr"/>
          <a:lstStyle/>
          <a:p>
            <a:pPr algn="ctr"/>
            <a:endParaRPr sz="2400" dirty="0"/>
          </a:p>
        </p:txBody>
      </p:sp>
      <p:sp>
        <p:nvSpPr>
          <p:cNvPr id="29" name="TextBox 28"/>
          <p:cNvSpPr txBox="1"/>
          <p:nvPr/>
        </p:nvSpPr>
        <p:spPr>
          <a:xfrm>
            <a:off x="5532120" y="1490472"/>
            <a:ext cx="3127248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 dirty="0">
                <a:solidFill>
                  <a:srgbClr val="0F4C5C"/>
                </a:solidFill>
                <a:latin typeface="BIZ UDPGothic"/>
                <a:ea typeface="BIZ UDPGothic"/>
                <a:cs typeface="BIZ UDPGothic"/>
              </a:rPr>
              <a:t>① 空パウチ（平らな袋）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32120" y="1709928"/>
            <a:ext cx="3127248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dirty="0">
                <a:solidFill>
                  <a:srgbClr val="1F2A30"/>
                </a:solidFill>
                <a:latin typeface="BIZ UDPGothic"/>
                <a:ea typeface="BIZ UDPGothic"/>
                <a:cs typeface="BIZ UDPGothic"/>
              </a:rPr>
              <a:t>1束50袋・段ボールで納品。投入担当が手でマガジン（製袋機の投入口）へ入れる ← 本事業で自動化する作業</a:t>
            </a:r>
          </a:p>
        </p:txBody>
      </p:sp>
      <p:sp>
        <p:nvSpPr>
          <p:cNvPr id="31" name="Down Arrow 30"/>
          <p:cNvSpPr/>
          <p:nvPr/>
        </p:nvSpPr>
        <p:spPr>
          <a:xfrm>
            <a:off x="5074920" y="2103120"/>
            <a:ext cx="146304" cy="73152"/>
          </a:xfrm>
          <a:prstGeom prst="downArrow">
            <a:avLst/>
          </a:prstGeom>
          <a:solidFill>
            <a:srgbClr val="0F4C5C"/>
          </a:solidFill>
          <a:ln w="3175">
            <a:solidFill>
              <a:srgbClr val="0F4C5C"/>
            </a:solidFill>
          </a:ln>
        </p:spPr>
        <p:txBody>
          <a:bodyPr rtlCol="0" anchor="ctr"/>
          <a:lstStyle/>
          <a:p>
            <a:pPr algn="ctr"/>
            <a:endParaRPr sz="2400" dirty="0"/>
          </a:p>
        </p:txBody>
      </p:sp>
      <p:sp>
        <p:nvSpPr>
          <p:cNvPr id="32" name="Rectangle 31"/>
          <p:cNvSpPr/>
          <p:nvPr/>
        </p:nvSpPr>
        <p:spPr>
          <a:xfrm>
            <a:off x="4773168" y="2176272"/>
            <a:ext cx="3950208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8"/>
            </a:solidFill>
          </a:ln>
        </p:spPr>
        <p:txBody>
          <a:bodyPr rtlCol="0" anchor="ctr"/>
          <a:lstStyle/>
          <a:p>
            <a:pPr algn="ctr"/>
            <a:endParaRPr sz="2400" dirty="0"/>
          </a:p>
        </p:txBody>
      </p:sp>
      <p:sp>
        <p:nvSpPr>
          <p:cNvPr id="33" name="Rounded Rectangle 32"/>
          <p:cNvSpPr/>
          <p:nvPr/>
        </p:nvSpPr>
        <p:spPr>
          <a:xfrm>
            <a:off x="4937760" y="2368296"/>
            <a:ext cx="420624" cy="402335"/>
          </a:xfrm>
          <a:prstGeom prst="roundRect">
            <a:avLst/>
          </a:prstGeom>
          <a:solidFill>
            <a:srgbClr val="D9DEE3"/>
          </a:solidFill>
          <a:ln w="9525">
            <a:solidFill>
              <a:srgbClr val="7F8C96"/>
            </a:solidFill>
          </a:ln>
        </p:spPr>
        <p:txBody>
          <a:bodyPr rtlCol="0" anchor="ctr"/>
          <a:lstStyle/>
          <a:p>
            <a:pPr algn="ctr"/>
            <a:endParaRPr sz="2400" dirty="0"/>
          </a:p>
        </p:txBody>
      </p:sp>
      <p:sp>
        <p:nvSpPr>
          <p:cNvPr id="34" name="Rectangle 33"/>
          <p:cNvSpPr/>
          <p:nvPr/>
        </p:nvSpPr>
        <p:spPr>
          <a:xfrm>
            <a:off x="5088636" y="2258568"/>
            <a:ext cx="118872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0F4C5C"/>
            </a:solidFill>
          </a:ln>
        </p:spPr>
        <p:txBody>
          <a:bodyPr rtlCol="0" anchor="ctr"/>
          <a:lstStyle/>
          <a:p>
            <a:pPr algn="ctr"/>
            <a:endParaRPr sz="2400" dirty="0"/>
          </a:p>
        </p:txBody>
      </p:sp>
      <p:sp>
        <p:nvSpPr>
          <p:cNvPr id="35" name="Rectangle 34"/>
          <p:cNvSpPr/>
          <p:nvPr/>
        </p:nvSpPr>
        <p:spPr>
          <a:xfrm>
            <a:off x="5001768" y="2350008"/>
            <a:ext cx="292608" cy="45720"/>
          </a:xfrm>
          <a:prstGeom prst="rect">
            <a:avLst/>
          </a:prstGeom>
          <a:solidFill>
            <a:srgbClr val="F26B1D"/>
          </a:solidFill>
          <a:ln w="3175">
            <a:solidFill>
              <a:srgbClr val="F26B1D"/>
            </a:solidFill>
          </a:ln>
        </p:spPr>
        <p:txBody>
          <a:bodyPr rtlCol="0" anchor="ctr"/>
          <a:lstStyle/>
          <a:p>
            <a:pPr algn="ctr"/>
            <a:endParaRPr sz="2400" dirty="0"/>
          </a:p>
        </p:txBody>
      </p:sp>
      <p:sp>
        <p:nvSpPr>
          <p:cNvPr id="36" name="TextBox 35"/>
          <p:cNvSpPr txBox="1"/>
          <p:nvPr/>
        </p:nvSpPr>
        <p:spPr>
          <a:xfrm>
            <a:off x="5532120" y="2203703"/>
            <a:ext cx="3127248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 dirty="0">
                <a:solidFill>
                  <a:srgbClr val="0F4C5C"/>
                </a:solidFill>
                <a:latin typeface="BIZ UDPGothic"/>
                <a:ea typeface="BIZ UDPGothic"/>
                <a:cs typeface="BIZ UDPGothic"/>
              </a:rPr>
              <a:t>② 製袋機（既設SPM機）でスパウトを熱圧着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32120" y="2423160"/>
            <a:ext cx="3127248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dirty="0">
                <a:solidFill>
                  <a:srgbClr val="1F2A30"/>
                </a:solidFill>
                <a:latin typeface="BIZ UDPGothic"/>
                <a:ea typeface="BIZ UDPGothic"/>
                <a:cs typeface="BIZ UDPGothic"/>
              </a:rPr>
              <a:t>袋の口にストロー状の注ぎ口「スパウト」を熱で溶着する（自動、150袋／分）</a:t>
            </a:r>
          </a:p>
        </p:txBody>
      </p:sp>
      <p:sp>
        <p:nvSpPr>
          <p:cNvPr id="38" name="Down Arrow 37"/>
          <p:cNvSpPr/>
          <p:nvPr/>
        </p:nvSpPr>
        <p:spPr>
          <a:xfrm>
            <a:off x="5074920" y="2816352"/>
            <a:ext cx="146304" cy="73152"/>
          </a:xfrm>
          <a:prstGeom prst="downArrow">
            <a:avLst/>
          </a:prstGeom>
          <a:solidFill>
            <a:srgbClr val="0F4C5C"/>
          </a:solidFill>
          <a:ln w="3175">
            <a:solidFill>
              <a:srgbClr val="0F4C5C"/>
            </a:solidFill>
          </a:ln>
        </p:spPr>
        <p:txBody>
          <a:bodyPr rtlCol="0" anchor="ctr"/>
          <a:lstStyle/>
          <a:p>
            <a:pPr algn="ctr"/>
            <a:endParaRPr sz="2400" dirty="0"/>
          </a:p>
        </p:txBody>
      </p:sp>
      <p:sp>
        <p:nvSpPr>
          <p:cNvPr id="39" name="Rectangle 38"/>
          <p:cNvSpPr/>
          <p:nvPr/>
        </p:nvSpPr>
        <p:spPr>
          <a:xfrm>
            <a:off x="4773168" y="2889504"/>
            <a:ext cx="3950208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8"/>
            </a:solidFill>
          </a:ln>
        </p:spPr>
        <p:txBody>
          <a:bodyPr rtlCol="0" anchor="ctr"/>
          <a:lstStyle/>
          <a:p>
            <a:pPr algn="ctr"/>
            <a:endParaRPr sz="2400" dirty="0"/>
          </a:p>
        </p:txBody>
      </p:sp>
      <p:sp>
        <p:nvSpPr>
          <p:cNvPr id="40" name="Rounded Rectangle 39"/>
          <p:cNvSpPr/>
          <p:nvPr/>
        </p:nvSpPr>
        <p:spPr>
          <a:xfrm>
            <a:off x="4937760" y="3081528"/>
            <a:ext cx="420624" cy="402335"/>
          </a:xfrm>
          <a:prstGeom prst="roundRect">
            <a:avLst/>
          </a:prstGeom>
          <a:solidFill>
            <a:srgbClr val="D9DEE3"/>
          </a:solidFill>
          <a:ln w="9525">
            <a:solidFill>
              <a:srgbClr val="7F8C96"/>
            </a:solidFill>
          </a:ln>
        </p:spPr>
        <p:txBody>
          <a:bodyPr rtlCol="0" anchor="ctr"/>
          <a:lstStyle/>
          <a:p>
            <a:pPr algn="ctr"/>
            <a:endParaRPr sz="2400" dirty="0"/>
          </a:p>
        </p:txBody>
      </p:sp>
      <p:sp>
        <p:nvSpPr>
          <p:cNvPr id="41" name="Rectangle 40"/>
          <p:cNvSpPr/>
          <p:nvPr/>
        </p:nvSpPr>
        <p:spPr>
          <a:xfrm>
            <a:off x="5088636" y="2971800"/>
            <a:ext cx="118872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0F4C5C"/>
            </a:solidFill>
          </a:ln>
        </p:spPr>
        <p:txBody>
          <a:bodyPr rtlCol="0" anchor="ctr"/>
          <a:lstStyle/>
          <a:p>
            <a:pPr algn="ctr"/>
            <a:endParaRPr sz="2400" dirty="0"/>
          </a:p>
        </p:txBody>
      </p:sp>
      <p:sp>
        <p:nvSpPr>
          <p:cNvPr id="42" name="Rectangle 41"/>
          <p:cNvSpPr/>
          <p:nvPr/>
        </p:nvSpPr>
        <p:spPr>
          <a:xfrm>
            <a:off x="5001768" y="3063240"/>
            <a:ext cx="292608" cy="45720"/>
          </a:xfrm>
          <a:prstGeom prst="rect">
            <a:avLst/>
          </a:prstGeom>
          <a:solidFill>
            <a:srgbClr val="F26B1D"/>
          </a:solidFill>
          <a:ln w="3175">
            <a:solidFill>
              <a:srgbClr val="F26B1D"/>
            </a:solidFill>
          </a:ln>
        </p:spPr>
        <p:txBody>
          <a:bodyPr rtlCol="0" anchor="ctr"/>
          <a:lstStyle/>
          <a:p>
            <a:pPr algn="ctr"/>
            <a:endParaRPr sz="2400" dirty="0"/>
          </a:p>
        </p:txBody>
      </p:sp>
      <p:sp>
        <p:nvSpPr>
          <p:cNvPr id="43" name="TextBox 42"/>
          <p:cNvSpPr txBox="1"/>
          <p:nvPr/>
        </p:nvSpPr>
        <p:spPr>
          <a:xfrm>
            <a:off x="5532120" y="2916936"/>
            <a:ext cx="3127248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 dirty="0">
                <a:solidFill>
                  <a:srgbClr val="0F4C5C"/>
                </a:solidFill>
                <a:latin typeface="BIZ UDPGothic"/>
                <a:ea typeface="BIZ UDPGothic"/>
                <a:cs typeface="BIZ UDPGothic"/>
              </a:rPr>
              <a:t>③ リークチェッカで検査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32120" y="3136392"/>
            <a:ext cx="3127248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dirty="0">
                <a:solidFill>
                  <a:srgbClr val="1F2A30"/>
                </a:solidFill>
                <a:latin typeface="BIZ UDPGothic"/>
                <a:ea typeface="BIZ UDPGothic"/>
                <a:cs typeface="BIZ UDPGothic"/>
              </a:rPr>
              <a:t>圧着部からの漏れがないか検査（自動）→ コンベアで充填室へ</a:t>
            </a:r>
          </a:p>
        </p:txBody>
      </p:sp>
      <p:sp>
        <p:nvSpPr>
          <p:cNvPr id="45" name="Down Arrow 44"/>
          <p:cNvSpPr/>
          <p:nvPr/>
        </p:nvSpPr>
        <p:spPr>
          <a:xfrm>
            <a:off x="5074920" y="3529584"/>
            <a:ext cx="146304" cy="73152"/>
          </a:xfrm>
          <a:prstGeom prst="downArrow">
            <a:avLst/>
          </a:prstGeom>
          <a:solidFill>
            <a:srgbClr val="0F4C5C"/>
          </a:solidFill>
          <a:ln w="3175">
            <a:solidFill>
              <a:srgbClr val="0F4C5C"/>
            </a:solidFill>
          </a:ln>
        </p:spPr>
        <p:txBody>
          <a:bodyPr rtlCol="0" anchor="ctr"/>
          <a:lstStyle/>
          <a:p>
            <a:pPr algn="ctr"/>
            <a:endParaRPr sz="2400" dirty="0"/>
          </a:p>
        </p:txBody>
      </p:sp>
      <p:sp>
        <p:nvSpPr>
          <p:cNvPr id="46" name="Rectangle 45"/>
          <p:cNvSpPr/>
          <p:nvPr/>
        </p:nvSpPr>
        <p:spPr>
          <a:xfrm>
            <a:off x="4773168" y="3602736"/>
            <a:ext cx="3950208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8"/>
            </a:solidFill>
          </a:ln>
        </p:spPr>
        <p:txBody>
          <a:bodyPr rtlCol="0" anchor="ctr"/>
          <a:lstStyle/>
          <a:p>
            <a:pPr algn="ctr"/>
            <a:endParaRPr sz="2400" dirty="0"/>
          </a:p>
        </p:txBody>
      </p:sp>
      <p:sp>
        <p:nvSpPr>
          <p:cNvPr id="47" name="Rounded Rectangle 46"/>
          <p:cNvSpPr/>
          <p:nvPr/>
        </p:nvSpPr>
        <p:spPr>
          <a:xfrm>
            <a:off x="4937760" y="3794759"/>
            <a:ext cx="420624" cy="402335"/>
          </a:xfrm>
          <a:prstGeom prst="roundRect">
            <a:avLst/>
          </a:prstGeom>
          <a:solidFill>
            <a:srgbClr val="F6E3C8"/>
          </a:solidFill>
          <a:ln w="9525">
            <a:solidFill>
              <a:srgbClr val="7F8C96"/>
            </a:solidFill>
          </a:ln>
        </p:spPr>
        <p:txBody>
          <a:bodyPr rtlCol="0" anchor="ctr"/>
          <a:lstStyle/>
          <a:p>
            <a:pPr algn="ctr"/>
            <a:endParaRPr sz="2400" dirty="0"/>
          </a:p>
        </p:txBody>
      </p:sp>
      <p:sp>
        <p:nvSpPr>
          <p:cNvPr id="48" name="Rectangle 47"/>
          <p:cNvSpPr/>
          <p:nvPr/>
        </p:nvSpPr>
        <p:spPr>
          <a:xfrm>
            <a:off x="5088636" y="3685031"/>
            <a:ext cx="118872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0F4C5C"/>
            </a:solidFill>
          </a:ln>
        </p:spPr>
        <p:txBody>
          <a:bodyPr rtlCol="0" anchor="ctr"/>
          <a:lstStyle/>
          <a:p>
            <a:pPr algn="ctr"/>
            <a:endParaRPr sz="2400" dirty="0"/>
          </a:p>
        </p:txBody>
      </p:sp>
      <p:sp>
        <p:nvSpPr>
          <p:cNvPr id="49" name="Rectangle 48"/>
          <p:cNvSpPr/>
          <p:nvPr/>
        </p:nvSpPr>
        <p:spPr>
          <a:xfrm>
            <a:off x="5001768" y="3776472"/>
            <a:ext cx="292608" cy="45720"/>
          </a:xfrm>
          <a:prstGeom prst="rect">
            <a:avLst/>
          </a:prstGeom>
          <a:solidFill>
            <a:srgbClr val="F26B1D"/>
          </a:solidFill>
          <a:ln w="3175">
            <a:solidFill>
              <a:srgbClr val="F26B1D"/>
            </a:solidFill>
          </a:ln>
        </p:spPr>
        <p:txBody>
          <a:bodyPr rtlCol="0" anchor="ctr"/>
          <a:lstStyle/>
          <a:p>
            <a:pPr algn="ctr"/>
            <a:endParaRPr sz="2400" dirty="0"/>
          </a:p>
        </p:txBody>
      </p:sp>
      <p:sp>
        <p:nvSpPr>
          <p:cNvPr id="50" name="Rectangle 49"/>
          <p:cNvSpPr/>
          <p:nvPr/>
        </p:nvSpPr>
        <p:spPr>
          <a:xfrm>
            <a:off x="5047488" y="3630168"/>
            <a:ext cx="201168" cy="73152"/>
          </a:xfrm>
          <a:prstGeom prst="rect">
            <a:avLst/>
          </a:prstGeom>
          <a:solidFill>
            <a:srgbClr val="F26B1D"/>
          </a:solidFill>
          <a:ln w="3175">
            <a:solidFill>
              <a:srgbClr val="F26B1D"/>
            </a:solidFill>
          </a:ln>
        </p:spPr>
        <p:txBody>
          <a:bodyPr rtlCol="0" anchor="ctr"/>
          <a:lstStyle/>
          <a:p>
            <a:pPr algn="ctr"/>
            <a:endParaRPr sz="2400" dirty="0"/>
          </a:p>
        </p:txBody>
      </p:sp>
      <p:sp>
        <p:nvSpPr>
          <p:cNvPr id="51" name="TextBox 50"/>
          <p:cNvSpPr txBox="1"/>
          <p:nvPr/>
        </p:nvSpPr>
        <p:spPr>
          <a:xfrm>
            <a:off x="5532120" y="3630168"/>
            <a:ext cx="3127248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 dirty="0">
                <a:solidFill>
                  <a:srgbClr val="0F4C5C"/>
                </a:solidFill>
                <a:latin typeface="BIZ UDPGothic"/>
                <a:ea typeface="BIZ UDPGothic"/>
                <a:cs typeface="BIZ UDPGothic"/>
              </a:rPr>
              <a:t>④ 充填室で充填・キャップ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532120" y="3849624"/>
            <a:ext cx="3127248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dirty="0">
                <a:solidFill>
                  <a:srgbClr val="1F2A30"/>
                </a:solidFill>
                <a:latin typeface="BIZ UDPGothic"/>
                <a:ea typeface="BIZ UDPGothic"/>
                <a:cs typeface="BIZ UDPGothic"/>
              </a:rPr>
              <a:t>ゼリーを充填してキャップを付け、殺菌室で容器ごと殺菌 → 2階で包装・箱詰め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773168" y="4261104"/>
            <a:ext cx="3950208" cy="1280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0" dirty="0">
                <a:solidFill>
                  <a:srgbClr val="8A9BA8"/>
                </a:solidFill>
                <a:latin typeface="BIZ UDPGothic"/>
                <a:ea typeface="BIZ UDPGothic"/>
                <a:cs typeface="BIZ UDPGothic"/>
              </a:rPr>
              <a:t>オレンジ＝圧着部・キャップ。図は概念図（寸法は実物と異なります）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0040" y="4480560"/>
            <a:ext cx="8503920" cy="310896"/>
          </a:xfrm>
          <a:prstGeom prst="rect">
            <a:avLst/>
          </a:prstGeom>
          <a:solidFill>
            <a:srgbClr val="EEF4F5"/>
          </a:solidFill>
          <a:ln w="12700">
            <a:solidFill>
              <a:srgbClr val="D5DEE2"/>
            </a:solidFill>
          </a:ln>
        </p:spPr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5" name="TextBox 54"/>
          <p:cNvSpPr txBox="1"/>
          <p:nvPr/>
        </p:nvSpPr>
        <p:spPr>
          <a:xfrm>
            <a:off x="411480" y="4480560"/>
            <a:ext cx="832104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1" dirty="0">
                <a:solidFill>
                  <a:srgbClr val="0F4C5C"/>
                </a:solidFill>
                <a:latin typeface="BIZ UDPGothic"/>
                <a:ea typeface="BIZ UDPGothic"/>
                <a:cs typeface="BIZ UDPGothic"/>
              </a:rPr>
              <a:t>用語：</a:t>
            </a:r>
            <a:r>
              <a:rPr sz="850" b="0" dirty="0">
                <a:solidFill>
                  <a:srgbClr val="1F2A30"/>
                </a:solidFill>
                <a:latin typeface="BIZ UDPGothic"/>
                <a:ea typeface="BIZ UDPGothic"/>
                <a:cs typeface="BIZ UDPGothic"/>
              </a:rPr>
              <a:t>パウチ＝アルミ等を貼り合わせた柔らかい袋。スパウト＝飲み口になるストロー状の注ぎ口（キャップ付き）。製袋機＝空パウチにスパウトを圧着する機械（既設SPM機）。</a:t>
            </a:r>
            <a:endParaRPr lang="en-US" sz="850" b="0" dirty="0">
              <a:solidFill>
                <a:srgbClr val="1F2A30"/>
              </a:solidFill>
              <a:latin typeface="BIZ UDPGothic"/>
              <a:ea typeface="BIZ UDPGothic"/>
              <a:cs typeface="BIZ UDPGothic"/>
            </a:endParaRPr>
          </a:p>
          <a:p>
            <a:pPr algn="l"/>
            <a:r>
              <a:rPr sz="850" b="0" dirty="0">
                <a:solidFill>
                  <a:srgbClr val="1F2A30"/>
                </a:solidFill>
                <a:latin typeface="BIZ UDPGothic"/>
                <a:ea typeface="BIZ UDPGothic"/>
                <a:cs typeface="BIZ UDPGothic"/>
              </a:rPr>
              <a:t>マガジン＝製袋機</a:t>
            </a:r>
            <a:r>
              <a:rPr lang="ja-JP" altLang="en-US" sz="850" b="0" dirty="0">
                <a:solidFill>
                  <a:srgbClr val="1F2A30"/>
                </a:solidFill>
                <a:latin typeface="BIZ UDPGothic"/>
                <a:ea typeface="BIZ UDPGothic"/>
                <a:cs typeface="BIZ UDPGothic"/>
              </a:rPr>
              <a:t>に空パウチを入れる</a:t>
            </a:r>
            <a:r>
              <a:rPr lang="ja-JP" altLang="en-US" sz="850" dirty="0">
                <a:solidFill>
                  <a:srgbClr val="1F2A30"/>
                </a:solidFill>
                <a:latin typeface="BIZ UDPGothic"/>
                <a:ea typeface="BIZ UDPGothic"/>
                <a:cs typeface="BIZ UDPGothic"/>
              </a:rPr>
              <a:t>ための</a:t>
            </a:r>
            <a:r>
              <a:rPr sz="850" b="0" dirty="0">
                <a:solidFill>
                  <a:srgbClr val="1F2A30"/>
                </a:solidFill>
                <a:latin typeface="BIZ UDPGothic"/>
                <a:ea typeface="BIZ UDPGothic"/>
                <a:cs typeface="BIZ UDPGothic"/>
              </a:rPr>
              <a:t>投入口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3" name="Shape 1"/>
          <p:cNvSpPr/>
          <p:nvPr/>
        </p:nvSpPr>
        <p:spPr>
          <a:xfrm>
            <a:off x="320040" y="182880"/>
            <a:ext cx="109728" cy="320040"/>
          </a:xfrm>
          <a:prstGeom prst="rect">
            <a:avLst/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4" name="Text 2"/>
          <p:cNvSpPr/>
          <p:nvPr/>
        </p:nvSpPr>
        <p:spPr>
          <a:xfrm>
            <a:off x="530352" y="7315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200" b="1" dirty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3. 製袋室のレイアウト ビフォー・アフター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731520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7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a〜iは機械の記号で、次ページ「各機械の役割」と対応（①〜は別紙1の工程番号）。寸法・角度・位置は簡略化</a:t>
            </a:r>
            <a:r>
              <a:rPr lang="ja-JP" altLang="en-US" sz="1100" dirty="0">
                <a:solidFill>
                  <a:srgbClr val="5B67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済</a:t>
            </a:r>
            <a:r>
              <a:rPr lang="en-US" sz="1100" dirty="0">
                <a:solidFill>
                  <a:srgbClr val="5B67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。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A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株式会社トンボ飲料様　Gライン パウチ自動供給装置の導入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321040" y="482803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900" b="0" dirty="0">
                <a:solidFill>
                  <a:srgbClr val="8A9BA8"/>
                </a:solidFill>
                <a:latin typeface="BIZ UDPGothic"/>
                <a:ea typeface="BIZ UDPGothic"/>
                <a:cs typeface="BIZ UDPGothic"/>
              </a:rPr>
              <a:t>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083580"/>
            <a:ext cx="4114800" cy="2971800"/>
          </a:xfrm>
          <a:prstGeom prst="rect">
            <a:avLst/>
          </a:prstGeom>
          <a:solidFill>
            <a:srgbClr val="F7F9FA"/>
          </a:solidFill>
          <a:ln w="19050">
            <a:solidFill>
              <a:srgbClr val="0F4C5C"/>
            </a:solidFill>
            <a:prstDash val="solid"/>
          </a:ln>
        </p:spPr>
        <p:txBody>
          <a:bodyPr/>
          <a:lstStyle/>
          <a:p>
            <a:endParaRPr sz="2000" dirty="0"/>
          </a:p>
        </p:txBody>
      </p:sp>
      <p:sp>
        <p:nvSpPr>
          <p:cNvPr id="9" name="Shape 7"/>
          <p:cNvSpPr/>
          <p:nvPr/>
        </p:nvSpPr>
        <p:spPr>
          <a:xfrm>
            <a:off x="320040" y="1097280"/>
            <a:ext cx="914400" cy="292608"/>
          </a:xfrm>
          <a:prstGeom prst="rect">
            <a:avLst/>
          </a:prstGeom>
          <a:solidFill>
            <a:srgbClr val="5B6770"/>
          </a:solidFill>
          <a:ln w="12700">
            <a:solidFill>
              <a:srgbClr val="5B6770"/>
            </a:solidFill>
            <a:prstDash val="solid"/>
          </a:ln>
        </p:spPr>
        <p:txBody>
          <a:bodyPr/>
          <a:lstStyle/>
          <a:p>
            <a:endParaRPr sz="2000" dirty="0"/>
          </a:p>
        </p:txBody>
      </p:sp>
      <p:sp>
        <p:nvSpPr>
          <p:cNvPr id="10" name="Text 8"/>
          <p:cNvSpPr/>
          <p:nvPr/>
        </p:nvSpPr>
        <p:spPr>
          <a:xfrm>
            <a:off x="320040" y="10972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現状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25880" y="10972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4C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製袋室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93192" y="144475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B67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◀ 資材保管室から搬入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31520" y="1965960"/>
            <a:ext cx="1234440" cy="1234440"/>
          </a:xfrm>
          <a:prstGeom prst="rect">
            <a:avLst/>
          </a:prstGeom>
          <a:solidFill>
            <a:srgbClr val="FFF2CC"/>
          </a:solidFill>
          <a:ln w="15875">
            <a:solidFill>
              <a:srgbClr val="E6A100"/>
            </a:solidFill>
            <a:prstDash val="solid"/>
          </a:ln>
        </p:spPr>
        <p:txBody>
          <a:bodyPr/>
          <a:lstStyle/>
          <a:p>
            <a:endParaRPr sz="2000" dirty="0"/>
          </a:p>
        </p:txBody>
      </p:sp>
      <p:sp>
        <p:nvSpPr>
          <p:cNvPr id="14" name="Text 12"/>
          <p:cNvSpPr/>
          <p:nvPr/>
        </p:nvSpPr>
        <p:spPr>
          <a:xfrm>
            <a:off x="731520" y="1965960"/>
            <a:ext cx="1234440" cy="1234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u="sng" dirty="0">
                <a:solidFill>
                  <a:srgbClr val="1F2A3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a. 製袋機</a:t>
            </a:r>
            <a:endParaRPr lang="en-US" sz="1000" u="sng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F2A3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（既設SPM機）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F2A3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スパウト熱圧着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965960" y="1810512"/>
            <a:ext cx="182880" cy="777240"/>
          </a:xfrm>
          <a:prstGeom prst="rect">
            <a:avLst/>
          </a:prstGeom>
          <a:solidFill>
            <a:srgbClr val="DDEBF7"/>
          </a:solidFill>
          <a:ln w="15875">
            <a:solidFill>
              <a:srgbClr val="0070C0"/>
            </a:solidFill>
            <a:prstDash val="solid"/>
          </a:ln>
        </p:spPr>
        <p:txBody>
          <a:bodyPr/>
          <a:lstStyle/>
          <a:p>
            <a:endParaRPr sz="2000" dirty="0"/>
          </a:p>
        </p:txBody>
      </p:sp>
      <p:sp>
        <p:nvSpPr>
          <p:cNvPr id="16" name="Text 14"/>
          <p:cNvSpPr/>
          <p:nvPr/>
        </p:nvSpPr>
        <p:spPr>
          <a:xfrm>
            <a:off x="1563624" y="1600200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u="sng" dirty="0">
                <a:solidFill>
                  <a:srgbClr val="0B539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b. マガジン</a:t>
            </a:r>
            <a:endParaRPr lang="en-US" sz="900" u="sng" dirty="0"/>
          </a:p>
        </p:txBody>
      </p:sp>
      <p:sp>
        <p:nvSpPr>
          <p:cNvPr id="17" name="Shape 15"/>
          <p:cNvSpPr/>
          <p:nvPr/>
        </p:nvSpPr>
        <p:spPr>
          <a:xfrm>
            <a:off x="1965960" y="3337560"/>
            <a:ext cx="1371600" cy="182880"/>
          </a:xfrm>
          <a:prstGeom prst="rect">
            <a:avLst/>
          </a:prstGeom>
          <a:solidFill>
            <a:srgbClr val="FFD9EC"/>
          </a:solidFill>
          <a:ln w="15875">
            <a:solidFill>
              <a:srgbClr val="E75AA6"/>
            </a:solidFill>
            <a:prstDash val="solid"/>
          </a:ln>
        </p:spPr>
        <p:txBody>
          <a:bodyPr/>
          <a:lstStyle/>
          <a:p>
            <a:endParaRPr sz="2000" dirty="0"/>
          </a:p>
        </p:txBody>
      </p:sp>
      <p:sp>
        <p:nvSpPr>
          <p:cNvPr id="18" name="Text 16"/>
          <p:cNvSpPr/>
          <p:nvPr/>
        </p:nvSpPr>
        <p:spPr>
          <a:xfrm>
            <a:off x="1691640" y="354787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u="sng" dirty="0">
                <a:solidFill>
                  <a:srgbClr val="B5176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d. コンベア（搬送）</a:t>
            </a:r>
            <a:endParaRPr lang="en-US" sz="900" u="sng" dirty="0"/>
          </a:p>
        </p:txBody>
      </p:sp>
      <p:sp>
        <p:nvSpPr>
          <p:cNvPr id="19" name="Shape 17"/>
          <p:cNvSpPr/>
          <p:nvPr/>
        </p:nvSpPr>
        <p:spPr>
          <a:xfrm>
            <a:off x="3355848" y="3063240"/>
            <a:ext cx="566928" cy="658368"/>
          </a:xfrm>
          <a:prstGeom prst="rect">
            <a:avLst/>
          </a:prstGeom>
          <a:solidFill>
            <a:srgbClr val="E9DDF5"/>
          </a:solidFill>
          <a:ln w="15875">
            <a:solidFill>
              <a:srgbClr val="7030A0"/>
            </a:solidFill>
            <a:prstDash val="solid"/>
          </a:ln>
        </p:spPr>
        <p:txBody>
          <a:bodyPr/>
          <a:lstStyle/>
          <a:p>
            <a:endParaRPr sz="2000" dirty="0"/>
          </a:p>
        </p:txBody>
      </p:sp>
      <p:sp>
        <p:nvSpPr>
          <p:cNvPr id="20" name="Text 18"/>
          <p:cNvSpPr/>
          <p:nvPr/>
        </p:nvSpPr>
        <p:spPr>
          <a:xfrm>
            <a:off x="3355848" y="3063240"/>
            <a:ext cx="566928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u="sng" dirty="0">
                <a:solidFill>
                  <a:srgbClr val="5E2A8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e. リーク</a:t>
            </a:r>
            <a:endParaRPr lang="en-US" sz="900" u="sng" dirty="0"/>
          </a:p>
          <a:p>
            <a:pPr marL="0" indent="0" algn="ctr">
              <a:buNone/>
            </a:pPr>
            <a:r>
              <a:rPr lang="en-US" sz="900" b="1" u="sng" dirty="0">
                <a:solidFill>
                  <a:srgbClr val="5E2A8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チェッカ</a:t>
            </a:r>
            <a:endParaRPr lang="en-US" sz="900" u="sng" dirty="0"/>
          </a:p>
        </p:txBody>
      </p:sp>
      <p:sp>
        <p:nvSpPr>
          <p:cNvPr id="21" name="Shape 19"/>
          <p:cNvSpPr/>
          <p:nvPr/>
        </p:nvSpPr>
        <p:spPr>
          <a:xfrm>
            <a:off x="3959352" y="3291840"/>
            <a:ext cx="384048" cy="201168"/>
          </a:xfrm>
          <a:prstGeom prst="rightArrow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  <p:txBody>
          <a:bodyPr/>
          <a:lstStyle/>
          <a:p>
            <a:endParaRPr sz="2000" dirty="0"/>
          </a:p>
        </p:txBody>
      </p:sp>
      <p:sp>
        <p:nvSpPr>
          <p:cNvPr id="22" name="Text 20"/>
          <p:cNvSpPr/>
          <p:nvPr/>
        </p:nvSpPr>
        <p:spPr>
          <a:xfrm>
            <a:off x="3721608" y="3749040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4C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充填室へ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703320" y="1426464"/>
            <a:ext cx="658368" cy="502920"/>
          </a:xfrm>
          <a:prstGeom prst="rect">
            <a:avLst/>
          </a:prstGeom>
          <a:solidFill>
            <a:srgbClr val="E7E6E6"/>
          </a:solidFill>
          <a:ln w="15875">
            <a:solidFill>
              <a:srgbClr val="7F7F7F"/>
            </a:solidFill>
            <a:prstDash val="solid"/>
          </a:ln>
        </p:spPr>
        <p:txBody>
          <a:bodyPr/>
          <a:lstStyle/>
          <a:p>
            <a:endParaRPr sz="2000" dirty="0"/>
          </a:p>
        </p:txBody>
      </p:sp>
      <p:sp>
        <p:nvSpPr>
          <p:cNvPr id="24" name="Text 22"/>
          <p:cNvSpPr/>
          <p:nvPr/>
        </p:nvSpPr>
        <p:spPr>
          <a:xfrm>
            <a:off x="3703320" y="1426464"/>
            <a:ext cx="658368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u="sng" dirty="0">
                <a:solidFill>
                  <a:srgbClr val="59595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f. ホッパ</a:t>
            </a:r>
            <a:endParaRPr lang="en-US" sz="900" u="sng" dirty="0"/>
          </a:p>
          <a:p>
            <a:pPr marL="0" indent="0" algn="ctr">
              <a:buNone/>
            </a:pPr>
            <a:r>
              <a:rPr lang="en-US" sz="900" b="1" u="sng" dirty="0">
                <a:solidFill>
                  <a:srgbClr val="59595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ローダ</a:t>
            </a:r>
            <a:endParaRPr lang="en-US" sz="900" u="sng" dirty="0"/>
          </a:p>
        </p:txBody>
      </p:sp>
      <p:sp>
        <p:nvSpPr>
          <p:cNvPr id="25" name="Shape 23"/>
          <p:cNvSpPr/>
          <p:nvPr/>
        </p:nvSpPr>
        <p:spPr>
          <a:xfrm>
            <a:off x="2221992" y="1874520"/>
            <a:ext cx="548640" cy="658368"/>
          </a:xfrm>
          <a:prstGeom prst="rect">
            <a:avLst/>
          </a:prstGeom>
          <a:solidFill>
            <a:srgbClr val="E2F0D9"/>
          </a:solidFill>
          <a:ln w="15875">
            <a:solidFill>
              <a:srgbClr val="00B050"/>
            </a:solidFill>
            <a:prstDash val="solid"/>
          </a:ln>
        </p:spPr>
        <p:txBody>
          <a:bodyPr/>
          <a:lstStyle/>
          <a:p>
            <a:endParaRPr sz="2000" dirty="0"/>
          </a:p>
        </p:txBody>
      </p:sp>
      <p:sp>
        <p:nvSpPr>
          <p:cNvPr id="26" name="Text 24"/>
          <p:cNvSpPr/>
          <p:nvPr/>
        </p:nvSpPr>
        <p:spPr>
          <a:xfrm>
            <a:off x="2221992" y="1874520"/>
            <a:ext cx="54864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/>
          <a:lstStyle/>
          <a:p>
            <a:pPr marL="0" indent="0" algn="ctr">
              <a:buNone/>
            </a:pPr>
            <a:r>
              <a:rPr lang="en-US" sz="900" b="1" u="sng" dirty="0">
                <a:solidFill>
                  <a:srgbClr val="146B2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c. 踏み台</a:t>
            </a:r>
            <a:endParaRPr lang="en-US" sz="900" u="sng" dirty="0"/>
          </a:p>
        </p:txBody>
      </p:sp>
      <p:sp>
        <p:nvSpPr>
          <p:cNvPr id="27" name="Shape 25"/>
          <p:cNvSpPr/>
          <p:nvPr/>
        </p:nvSpPr>
        <p:spPr>
          <a:xfrm>
            <a:off x="2427732" y="1554480"/>
            <a:ext cx="137160" cy="137160"/>
          </a:xfrm>
          <a:prstGeom prst="ellipse">
            <a:avLst/>
          </a:prstGeom>
          <a:solidFill>
            <a:srgbClr val="2F5D8A"/>
          </a:solidFill>
          <a:ln w="6350">
            <a:solidFill>
              <a:srgbClr val="2F5D8A"/>
            </a:solidFill>
            <a:prstDash val="solid"/>
          </a:ln>
        </p:spPr>
        <p:txBody>
          <a:bodyPr/>
          <a:lstStyle/>
          <a:p>
            <a:endParaRPr sz="2000" dirty="0"/>
          </a:p>
        </p:txBody>
      </p:sp>
      <p:sp>
        <p:nvSpPr>
          <p:cNvPr id="28" name="Shape 26"/>
          <p:cNvSpPr/>
          <p:nvPr/>
        </p:nvSpPr>
        <p:spPr>
          <a:xfrm>
            <a:off x="2368296" y="1705356"/>
            <a:ext cx="256032" cy="274320"/>
          </a:xfrm>
          <a:prstGeom prst="roundRect">
            <a:avLst>
              <a:gd name="adj" fmla="val 25000"/>
            </a:avLst>
          </a:prstGeom>
          <a:solidFill>
            <a:srgbClr val="2F5D8A"/>
          </a:solidFill>
          <a:ln w="6350">
            <a:solidFill>
              <a:srgbClr val="2F5D8A"/>
            </a:solidFill>
            <a:prstDash val="solid"/>
          </a:ln>
        </p:spPr>
        <p:txBody>
          <a:bodyPr/>
          <a:lstStyle/>
          <a:p>
            <a:endParaRPr sz="2000" dirty="0"/>
          </a:p>
        </p:txBody>
      </p:sp>
      <p:sp>
        <p:nvSpPr>
          <p:cNvPr id="29" name="Text 27"/>
          <p:cNvSpPr/>
          <p:nvPr/>
        </p:nvSpPr>
        <p:spPr>
          <a:xfrm>
            <a:off x="2834640" y="1904347"/>
            <a:ext cx="15727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 b="0" dirty="0">
                <a:solidFill>
                  <a:srgbClr val="1F2A30"/>
                </a:solidFill>
                <a:latin typeface="BIZ UDPGothic"/>
                <a:ea typeface="BIZ UDPGothic"/>
                <a:cs typeface="BIZ UDPGothic"/>
              </a:rPr>
              <a:t>投入担当（パート）1名 ②〜⑦</a:t>
            </a:r>
            <a:endParaRPr lang="en-US" sz="900" dirty="0"/>
          </a:p>
          <a:p>
            <a:pPr marL="0" indent="0">
              <a:buNone/>
            </a:pPr>
            <a:r>
              <a:rPr sz="900" b="0" dirty="0">
                <a:solidFill>
                  <a:srgbClr val="1F2A30"/>
                </a:solidFill>
                <a:latin typeface="BIZ UDPGothic"/>
                <a:ea typeface="BIZ UDPGothic"/>
                <a:cs typeface="BIZ UDPGothic"/>
              </a:rPr>
              <a:t>手でほぐしてマガジンへ投入</a:t>
            </a:r>
          </a:p>
          <a:p>
            <a:pPr marL="0" indent="0">
              <a:buNone/>
            </a:pPr>
            <a:r>
              <a:rPr sz="900" b="0" dirty="0">
                <a:solidFill>
                  <a:srgbClr val="1F2A30"/>
                </a:solidFill>
                <a:latin typeface="BIZ UDPGothic"/>
                <a:ea typeface="BIZ UDPGothic"/>
                <a:cs typeface="BIZ UDPGothic"/>
              </a:rPr>
              <a:t>3分詰めて5分で空、の繰り返し1日約131回、離れられない</a:t>
            </a:r>
          </a:p>
        </p:txBody>
      </p:sp>
      <p:sp>
        <p:nvSpPr>
          <p:cNvPr id="30" name="Shape 28"/>
          <p:cNvSpPr/>
          <p:nvPr/>
        </p:nvSpPr>
        <p:spPr>
          <a:xfrm flipH="1">
            <a:off x="2167128" y="2103120"/>
            <a:ext cx="182880" cy="0"/>
          </a:xfrm>
          <a:prstGeom prst="line">
            <a:avLst/>
          </a:prstGeom>
          <a:noFill/>
          <a:ln w="15875">
            <a:solidFill>
              <a:srgbClr val="2F5D8A"/>
            </a:solidFill>
            <a:prstDash val="solid"/>
            <a:tailEnd type="triangle"/>
          </a:ln>
        </p:spPr>
        <p:txBody>
          <a:bodyPr/>
          <a:lstStyle/>
          <a:p>
            <a:endParaRPr sz="2000" dirty="0"/>
          </a:p>
        </p:txBody>
      </p:sp>
      <p:sp>
        <p:nvSpPr>
          <p:cNvPr id="31" name="Shape 29"/>
          <p:cNvSpPr/>
          <p:nvPr/>
        </p:nvSpPr>
        <p:spPr>
          <a:xfrm>
            <a:off x="2286000" y="2670048"/>
            <a:ext cx="502920" cy="310896"/>
          </a:xfrm>
          <a:prstGeom prst="rect">
            <a:avLst/>
          </a:prstGeom>
          <a:solidFill>
            <a:srgbClr val="EFE3D3"/>
          </a:solidFill>
          <a:ln w="15875">
            <a:solidFill>
              <a:srgbClr val="B08968"/>
            </a:solidFill>
            <a:prstDash val="solid"/>
          </a:ln>
        </p:spPr>
        <p:txBody>
          <a:bodyPr/>
          <a:lstStyle/>
          <a:p>
            <a:endParaRPr sz="2000" dirty="0"/>
          </a:p>
        </p:txBody>
      </p:sp>
      <p:sp>
        <p:nvSpPr>
          <p:cNvPr id="32" name="Text 30"/>
          <p:cNvSpPr/>
          <p:nvPr/>
        </p:nvSpPr>
        <p:spPr>
          <a:xfrm>
            <a:off x="2286000" y="2670048"/>
            <a:ext cx="50292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A5A3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パウチ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7A5A3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段ボール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862072" y="2670048"/>
            <a:ext cx="502920" cy="310896"/>
          </a:xfrm>
          <a:prstGeom prst="rect">
            <a:avLst/>
          </a:prstGeom>
          <a:solidFill>
            <a:srgbClr val="EFE3D3"/>
          </a:solidFill>
          <a:ln w="15875">
            <a:solidFill>
              <a:srgbClr val="B08968"/>
            </a:solidFill>
            <a:prstDash val="solid"/>
          </a:ln>
        </p:spPr>
        <p:txBody>
          <a:bodyPr/>
          <a:lstStyle/>
          <a:p>
            <a:endParaRPr sz="2000" dirty="0"/>
          </a:p>
        </p:txBody>
      </p:sp>
      <p:sp>
        <p:nvSpPr>
          <p:cNvPr id="34" name="Text 32"/>
          <p:cNvSpPr/>
          <p:nvPr/>
        </p:nvSpPr>
        <p:spPr>
          <a:xfrm>
            <a:off x="2862072" y="2670048"/>
            <a:ext cx="50292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A5A3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パウチ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7A5A3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段ボール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1202436" y="3246120"/>
            <a:ext cx="137160" cy="137160"/>
          </a:xfrm>
          <a:prstGeom prst="ellipse">
            <a:avLst/>
          </a:prstGeom>
          <a:solidFill>
            <a:srgbClr val="2F5D8A"/>
          </a:solidFill>
          <a:ln w="6350">
            <a:solidFill>
              <a:srgbClr val="2F5D8A"/>
            </a:solidFill>
            <a:prstDash val="solid"/>
          </a:ln>
        </p:spPr>
        <p:txBody>
          <a:bodyPr/>
          <a:lstStyle/>
          <a:p>
            <a:endParaRPr sz="2000" dirty="0"/>
          </a:p>
        </p:txBody>
      </p:sp>
      <p:sp>
        <p:nvSpPr>
          <p:cNvPr id="36" name="Shape 34"/>
          <p:cNvSpPr/>
          <p:nvPr/>
        </p:nvSpPr>
        <p:spPr>
          <a:xfrm>
            <a:off x="1143000" y="3396996"/>
            <a:ext cx="256032" cy="274320"/>
          </a:xfrm>
          <a:prstGeom prst="roundRect">
            <a:avLst>
              <a:gd name="adj" fmla="val 25000"/>
            </a:avLst>
          </a:prstGeom>
          <a:solidFill>
            <a:srgbClr val="2F5D8A"/>
          </a:solidFill>
          <a:ln w="6350">
            <a:solidFill>
              <a:srgbClr val="2F5D8A"/>
            </a:solidFill>
            <a:prstDash val="solid"/>
          </a:ln>
        </p:spPr>
        <p:txBody>
          <a:bodyPr/>
          <a:lstStyle/>
          <a:p>
            <a:endParaRPr sz="2000" dirty="0"/>
          </a:p>
        </p:txBody>
      </p:sp>
      <p:sp>
        <p:nvSpPr>
          <p:cNvPr id="37" name="Text 35"/>
          <p:cNvSpPr/>
          <p:nvPr/>
        </p:nvSpPr>
        <p:spPr>
          <a:xfrm>
            <a:off x="457200" y="370332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 b="1" dirty="0">
                <a:solidFill>
                  <a:srgbClr val="1F2A30"/>
                </a:solidFill>
                <a:latin typeface="BIZ UDPGothic"/>
                <a:ea typeface="BIZ UDPGothic"/>
                <a:cs typeface="BIZ UDPGothic"/>
              </a:rPr>
              <a:t>オペレーター1名 ⑧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462272" y="2423160"/>
            <a:ext cx="219456" cy="329184"/>
          </a:xfrm>
          <a:prstGeom prst="rightArrow">
            <a:avLst/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</p:spPr>
        <p:txBody>
          <a:bodyPr/>
          <a:lstStyle/>
          <a:p>
            <a:endParaRPr sz="2000" dirty="0"/>
          </a:p>
        </p:txBody>
      </p:sp>
      <p:sp>
        <p:nvSpPr>
          <p:cNvPr id="39" name="Shape 37"/>
          <p:cNvSpPr/>
          <p:nvPr/>
        </p:nvSpPr>
        <p:spPr>
          <a:xfrm>
            <a:off x="4709160" y="1097280"/>
            <a:ext cx="4114800" cy="2971800"/>
          </a:xfrm>
          <a:prstGeom prst="rect">
            <a:avLst/>
          </a:prstGeom>
          <a:solidFill>
            <a:srgbClr val="F7F9FA"/>
          </a:solidFill>
          <a:ln w="19050">
            <a:solidFill>
              <a:srgbClr val="0F4C5C"/>
            </a:solidFill>
            <a:prstDash val="solid"/>
          </a:ln>
        </p:spPr>
        <p:txBody>
          <a:bodyPr/>
          <a:lstStyle/>
          <a:p>
            <a:endParaRPr sz="2000" dirty="0"/>
          </a:p>
        </p:txBody>
      </p:sp>
      <p:sp>
        <p:nvSpPr>
          <p:cNvPr id="40" name="Shape 38"/>
          <p:cNvSpPr/>
          <p:nvPr/>
        </p:nvSpPr>
        <p:spPr>
          <a:xfrm>
            <a:off x="4709160" y="1097280"/>
            <a:ext cx="914400" cy="292608"/>
          </a:xfrm>
          <a:prstGeom prst="rect">
            <a:avLst/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</p:spPr>
        <p:txBody>
          <a:bodyPr/>
          <a:lstStyle/>
          <a:p>
            <a:endParaRPr sz="2000" dirty="0"/>
          </a:p>
        </p:txBody>
      </p:sp>
      <p:sp>
        <p:nvSpPr>
          <p:cNvPr id="41" name="Text 39"/>
          <p:cNvSpPr/>
          <p:nvPr/>
        </p:nvSpPr>
        <p:spPr>
          <a:xfrm>
            <a:off x="4709160" y="10972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導入後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715000" y="10972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4C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製袋室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782312" y="144475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B67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◀ 資材保管室から搬入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120640" y="1965960"/>
            <a:ext cx="1234440" cy="1234440"/>
          </a:xfrm>
          <a:prstGeom prst="rect">
            <a:avLst/>
          </a:prstGeom>
          <a:solidFill>
            <a:srgbClr val="FFF2CC"/>
          </a:solidFill>
          <a:ln w="15875">
            <a:solidFill>
              <a:srgbClr val="E6A100"/>
            </a:solidFill>
            <a:prstDash val="solid"/>
          </a:ln>
        </p:spPr>
        <p:txBody>
          <a:bodyPr/>
          <a:lstStyle/>
          <a:p>
            <a:endParaRPr sz="2000" dirty="0"/>
          </a:p>
        </p:txBody>
      </p:sp>
      <p:sp>
        <p:nvSpPr>
          <p:cNvPr id="45" name="Text 43"/>
          <p:cNvSpPr/>
          <p:nvPr/>
        </p:nvSpPr>
        <p:spPr>
          <a:xfrm>
            <a:off x="5120640" y="1965960"/>
            <a:ext cx="1234440" cy="1234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u="sng" dirty="0">
                <a:solidFill>
                  <a:srgbClr val="1F2A3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a. 製袋機</a:t>
            </a:r>
            <a:endParaRPr lang="en-US" sz="1000" u="sng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F2A3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（既設SPM機）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F2A3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スパウト熱圧着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355080" y="1810512"/>
            <a:ext cx="182880" cy="777240"/>
          </a:xfrm>
          <a:prstGeom prst="rect">
            <a:avLst/>
          </a:prstGeom>
          <a:solidFill>
            <a:srgbClr val="DDEBF7"/>
          </a:solidFill>
          <a:ln w="15875">
            <a:solidFill>
              <a:srgbClr val="0070C0"/>
            </a:solidFill>
            <a:prstDash val="solid"/>
          </a:ln>
        </p:spPr>
        <p:txBody>
          <a:bodyPr/>
          <a:lstStyle/>
          <a:p>
            <a:endParaRPr sz="2000" dirty="0"/>
          </a:p>
        </p:txBody>
      </p:sp>
      <p:sp>
        <p:nvSpPr>
          <p:cNvPr id="47" name="Text 45"/>
          <p:cNvSpPr/>
          <p:nvPr/>
        </p:nvSpPr>
        <p:spPr>
          <a:xfrm>
            <a:off x="5952744" y="1600200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u="sng" dirty="0">
                <a:solidFill>
                  <a:srgbClr val="0B539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b. マガジン</a:t>
            </a:r>
            <a:endParaRPr lang="en-US" sz="900" u="sng" dirty="0"/>
          </a:p>
        </p:txBody>
      </p:sp>
      <p:sp>
        <p:nvSpPr>
          <p:cNvPr id="48" name="Shape 46"/>
          <p:cNvSpPr/>
          <p:nvPr/>
        </p:nvSpPr>
        <p:spPr>
          <a:xfrm>
            <a:off x="6355080" y="3337560"/>
            <a:ext cx="1371600" cy="182880"/>
          </a:xfrm>
          <a:prstGeom prst="rect">
            <a:avLst/>
          </a:prstGeom>
          <a:solidFill>
            <a:srgbClr val="FFD9EC"/>
          </a:solidFill>
          <a:ln w="15875">
            <a:solidFill>
              <a:srgbClr val="E75AA6"/>
            </a:solidFill>
            <a:prstDash val="solid"/>
          </a:ln>
        </p:spPr>
        <p:txBody>
          <a:bodyPr/>
          <a:lstStyle/>
          <a:p>
            <a:endParaRPr sz="2000" dirty="0"/>
          </a:p>
        </p:txBody>
      </p:sp>
      <p:sp>
        <p:nvSpPr>
          <p:cNvPr id="49" name="Text 47"/>
          <p:cNvSpPr/>
          <p:nvPr/>
        </p:nvSpPr>
        <p:spPr>
          <a:xfrm>
            <a:off x="6080760" y="354787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u="sng" dirty="0">
                <a:solidFill>
                  <a:srgbClr val="B5176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d. コンベア（搬送）</a:t>
            </a:r>
            <a:endParaRPr lang="en-US" sz="900" u="sng" dirty="0"/>
          </a:p>
        </p:txBody>
      </p:sp>
      <p:sp>
        <p:nvSpPr>
          <p:cNvPr id="50" name="Shape 48"/>
          <p:cNvSpPr/>
          <p:nvPr/>
        </p:nvSpPr>
        <p:spPr>
          <a:xfrm>
            <a:off x="7744968" y="3063240"/>
            <a:ext cx="566928" cy="658368"/>
          </a:xfrm>
          <a:prstGeom prst="rect">
            <a:avLst/>
          </a:prstGeom>
          <a:solidFill>
            <a:srgbClr val="E9DDF5"/>
          </a:solidFill>
          <a:ln w="15875">
            <a:solidFill>
              <a:srgbClr val="7030A0"/>
            </a:solidFill>
            <a:prstDash val="solid"/>
          </a:ln>
        </p:spPr>
        <p:txBody>
          <a:bodyPr/>
          <a:lstStyle/>
          <a:p>
            <a:endParaRPr sz="2000" dirty="0"/>
          </a:p>
        </p:txBody>
      </p:sp>
      <p:sp>
        <p:nvSpPr>
          <p:cNvPr id="51" name="Text 49"/>
          <p:cNvSpPr/>
          <p:nvPr/>
        </p:nvSpPr>
        <p:spPr>
          <a:xfrm>
            <a:off x="7744968" y="3063240"/>
            <a:ext cx="566928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u="sng" dirty="0">
                <a:solidFill>
                  <a:srgbClr val="5E2A8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e. リーク</a:t>
            </a:r>
            <a:endParaRPr lang="en-US" sz="900" u="sng" dirty="0"/>
          </a:p>
          <a:p>
            <a:pPr marL="0" indent="0" algn="ctr">
              <a:buNone/>
            </a:pPr>
            <a:r>
              <a:rPr lang="en-US" sz="900" b="1" u="sng" dirty="0">
                <a:solidFill>
                  <a:srgbClr val="5E2A8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チェッカ</a:t>
            </a:r>
            <a:endParaRPr lang="en-US" sz="900" u="sng" dirty="0"/>
          </a:p>
        </p:txBody>
      </p:sp>
      <p:sp>
        <p:nvSpPr>
          <p:cNvPr id="52" name="Shape 50"/>
          <p:cNvSpPr/>
          <p:nvPr/>
        </p:nvSpPr>
        <p:spPr>
          <a:xfrm>
            <a:off x="8348472" y="3291840"/>
            <a:ext cx="384048" cy="201168"/>
          </a:xfrm>
          <a:prstGeom prst="rightArrow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  <p:txBody>
          <a:bodyPr/>
          <a:lstStyle/>
          <a:p>
            <a:endParaRPr sz="2000" dirty="0"/>
          </a:p>
        </p:txBody>
      </p:sp>
      <p:sp>
        <p:nvSpPr>
          <p:cNvPr id="53" name="Text 51"/>
          <p:cNvSpPr/>
          <p:nvPr/>
        </p:nvSpPr>
        <p:spPr>
          <a:xfrm>
            <a:off x="8110728" y="3749040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4C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充填室へ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8092440" y="1426464"/>
            <a:ext cx="658368" cy="502920"/>
          </a:xfrm>
          <a:prstGeom prst="rect">
            <a:avLst/>
          </a:prstGeom>
          <a:solidFill>
            <a:srgbClr val="E7E6E6"/>
          </a:solidFill>
          <a:ln w="15875">
            <a:solidFill>
              <a:srgbClr val="7F7F7F"/>
            </a:solidFill>
            <a:prstDash val="solid"/>
          </a:ln>
        </p:spPr>
        <p:txBody>
          <a:bodyPr/>
          <a:lstStyle/>
          <a:p>
            <a:endParaRPr sz="2000" dirty="0"/>
          </a:p>
        </p:txBody>
      </p:sp>
      <p:sp>
        <p:nvSpPr>
          <p:cNvPr id="55" name="Text 53"/>
          <p:cNvSpPr/>
          <p:nvPr/>
        </p:nvSpPr>
        <p:spPr>
          <a:xfrm>
            <a:off x="8092440" y="1426464"/>
            <a:ext cx="658368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u="sng" dirty="0">
                <a:solidFill>
                  <a:srgbClr val="59595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f. ホッパ</a:t>
            </a:r>
            <a:endParaRPr lang="en-US" sz="900" u="sng" dirty="0"/>
          </a:p>
          <a:p>
            <a:pPr marL="0" indent="0" algn="ctr">
              <a:buNone/>
            </a:pPr>
            <a:r>
              <a:rPr lang="en-US" sz="900" b="1" u="sng" dirty="0">
                <a:solidFill>
                  <a:srgbClr val="59595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ローダ</a:t>
            </a:r>
            <a:endParaRPr lang="en-US" sz="900" u="sng" dirty="0"/>
          </a:p>
        </p:txBody>
      </p:sp>
      <p:sp>
        <p:nvSpPr>
          <p:cNvPr id="56" name="Shape 54"/>
          <p:cNvSpPr/>
          <p:nvPr/>
        </p:nvSpPr>
        <p:spPr>
          <a:xfrm>
            <a:off x="6611112" y="1481328"/>
            <a:ext cx="1243584" cy="1481328"/>
          </a:xfrm>
          <a:prstGeom prst="rect">
            <a:avLst/>
          </a:prstGeom>
          <a:solidFill>
            <a:srgbClr val="FDE2E0"/>
          </a:solidFill>
          <a:ln w="25400">
            <a:solidFill>
              <a:srgbClr val="E60000"/>
            </a:solidFill>
            <a:prstDash val="solid"/>
          </a:ln>
        </p:spPr>
        <p:txBody>
          <a:bodyPr/>
          <a:lstStyle/>
          <a:p>
            <a:endParaRPr sz="2000" dirty="0"/>
          </a:p>
        </p:txBody>
      </p:sp>
      <p:sp>
        <p:nvSpPr>
          <p:cNvPr id="57" name="Text 55"/>
          <p:cNvSpPr/>
          <p:nvPr/>
        </p:nvSpPr>
        <p:spPr>
          <a:xfrm>
            <a:off x="6611112" y="1499616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u="sng" dirty="0">
                <a:solidFill>
                  <a:srgbClr val="B8000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g. 自動供給装置（新設）</a:t>
            </a:r>
            <a:endParaRPr lang="en-US" sz="900" u="sng" dirty="0"/>
          </a:p>
        </p:txBody>
      </p:sp>
      <p:sp>
        <p:nvSpPr>
          <p:cNvPr id="58" name="Shape 56"/>
          <p:cNvSpPr/>
          <p:nvPr/>
        </p:nvSpPr>
        <p:spPr>
          <a:xfrm>
            <a:off x="6702552" y="1737360"/>
            <a:ext cx="182880" cy="73152"/>
          </a:xfrm>
          <a:prstGeom prst="rect">
            <a:avLst/>
          </a:prstGeom>
          <a:solidFill>
            <a:srgbClr val="F4A6A0"/>
          </a:solidFill>
          <a:ln w="6350">
            <a:solidFill>
              <a:srgbClr val="E60000"/>
            </a:solidFill>
            <a:prstDash val="solid"/>
          </a:ln>
        </p:spPr>
        <p:txBody>
          <a:bodyPr/>
          <a:lstStyle/>
          <a:p>
            <a:endParaRPr sz="2000" dirty="0"/>
          </a:p>
        </p:txBody>
      </p:sp>
      <p:sp>
        <p:nvSpPr>
          <p:cNvPr id="59" name="Shape 57"/>
          <p:cNvSpPr/>
          <p:nvPr/>
        </p:nvSpPr>
        <p:spPr>
          <a:xfrm>
            <a:off x="6702552" y="1828800"/>
            <a:ext cx="182880" cy="73152"/>
          </a:xfrm>
          <a:prstGeom prst="rect">
            <a:avLst/>
          </a:prstGeom>
          <a:solidFill>
            <a:srgbClr val="F4A6A0"/>
          </a:solidFill>
          <a:ln w="6350">
            <a:solidFill>
              <a:srgbClr val="E60000"/>
            </a:solidFill>
            <a:prstDash val="solid"/>
          </a:ln>
        </p:spPr>
        <p:txBody>
          <a:bodyPr/>
          <a:lstStyle/>
          <a:p>
            <a:endParaRPr sz="2000" dirty="0"/>
          </a:p>
        </p:txBody>
      </p:sp>
      <p:sp>
        <p:nvSpPr>
          <p:cNvPr id="60" name="Shape 58"/>
          <p:cNvSpPr/>
          <p:nvPr/>
        </p:nvSpPr>
        <p:spPr>
          <a:xfrm>
            <a:off x="6702552" y="1920240"/>
            <a:ext cx="182880" cy="73152"/>
          </a:xfrm>
          <a:prstGeom prst="rect">
            <a:avLst/>
          </a:prstGeom>
          <a:solidFill>
            <a:srgbClr val="F4A6A0"/>
          </a:solidFill>
          <a:ln w="6350">
            <a:solidFill>
              <a:srgbClr val="E60000"/>
            </a:solidFill>
            <a:prstDash val="solid"/>
          </a:ln>
        </p:spPr>
        <p:txBody>
          <a:bodyPr/>
          <a:lstStyle/>
          <a:p>
            <a:endParaRPr sz="2000" dirty="0"/>
          </a:p>
        </p:txBody>
      </p:sp>
      <p:sp>
        <p:nvSpPr>
          <p:cNvPr id="61" name="Shape 59"/>
          <p:cNvSpPr/>
          <p:nvPr/>
        </p:nvSpPr>
        <p:spPr>
          <a:xfrm>
            <a:off x="6702552" y="2011680"/>
            <a:ext cx="182880" cy="73152"/>
          </a:xfrm>
          <a:prstGeom prst="rect">
            <a:avLst/>
          </a:prstGeom>
          <a:solidFill>
            <a:srgbClr val="F4A6A0"/>
          </a:solidFill>
          <a:ln w="6350">
            <a:solidFill>
              <a:srgbClr val="E60000"/>
            </a:solidFill>
            <a:prstDash val="solid"/>
          </a:ln>
        </p:spPr>
        <p:txBody>
          <a:bodyPr/>
          <a:lstStyle/>
          <a:p>
            <a:endParaRPr sz="2000" dirty="0"/>
          </a:p>
        </p:txBody>
      </p:sp>
      <p:sp>
        <p:nvSpPr>
          <p:cNvPr id="62" name="Shape 60"/>
          <p:cNvSpPr/>
          <p:nvPr/>
        </p:nvSpPr>
        <p:spPr>
          <a:xfrm>
            <a:off x="6702552" y="2103120"/>
            <a:ext cx="182880" cy="73152"/>
          </a:xfrm>
          <a:prstGeom prst="rect">
            <a:avLst/>
          </a:prstGeom>
          <a:solidFill>
            <a:srgbClr val="F4A6A0"/>
          </a:solidFill>
          <a:ln w="6350">
            <a:solidFill>
              <a:srgbClr val="E60000"/>
            </a:solidFill>
            <a:prstDash val="solid"/>
          </a:ln>
        </p:spPr>
        <p:txBody>
          <a:bodyPr/>
          <a:lstStyle/>
          <a:p>
            <a:endParaRPr sz="2000" dirty="0"/>
          </a:p>
        </p:txBody>
      </p:sp>
      <p:sp>
        <p:nvSpPr>
          <p:cNvPr id="63" name="Shape 61"/>
          <p:cNvSpPr/>
          <p:nvPr/>
        </p:nvSpPr>
        <p:spPr>
          <a:xfrm>
            <a:off x="6986016" y="1737360"/>
            <a:ext cx="182880" cy="73152"/>
          </a:xfrm>
          <a:prstGeom prst="rect">
            <a:avLst/>
          </a:prstGeom>
          <a:solidFill>
            <a:srgbClr val="F4A6A0"/>
          </a:solidFill>
          <a:ln w="6350">
            <a:solidFill>
              <a:srgbClr val="E60000"/>
            </a:solidFill>
            <a:prstDash val="solid"/>
          </a:ln>
        </p:spPr>
        <p:txBody>
          <a:bodyPr/>
          <a:lstStyle/>
          <a:p>
            <a:endParaRPr sz="2000" dirty="0"/>
          </a:p>
        </p:txBody>
      </p:sp>
      <p:sp>
        <p:nvSpPr>
          <p:cNvPr id="64" name="Shape 62"/>
          <p:cNvSpPr/>
          <p:nvPr/>
        </p:nvSpPr>
        <p:spPr>
          <a:xfrm>
            <a:off x="6986016" y="1828800"/>
            <a:ext cx="182880" cy="73152"/>
          </a:xfrm>
          <a:prstGeom prst="rect">
            <a:avLst/>
          </a:prstGeom>
          <a:solidFill>
            <a:srgbClr val="F4A6A0"/>
          </a:solidFill>
          <a:ln w="6350">
            <a:solidFill>
              <a:srgbClr val="E60000"/>
            </a:solidFill>
            <a:prstDash val="solid"/>
          </a:ln>
        </p:spPr>
        <p:txBody>
          <a:bodyPr/>
          <a:lstStyle/>
          <a:p>
            <a:endParaRPr sz="2000" dirty="0"/>
          </a:p>
        </p:txBody>
      </p:sp>
      <p:sp>
        <p:nvSpPr>
          <p:cNvPr id="65" name="Shape 63"/>
          <p:cNvSpPr/>
          <p:nvPr/>
        </p:nvSpPr>
        <p:spPr>
          <a:xfrm>
            <a:off x="6986016" y="1920240"/>
            <a:ext cx="182880" cy="73152"/>
          </a:xfrm>
          <a:prstGeom prst="rect">
            <a:avLst/>
          </a:prstGeom>
          <a:solidFill>
            <a:srgbClr val="F4A6A0"/>
          </a:solidFill>
          <a:ln w="6350">
            <a:solidFill>
              <a:srgbClr val="E60000"/>
            </a:solidFill>
            <a:prstDash val="solid"/>
          </a:ln>
        </p:spPr>
        <p:txBody>
          <a:bodyPr/>
          <a:lstStyle/>
          <a:p>
            <a:endParaRPr sz="2000" dirty="0"/>
          </a:p>
        </p:txBody>
      </p:sp>
      <p:sp>
        <p:nvSpPr>
          <p:cNvPr id="66" name="Shape 64"/>
          <p:cNvSpPr/>
          <p:nvPr/>
        </p:nvSpPr>
        <p:spPr>
          <a:xfrm>
            <a:off x="6986016" y="2011680"/>
            <a:ext cx="182880" cy="73152"/>
          </a:xfrm>
          <a:prstGeom prst="rect">
            <a:avLst/>
          </a:prstGeom>
          <a:solidFill>
            <a:srgbClr val="F4A6A0"/>
          </a:solidFill>
          <a:ln w="6350">
            <a:solidFill>
              <a:srgbClr val="E60000"/>
            </a:solidFill>
            <a:prstDash val="solid"/>
          </a:ln>
        </p:spPr>
        <p:txBody>
          <a:bodyPr/>
          <a:lstStyle/>
          <a:p>
            <a:endParaRPr sz="2000" dirty="0"/>
          </a:p>
        </p:txBody>
      </p:sp>
      <p:sp>
        <p:nvSpPr>
          <p:cNvPr id="67" name="Shape 65"/>
          <p:cNvSpPr/>
          <p:nvPr/>
        </p:nvSpPr>
        <p:spPr>
          <a:xfrm>
            <a:off x="6986016" y="2103120"/>
            <a:ext cx="182880" cy="73152"/>
          </a:xfrm>
          <a:prstGeom prst="rect">
            <a:avLst/>
          </a:prstGeom>
          <a:solidFill>
            <a:srgbClr val="F4A6A0"/>
          </a:solidFill>
          <a:ln w="6350">
            <a:solidFill>
              <a:srgbClr val="E60000"/>
            </a:solidFill>
            <a:prstDash val="solid"/>
          </a:ln>
        </p:spPr>
        <p:txBody>
          <a:bodyPr/>
          <a:lstStyle/>
          <a:p>
            <a:endParaRPr sz="2000" dirty="0"/>
          </a:p>
        </p:txBody>
      </p:sp>
      <p:sp>
        <p:nvSpPr>
          <p:cNvPr id="68" name="Shape 66"/>
          <p:cNvSpPr/>
          <p:nvPr/>
        </p:nvSpPr>
        <p:spPr>
          <a:xfrm>
            <a:off x="7269480" y="1737360"/>
            <a:ext cx="182880" cy="73152"/>
          </a:xfrm>
          <a:prstGeom prst="rect">
            <a:avLst/>
          </a:prstGeom>
          <a:solidFill>
            <a:srgbClr val="F4A6A0"/>
          </a:solidFill>
          <a:ln w="6350">
            <a:solidFill>
              <a:srgbClr val="E60000"/>
            </a:solidFill>
            <a:prstDash val="solid"/>
          </a:ln>
        </p:spPr>
        <p:txBody>
          <a:bodyPr/>
          <a:lstStyle/>
          <a:p>
            <a:endParaRPr sz="2000" dirty="0"/>
          </a:p>
        </p:txBody>
      </p:sp>
      <p:sp>
        <p:nvSpPr>
          <p:cNvPr id="69" name="Shape 67"/>
          <p:cNvSpPr/>
          <p:nvPr/>
        </p:nvSpPr>
        <p:spPr>
          <a:xfrm>
            <a:off x="7269480" y="1828800"/>
            <a:ext cx="182880" cy="73152"/>
          </a:xfrm>
          <a:prstGeom prst="rect">
            <a:avLst/>
          </a:prstGeom>
          <a:solidFill>
            <a:srgbClr val="F4A6A0"/>
          </a:solidFill>
          <a:ln w="6350">
            <a:solidFill>
              <a:srgbClr val="E60000"/>
            </a:solidFill>
            <a:prstDash val="solid"/>
          </a:ln>
        </p:spPr>
        <p:txBody>
          <a:bodyPr/>
          <a:lstStyle/>
          <a:p>
            <a:endParaRPr sz="2000" dirty="0"/>
          </a:p>
        </p:txBody>
      </p:sp>
      <p:sp>
        <p:nvSpPr>
          <p:cNvPr id="70" name="Shape 68"/>
          <p:cNvSpPr/>
          <p:nvPr/>
        </p:nvSpPr>
        <p:spPr>
          <a:xfrm>
            <a:off x="7269480" y="1920240"/>
            <a:ext cx="182880" cy="73152"/>
          </a:xfrm>
          <a:prstGeom prst="rect">
            <a:avLst/>
          </a:prstGeom>
          <a:solidFill>
            <a:srgbClr val="F4A6A0"/>
          </a:solidFill>
          <a:ln w="6350">
            <a:solidFill>
              <a:srgbClr val="E60000"/>
            </a:solidFill>
            <a:prstDash val="solid"/>
          </a:ln>
        </p:spPr>
        <p:txBody>
          <a:bodyPr/>
          <a:lstStyle/>
          <a:p>
            <a:endParaRPr sz="2000" dirty="0"/>
          </a:p>
        </p:txBody>
      </p:sp>
      <p:sp>
        <p:nvSpPr>
          <p:cNvPr id="71" name="Shape 69"/>
          <p:cNvSpPr/>
          <p:nvPr/>
        </p:nvSpPr>
        <p:spPr>
          <a:xfrm>
            <a:off x="7269480" y="2011680"/>
            <a:ext cx="182880" cy="73152"/>
          </a:xfrm>
          <a:prstGeom prst="rect">
            <a:avLst/>
          </a:prstGeom>
          <a:solidFill>
            <a:srgbClr val="F4A6A0"/>
          </a:solidFill>
          <a:ln w="6350">
            <a:solidFill>
              <a:srgbClr val="E60000"/>
            </a:solidFill>
            <a:prstDash val="solid"/>
          </a:ln>
        </p:spPr>
        <p:txBody>
          <a:bodyPr/>
          <a:lstStyle/>
          <a:p>
            <a:endParaRPr sz="2000" dirty="0"/>
          </a:p>
        </p:txBody>
      </p:sp>
      <p:sp>
        <p:nvSpPr>
          <p:cNvPr id="72" name="Shape 70"/>
          <p:cNvSpPr/>
          <p:nvPr/>
        </p:nvSpPr>
        <p:spPr>
          <a:xfrm>
            <a:off x="7269480" y="2103120"/>
            <a:ext cx="182880" cy="73152"/>
          </a:xfrm>
          <a:prstGeom prst="rect">
            <a:avLst/>
          </a:prstGeom>
          <a:solidFill>
            <a:srgbClr val="F4A6A0"/>
          </a:solidFill>
          <a:ln w="6350">
            <a:solidFill>
              <a:srgbClr val="E60000"/>
            </a:solidFill>
            <a:prstDash val="solid"/>
          </a:ln>
        </p:spPr>
        <p:txBody>
          <a:bodyPr/>
          <a:lstStyle/>
          <a:p>
            <a:endParaRPr sz="2000" dirty="0"/>
          </a:p>
        </p:txBody>
      </p:sp>
      <p:sp>
        <p:nvSpPr>
          <p:cNvPr id="73" name="Shape 71"/>
          <p:cNvSpPr/>
          <p:nvPr/>
        </p:nvSpPr>
        <p:spPr>
          <a:xfrm>
            <a:off x="7552944" y="1737360"/>
            <a:ext cx="182880" cy="73152"/>
          </a:xfrm>
          <a:prstGeom prst="rect">
            <a:avLst/>
          </a:prstGeom>
          <a:solidFill>
            <a:srgbClr val="F4A6A0"/>
          </a:solidFill>
          <a:ln w="6350">
            <a:solidFill>
              <a:srgbClr val="E60000"/>
            </a:solidFill>
            <a:prstDash val="solid"/>
          </a:ln>
        </p:spPr>
        <p:txBody>
          <a:bodyPr/>
          <a:lstStyle/>
          <a:p>
            <a:endParaRPr sz="2000" dirty="0"/>
          </a:p>
        </p:txBody>
      </p:sp>
      <p:sp>
        <p:nvSpPr>
          <p:cNvPr id="74" name="Shape 72"/>
          <p:cNvSpPr/>
          <p:nvPr/>
        </p:nvSpPr>
        <p:spPr>
          <a:xfrm>
            <a:off x="7552944" y="1828800"/>
            <a:ext cx="182880" cy="73152"/>
          </a:xfrm>
          <a:prstGeom prst="rect">
            <a:avLst/>
          </a:prstGeom>
          <a:solidFill>
            <a:srgbClr val="F4A6A0"/>
          </a:solidFill>
          <a:ln w="6350">
            <a:solidFill>
              <a:srgbClr val="E60000"/>
            </a:solidFill>
            <a:prstDash val="solid"/>
          </a:ln>
        </p:spPr>
        <p:txBody>
          <a:bodyPr/>
          <a:lstStyle/>
          <a:p>
            <a:endParaRPr sz="2000" dirty="0"/>
          </a:p>
        </p:txBody>
      </p:sp>
      <p:sp>
        <p:nvSpPr>
          <p:cNvPr id="75" name="Shape 73"/>
          <p:cNvSpPr/>
          <p:nvPr/>
        </p:nvSpPr>
        <p:spPr>
          <a:xfrm>
            <a:off x="7552944" y="1920240"/>
            <a:ext cx="182880" cy="73152"/>
          </a:xfrm>
          <a:prstGeom prst="rect">
            <a:avLst/>
          </a:prstGeom>
          <a:solidFill>
            <a:srgbClr val="F4A6A0"/>
          </a:solidFill>
          <a:ln w="6350">
            <a:solidFill>
              <a:srgbClr val="E60000"/>
            </a:solidFill>
            <a:prstDash val="solid"/>
          </a:ln>
        </p:spPr>
        <p:txBody>
          <a:bodyPr/>
          <a:lstStyle/>
          <a:p>
            <a:endParaRPr sz="2000" dirty="0"/>
          </a:p>
        </p:txBody>
      </p:sp>
      <p:sp>
        <p:nvSpPr>
          <p:cNvPr id="76" name="Shape 74"/>
          <p:cNvSpPr/>
          <p:nvPr/>
        </p:nvSpPr>
        <p:spPr>
          <a:xfrm>
            <a:off x="7552944" y="2011680"/>
            <a:ext cx="182880" cy="73152"/>
          </a:xfrm>
          <a:prstGeom prst="rect">
            <a:avLst/>
          </a:prstGeom>
          <a:solidFill>
            <a:srgbClr val="F4A6A0"/>
          </a:solidFill>
          <a:ln w="6350">
            <a:solidFill>
              <a:srgbClr val="E60000"/>
            </a:solidFill>
            <a:prstDash val="solid"/>
          </a:ln>
        </p:spPr>
        <p:txBody>
          <a:bodyPr/>
          <a:lstStyle/>
          <a:p>
            <a:endParaRPr sz="2000" dirty="0"/>
          </a:p>
        </p:txBody>
      </p:sp>
      <p:sp>
        <p:nvSpPr>
          <p:cNvPr id="77" name="Shape 75"/>
          <p:cNvSpPr/>
          <p:nvPr/>
        </p:nvSpPr>
        <p:spPr>
          <a:xfrm>
            <a:off x="7552944" y="2103120"/>
            <a:ext cx="182880" cy="73152"/>
          </a:xfrm>
          <a:prstGeom prst="rect">
            <a:avLst/>
          </a:prstGeom>
          <a:solidFill>
            <a:srgbClr val="F4A6A0"/>
          </a:solidFill>
          <a:ln w="6350">
            <a:solidFill>
              <a:srgbClr val="E60000"/>
            </a:solidFill>
            <a:prstDash val="solid"/>
          </a:ln>
        </p:spPr>
        <p:txBody>
          <a:bodyPr/>
          <a:lstStyle/>
          <a:p>
            <a:endParaRPr sz="2000" dirty="0"/>
          </a:p>
        </p:txBody>
      </p:sp>
      <p:sp>
        <p:nvSpPr>
          <p:cNvPr id="78" name="Text 76"/>
          <p:cNvSpPr/>
          <p:nvPr/>
        </p:nvSpPr>
        <p:spPr>
          <a:xfrm>
            <a:off x="6622550" y="2212848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8000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h. 専用パレット 5段×4列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B8000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（24,000袋≒約2時間分）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6684264" y="2578608"/>
            <a:ext cx="274320" cy="274320"/>
          </a:xfrm>
          <a:prstGeom prst="ellipse">
            <a:avLst/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  <p:txBody>
          <a:bodyPr/>
          <a:lstStyle/>
          <a:p>
            <a:endParaRPr sz="2000" dirty="0"/>
          </a:p>
        </p:txBody>
      </p:sp>
      <p:sp>
        <p:nvSpPr>
          <p:cNvPr id="80" name="Text 78"/>
          <p:cNvSpPr/>
          <p:nvPr/>
        </p:nvSpPr>
        <p:spPr>
          <a:xfrm>
            <a:off x="6995160" y="2542032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800" b="0" dirty="0">
                <a:solidFill>
                  <a:srgbClr val="1F2A30"/>
                </a:solidFill>
                <a:latin typeface="BIZ UDPGothic"/>
                <a:ea typeface="BIZ UDPGothic"/>
                <a:cs typeface="BIZ UDPGothic"/>
              </a:rPr>
              <a:t>ロボットアームが</a:t>
            </a:r>
            <a:endParaRPr lang="en-US" sz="800" dirty="0"/>
          </a:p>
          <a:p>
            <a:pPr marL="0" indent="0">
              <a:buNone/>
            </a:pPr>
            <a:r>
              <a:rPr sz="800" b="0" dirty="0">
                <a:solidFill>
                  <a:srgbClr val="1F2A30"/>
                </a:solidFill>
                <a:latin typeface="BIZ UDPGothic"/>
                <a:ea typeface="BIZ UDPGothic"/>
                <a:cs typeface="BIZ UDPGothic"/>
              </a:rPr>
              <a:t>マガジンへ供給</a:t>
            </a:r>
          </a:p>
        </p:txBody>
      </p:sp>
      <p:sp>
        <p:nvSpPr>
          <p:cNvPr id="81" name="Shape 79"/>
          <p:cNvSpPr/>
          <p:nvPr/>
        </p:nvSpPr>
        <p:spPr>
          <a:xfrm flipH="1" flipV="1">
            <a:off x="6556248" y="2331720"/>
            <a:ext cx="128016" cy="356616"/>
          </a:xfrm>
          <a:prstGeom prst="line">
            <a:avLst/>
          </a:prstGeom>
          <a:noFill/>
          <a:ln w="15875">
            <a:solidFill>
              <a:srgbClr val="E60000"/>
            </a:solidFill>
            <a:prstDash val="solid"/>
            <a:tailEnd type="triangle"/>
          </a:ln>
        </p:spPr>
        <p:txBody>
          <a:bodyPr/>
          <a:lstStyle/>
          <a:p>
            <a:endParaRPr sz="2000" dirty="0"/>
          </a:p>
        </p:txBody>
      </p:sp>
      <p:sp>
        <p:nvSpPr>
          <p:cNvPr id="82" name="Shape 80"/>
          <p:cNvSpPr/>
          <p:nvPr/>
        </p:nvSpPr>
        <p:spPr>
          <a:xfrm>
            <a:off x="8074152" y="2011680"/>
            <a:ext cx="713232" cy="996696"/>
          </a:xfrm>
          <a:prstGeom prst="rect">
            <a:avLst/>
          </a:prstGeom>
          <a:solidFill>
            <a:srgbClr val="FDE8DC"/>
          </a:solidFill>
          <a:ln w="15875">
            <a:solidFill>
              <a:srgbClr val="F26B1D"/>
            </a:solidFill>
            <a:prstDash val="solid"/>
          </a:ln>
        </p:spPr>
        <p:txBody>
          <a:bodyPr/>
          <a:lstStyle/>
          <a:p>
            <a:endParaRPr sz="2000" dirty="0"/>
          </a:p>
        </p:txBody>
      </p:sp>
      <p:sp>
        <p:nvSpPr>
          <p:cNvPr id="83" name="Text 81"/>
          <p:cNvSpPr/>
          <p:nvPr/>
        </p:nvSpPr>
        <p:spPr>
          <a:xfrm>
            <a:off x="8074152" y="2029968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u="sng" dirty="0">
                <a:solidFill>
                  <a:srgbClr val="B84A0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i. 仮置き台車</a:t>
            </a:r>
            <a:endParaRPr lang="en-US" sz="800" u="sng" dirty="0"/>
          </a:p>
        </p:txBody>
      </p:sp>
      <p:sp>
        <p:nvSpPr>
          <p:cNvPr id="84" name="Shape 82"/>
          <p:cNvSpPr/>
          <p:nvPr/>
        </p:nvSpPr>
        <p:spPr>
          <a:xfrm>
            <a:off x="8362188" y="2212848"/>
            <a:ext cx="137160" cy="137160"/>
          </a:xfrm>
          <a:prstGeom prst="ellipse">
            <a:avLst/>
          </a:prstGeom>
          <a:solidFill>
            <a:srgbClr val="F26B1D"/>
          </a:solidFill>
          <a:ln w="6350">
            <a:solidFill>
              <a:srgbClr val="F26B1D"/>
            </a:solidFill>
            <a:prstDash val="solid"/>
          </a:ln>
        </p:spPr>
        <p:txBody>
          <a:bodyPr/>
          <a:lstStyle/>
          <a:p>
            <a:endParaRPr sz="2000" dirty="0"/>
          </a:p>
        </p:txBody>
      </p:sp>
      <p:sp>
        <p:nvSpPr>
          <p:cNvPr id="85" name="Shape 83"/>
          <p:cNvSpPr/>
          <p:nvPr/>
        </p:nvSpPr>
        <p:spPr>
          <a:xfrm>
            <a:off x="8302752" y="2363724"/>
            <a:ext cx="256032" cy="274320"/>
          </a:xfrm>
          <a:prstGeom prst="roundRect">
            <a:avLst>
              <a:gd name="adj" fmla="val 25000"/>
            </a:avLst>
          </a:prstGeom>
          <a:solidFill>
            <a:srgbClr val="F26B1D"/>
          </a:solidFill>
          <a:ln w="6350">
            <a:solidFill>
              <a:srgbClr val="F26B1D"/>
            </a:solidFill>
            <a:prstDash val="solid"/>
          </a:ln>
        </p:spPr>
        <p:txBody>
          <a:bodyPr/>
          <a:lstStyle/>
          <a:p>
            <a:endParaRPr sz="2000" dirty="0"/>
          </a:p>
        </p:txBody>
      </p:sp>
      <p:sp>
        <p:nvSpPr>
          <p:cNvPr id="86" name="Text 84"/>
          <p:cNvSpPr/>
          <p:nvPr/>
        </p:nvSpPr>
        <p:spPr>
          <a:xfrm>
            <a:off x="8074152" y="2651760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800" b="1" dirty="0">
                <a:solidFill>
                  <a:srgbClr val="B84A0A"/>
                </a:solidFill>
                <a:latin typeface="BIZ UDPGothic"/>
                <a:ea typeface="BIZ UDPGothic"/>
                <a:cs typeface="BIZ UDPGothic"/>
              </a:rPr>
              <a:t>② パレット詰め</a:t>
            </a:r>
            <a:endParaRPr lang="en-US" sz="800" dirty="0"/>
          </a:p>
          <a:p>
            <a:pPr marL="0" indent="0" algn="ctr">
              <a:buNone/>
            </a:pPr>
            <a:r>
              <a:rPr sz="800" b="0" dirty="0">
                <a:solidFill>
                  <a:srgbClr val="1F2A30"/>
                </a:solidFill>
                <a:latin typeface="BIZ UDPGothic"/>
                <a:ea typeface="BIZ UDPGothic"/>
                <a:cs typeface="BIZ UDPGothic"/>
              </a:rPr>
              <a:t>約2分／枚</a:t>
            </a:r>
          </a:p>
          <a:p>
            <a:pPr marL="0" indent="0" algn="ctr">
              <a:buNone/>
            </a:pPr>
            <a:r>
              <a:rPr sz="800" b="0" dirty="0">
                <a:solidFill>
                  <a:srgbClr val="1F2A30"/>
                </a:solidFill>
                <a:latin typeface="BIZ UDPGothic"/>
                <a:ea typeface="BIZ UDPGothic"/>
                <a:cs typeface="BIZ UDPGothic"/>
              </a:rPr>
              <a:t>早番・中番</a:t>
            </a:r>
          </a:p>
        </p:txBody>
      </p:sp>
      <p:sp>
        <p:nvSpPr>
          <p:cNvPr id="87" name="Shape 85"/>
          <p:cNvSpPr/>
          <p:nvPr/>
        </p:nvSpPr>
        <p:spPr>
          <a:xfrm flipH="1">
            <a:off x="7872984" y="2468880"/>
            <a:ext cx="201168" cy="0"/>
          </a:xfrm>
          <a:prstGeom prst="line">
            <a:avLst/>
          </a:prstGeom>
          <a:noFill/>
          <a:ln w="15875">
            <a:solidFill>
              <a:srgbClr val="F26B1D"/>
            </a:solidFill>
            <a:prstDash val="solid"/>
            <a:tailEnd type="triangle"/>
          </a:ln>
        </p:spPr>
        <p:txBody>
          <a:bodyPr/>
          <a:lstStyle/>
          <a:p>
            <a:endParaRPr sz="2000" dirty="0"/>
          </a:p>
        </p:txBody>
      </p:sp>
      <p:sp>
        <p:nvSpPr>
          <p:cNvPr id="88" name="Text 86"/>
          <p:cNvSpPr/>
          <p:nvPr/>
        </p:nvSpPr>
        <p:spPr>
          <a:xfrm>
            <a:off x="7872984" y="225175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84A0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装填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5591556" y="3246120"/>
            <a:ext cx="137160" cy="137160"/>
          </a:xfrm>
          <a:prstGeom prst="ellipse">
            <a:avLst/>
          </a:prstGeom>
          <a:solidFill>
            <a:srgbClr val="2F5D8A"/>
          </a:solidFill>
          <a:ln w="6350">
            <a:solidFill>
              <a:srgbClr val="2F5D8A"/>
            </a:solidFill>
            <a:prstDash val="solid"/>
          </a:ln>
        </p:spPr>
        <p:txBody>
          <a:bodyPr/>
          <a:lstStyle/>
          <a:p>
            <a:endParaRPr sz="2000" dirty="0"/>
          </a:p>
        </p:txBody>
      </p:sp>
      <p:sp>
        <p:nvSpPr>
          <p:cNvPr id="90" name="Shape 88"/>
          <p:cNvSpPr/>
          <p:nvPr/>
        </p:nvSpPr>
        <p:spPr>
          <a:xfrm>
            <a:off x="5532120" y="3396996"/>
            <a:ext cx="256032" cy="274320"/>
          </a:xfrm>
          <a:prstGeom prst="roundRect">
            <a:avLst>
              <a:gd name="adj" fmla="val 25000"/>
            </a:avLst>
          </a:prstGeom>
          <a:solidFill>
            <a:srgbClr val="2F5D8A"/>
          </a:solidFill>
          <a:ln w="6350">
            <a:solidFill>
              <a:srgbClr val="2F5D8A"/>
            </a:solidFill>
            <a:prstDash val="solid"/>
          </a:ln>
        </p:spPr>
        <p:txBody>
          <a:bodyPr/>
          <a:lstStyle/>
          <a:p>
            <a:endParaRPr sz="2000" dirty="0"/>
          </a:p>
        </p:txBody>
      </p:sp>
      <p:sp>
        <p:nvSpPr>
          <p:cNvPr id="91" name="Text 89"/>
          <p:cNvSpPr/>
          <p:nvPr/>
        </p:nvSpPr>
        <p:spPr>
          <a:xfrm>
            <a:off x="4846320" y="37033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 b="1" dirty="0">
                <a:solidFill>
                  <a:srgbClr val="1F2A30"/>
                </a:solidFill>
                <a:latin typeface="BIZ UDPGothic"/>
                <a:ea typeface="BIZ UDPGothic"/>
                <a:cs typeface="BIZ UDPGothic"/>
              </a:rPr>
              <a:t>オペレーター1名 ⑤</a:t>
            </a:r>
            <a:endParaRPr lang="en-US" sz="900" dirty="0"/>
          </a:p>
          <a:p>
            <a:pPr marL="0" indent="0">
              <a:buNone/>
            </a:pPr>
            <a:r>
              <a:rPr sz="900" b="1" dirty="0">
                <a:solidFill>
                  <a:srgbClr val="1F2A30"/>
                </a:solidFill>
                <a:latin typeface="BIZ UDPGothic"/>
                <a:ea typeface="BIZ UDPGothic"/>
                <a:cs typeface="BIZ UDPGothic"/>
              </a:rPr>
              <a:t>（遅番はパレット入替③を兼務）</a:t>
            </a:r>
          </a:p>
        </p:txBody>
      </p:sp>
      <p:sp>
        <p:nvSpPr>
          <p:cNvPr id="92" name="Shape 90"/>
          <p:cNvSpPr/>
          <p:nvPr/>
        </p:nvSpPr>
        <p:spPr>
          <a:xfrm>
            <a:off x="320040" y="4178808"/>
            <a:ext cx="219456" cy="137160"/>
          </a:xfrm>
          <a:prstGeom prst="rect">
            <a:avLst/>
          </a:prstGeom>
          <a:solidFill>
            <a:srgbClr val="FDE2E0"/>
          </a:solidFill>
          <a:ln w="15875">
            <a:solidFill>
              <a:srgbClr val="E60000"/>
            </a:solidFill>
            <a:prstDash val="solid"/>
          </a:ln>
        </p:spPr>
        <p:txBody>
          <a:bodyPr/>
          <a:lstStyle/>
          <a:p>
            <a:endParaRPr sz="2000" dirty="0"/>
          </a:p>
        </p:txBody>
      </p:sp>
      <p:sp>
        <p:nvSpPr>
          <p:cNvPr id="93" name="Text 91"/>
          <p:cNvSpPr/>
          <p:nvPr/>
        </p:nvSpPr>
        <p:spPr>
          <a:xfrm>
            <a:off x="576072" y="413308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A3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新設（g・h）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1371600" y="4178808"/>
            <a:ext cx="219456" cy="137160"/>
          </a:xfrm>
          <a:prstGeom prst="rect">
            <a:avLst/>
          </a:prstGeom>
          <a:solidFill>
            <a:srgbClr val="FDE8DC"/>
          </a:solidFill>
          <a:ln w="15875">
            <a:solidFill>
              <a:srgbClr val="F26B1D"/>
            </a:solidFill>
            <a:prstDash val="solid"/>
          </a:ln>
        </p:spPr>
        <p:txBody>
          <a:bodyPr/>
          <a:lstStyle/>
          <a:p>
            <a:endParaRPr sz="2000" dirty="0"/>
          </a:p>
        </p:txBody>
      </p:sp>
      <p:sp>
        <p:nvSpPr>
          <p:cNvPr id="95" name="Text 93"/>
          <p:cNvSpPr/>
          <p:nvPr/>
        </p:nvSpPr>
        <p:spPr>
          <a:xfrm>
            <a:off x="1627632" y="413308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A3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新設（i）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2286000" y="4178808"/>
            <a:ext cx="219456" cy="137160"/>
          </a:xfrm>
          <a:prstGeom prst="rect">
            <a:avLst/>
          </a:prstGeom>
          <a:solidFill>
            <a:srgbClr val="FFF2CC"/>
          </a:solidFill>
          <a:ln w="15875">
            <a:solidFill>
              <a:srgbClr val="E6A100"/>
            </a:solidFill>
            <a:prstDash val="solid"/>
          </a:ln>
        </p:spPr>
        <p:txBody>
          <a:bodyPr/>
          <a:lstStyle/>
          <a:p>
            <a:endParaRPr sz="2000" dirty="0"/>
          </a:p>
        </p:txBody>
      </p:sp>
      <p:sp>
        <p:nvSpPr>
          <p:cNvPr id="97" name="Text 95"/>
          <p:cNvSpPr/>
          <p:nvPr/>
        </p:nvSpPr>
        <p:spPr>
          <a:xfrm>
            <a:off x="2542032" y="413308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A3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既存の設備（a〜f）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5175504" y="4151376"/>
            <a:ext cx="82296" cy="82296"/>
          </a:xfrm>
          <a:prstGeom prst="ellipse">
            <a:avLst/>
          </a:prstGeom>
          <a:solidFill>
            <a:srgbClr val="2F5D8A"/>
          </a:solidFill>
          <a:ln w="6350">
            <a:solidFill>
              <a:srgbClr val="2F5D8A"/>
            </a:solidFill>
            <a:prstDash val="solid"/>
          </a:ln>
        </p:spPr>
        <p:txBody>
          <a:bodyPr/>
          <a:lstStyle/>
          <a:p>
            <a:endParaRPr sz="2000" dirty="0"/>
          </a:p>
        </p:txBody>
      </p:sp>
      <p:sp>
        <p:nvSpPr>
          <p:cNvPr id="99" name="Shape 97"/>
          <p:cNvSpPr/>
          <p:nvPr/>
        </p:nvSpPr>
        <p:spPr>
          <a:xfrm>
            <a:off x="5143500" y="4242816"/>
            <a:ext cx="155448" cy="109728"/>
          </a:xfrm>
          <a:prstGeom prst="roundRect">
            <a:avLst>
              <a:gd name="adj" fmla="val 33333"/>
            </a:avLst>
          </a:prstGeom>
          <a:solidFill>
            <a:srgbClr val="2F5D8A"/>
          </a:solidFill>
          <a:ln w="6350">
            <a:solidFill>
              <a:srgbClr val="2F5D8A"/>
            </a:solidFill>
            <a:prstDash val="solid"/>
          </a:ln>
        </p:spPr>
        <p:txBody>
          <a:bodyPr/>
          <a:lstStyle/>
          <a:p>
            <a:endParaRPr sz="2000" dirty="0"/>
          </a:p>
        </p:txBody>
      </p:sp>
      <p:sp>
        <p:nvSpPr>
          <p:cNvPr id="100" name="Text 98"/>
          <p:cNvSpPr/>
          <p:nvPr/>
        </p:nvSpPr>
        <p:spPr>
          <a:xfrm>
            <a:off x="5358384" y="413308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A3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オペレーター・投入担当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6912864" y="4151376"/>
            <a:ext cx="82296" cy="82296"/>
          </a:xfrm>
          <a:prstGeom prst="ellipse">
            <a:avLst/>
          </a:prstGeom>
          <a:solidFill>
            <a:srgbClr val="F26B1D"/>
          </a:solidFill>
          <a:ln w="6350">
            <a:solidFill>
              <a:srgbClr val="F26B1D"/>
            </a:solidFill>
            <a:prstDash val="solid"/>
          </a:ln>
        </p:spPr>
        <p:txBody>
          <a:bodyPr/>
          <a:lstStyle/>
          <a:p>
            <a:endParaRPr sz="2000" dirty="0"/>
          </a:p>
        </p:txBody>
      </p:sp>
      <p:sp>
        <p:nvSpPr>
          <p:cNvPr id="102" name="Shape 100"/>
          <p:cNvSpPr/>
          <p:nvPr/>
        </p:nvSpPr>
        <p:spPr>
          <a:xfrm>
            <a:off x="6880860" y="4242816"/>
            <a:ext cx="155448" cy="109728"/>
          </a:xfrm>
          <a:prstGeom prst="roundRect">
            <a:avLst>
              <a:gd name="adj" fmla="val 33333"/>
            </a:avLst>
          </a:prstGeom>
          <a:solidFill>
            <a:srgbClr val="F26B1D"/>
          </a:solidFill>
          <a:ln w="6350">
            <a:solidFill>
              <a:srgbClr val="F26B1D"/>
            </a:solidFill>
            <a:prstDash val="solid"/>
          </a:ln>
        </p:spPr>
        <p:txBody>
          <a:bodyPr/>
          <a:lstStyle/>
          <a:p>
            <a:endParaRPr sz="2000" dirty="0"/>
          </a:p>
        </p:txBody>
      </p:sp>
      <p:sp>
        <p:nvSpPr>
          <p:cNvPr id="103" name="Text 101"/>
          <p:cNvSpPr/>
          <p:nvPr/>
        </p:nvSpPr>
        <p:spPr>
          <a:xfrm>
            <a:off x="7095744" y="413308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A3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詰め担当（導入後）</a:t>
            </a:r>
            <a:endParaRPr lang="en-US" sz="900" dirty="0"/>
          </a:p>
        </p:txBody>
      </p:sp>
      <p:sp>
        <p:nvSpPr>
          <p:cNvPr id="104" name="Text 102"/>
          <p:cNvSpPr/>
          <p:nvPr/>
        </p:nvSpPr>
        <p:spPr>
          <a:xfrm>
            <a:off x="320040" y="4384598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00" b="1" dirty="0">
                <a:solidFill>
                  <a:srgbClr val="B84A0A"/>
                </a:solidFill>
                <a:latin typeface="BIZ UDPGothic"/>
                <a:ea typeface="BIZ UDPGothic"/>
                <a:cs typeface="BIZ UDPGothic"/>
              </a:rPr>
              <a:t>変わる点：</a:t>
            </a:r>
            <a:r>
              <a:rPr sz="1000" b="0" dirty="0">
                <a:solidFill>
                  <a:srgbClr val="1F2A30"/>
                </a:solidFill>
                <a:latin typeface="BIZ UDPGothic"/>
                <a:ea typeface="BIZ UDPGothic"/>
                <a:cs typeface="BIZ UDPGothic"/>
              </a:rPr>
              <a:t>踏み台での手投入（3分詰めて5分で空、の繰り返し）がなくなり、マガジン脇に自動供給装置を設置。人は専用パレットへ詰めるだけになり、投入担当を常時置く必要がなくなる。製袋機より後ろの工程は変更なし。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3" name="Shape 1"/>
          <p:cNvSpPr/>
          <p:nvPr/>
        </p:nvSpPr>
        <p:spPr>
          <a:xfrm>
            <a:off x="320040" y="182880"/>
            <a:ext cx="109728" cy="320040"/>
          </a:xfrm>
          <a:prstGeom prst="rect">
            <a:avLst/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4" name="Text 2"/>
          <p:cNvSpPr/>
          <p:nvPr/>
        </p:nvSpPr>
        <p:spPr>
          <a:xfrm>
            <a:off x="530352" y="7315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200" b="1" dirty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4. 各機械の役割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731520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 b="0" dirty="0">
                <a:solidFill>
                  <a:srgbClr val="5B6770"/>
                </a:solidFill>
                <a:latin typeface="BIZ UDPGothic"/>
                <a:ea typeface="BIZ UDPGothic"/>
                <a:cs typeface="BIZ UDPGothic"/>
              </a:rPr>
              <a:t>記号a〜kは前ページのレイアウト図と対応。j・kは製袋室の外（図にはありません）。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A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株式会社トンボ飲料様　Gライン パウチ自動供給装置の導入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321040" y="482803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900" b="0" dirty="0">
                <a:solidFill>
                  <a:srgbClr val="8A9BA8"/>
                </a:solidFill>
                <a:latin typeface="BIZ UDPGothic"/>
                <a:ea typeface="BIZ UDPGothic"/>
                <a:cs typeface="BIZ UDPGothic"/>
              </a:rPr>
              <a:t>5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115568"/>
          <a:ext cx="8503920" cy="3339084"/>
        </p:xfrm>
        <a:graphic>
          <a:graphicData uri="http://schemas.openxmlformats.org/drawingml/2006/table">
            <a:tbl>
              <a:tblPr/>
              <a:tblGrid>
                <a:gridCol w="41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記号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設備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区分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役割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導入後の変化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F2A3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a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8F5D0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製袋機（既設SPM機）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A3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既設・改造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A3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パウチにストロー（スパウト）を熱圧着する。能力150袋／分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 b="1" dirty="0" err="1">
                          <a:solidFill>
                            <a:srgbClr val="B84A0A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自動供給に合わせて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  <a:p>
                      <a:r>
                        <a:rPr sz="950" b="1" dirty="0" err="1">
                          <a:solidFill>
                            <a:srgbClr val="B84A0A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部品改造・設計変更</a:t>
                      </a:r>
                      <a:endParaRPr sz="950" b="1" dirty="0">
                        <a:solidFill>
                          <a:srgbClr val="B84A0A"/>
                        </a:solidFill>
                        <a:latin typeface="BIZ UDPGothic"/>
                        <a:ea typeface="BIZ UDPGothic"/>
                        <a:cs typeface="BIZ UDPGothic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F2A3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b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B5394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マガジン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A3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既設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A3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製袋機の投入口。現在は踏み台に立った担当者が手で投入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B84A0A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装置から自動供給を受ける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F2A3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c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46B2A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踏み台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A3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既設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A3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投入担当のパートが立って作業する台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B84A0A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手投入がなくなり使用しない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F2A3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d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B5176B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コンベア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A3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既設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A3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スパウトを付けたパウチをリークチェッカへ搬送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A3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変更なし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F2A3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e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5E2A8C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リークチェッカ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A3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既設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A3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スパウトの圧着漏れがないか検査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A3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変更なし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F2A3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f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595959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ホッパローダ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A3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既設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A3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充填後に付けるキャップを供給（隣の充填室へコンベアで送る）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A3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変更なし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F2A3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g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B8000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パウチ自動供給装置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B84A0A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新設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A3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ロボットアームがパレットからパウチを取り出しマガジンへ自動供給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A3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ストック20パレット（5段×4列＝24,000袋、約2時間分）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A3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供給能力100袋／15秒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B84A0A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手投入を置き換える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F2A3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h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B8000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専用パレット（90枚）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B84A0A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新設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 b="0">
                          <a:solidFill>
                            <a:srgbClr val="1F2A30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1枚1,200袋。型替えで2種のパウチに兼用（約1〜1.5分／枚）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  <a:p>
                      <a:r>
                        <a:rPr sz="950" b="0">
                          <a:solidFill>
                            <a:srgbClr val="1F2A30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装置内25枚（5段×4列＋予備1列）＋予備65枚</a:t>
                      </a: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 b="1">
                          <a:solidFill>
                            <a:srgbClr val="B84A0A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詰め作業に使用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  <a:p>
                      <a:r>
                        <a:rPr sz="950" b="1">
                          <a:solidFill>
                            <a:srgbClr val="B84A0A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（約2分／枚）</a:t>
                      </a: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F2A3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i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B84A0A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仮置き台車（17台）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B84A0A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新設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A3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詰め終わったパレットの一時保管と運搬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B84A0A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装填・入替に使用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F2A3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j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 b="1">
                          <a:solidFill>
                            <a:srgbClr val="1F2A30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充填・殺菌設備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 b="0">
                          <a:solidFill>
                            <a:srgbClr val="1F2A30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既設（1F）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 b="0">
                          <a:solidFill>
                            <a:srgbClr val="1F2A30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G仕込室で調合液を仕込み・殺菌 → 充填室で充填・キャップ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  <a:p>
                      <a:r>
                        <a:rPr sz="950" b="0">
                          <a:solidFill>
                            <a:srgbClr val="1F2A30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→ 殺菌室で容器ごと殺菌（リフトスチーマー）</a:t>
                      </a: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A3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変更なし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F2A3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k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A3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包装設備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A3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既設・2F包装室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A3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包装・箱詰めののち1階へ下ろす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A3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変更なし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</a:ln>
        </p:spPr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320040" y="182880"/>
            <a:ext cx="109728" cy="320040"/>
          </a:xfrm>
          <a:prstGeom prst="rect">
            <a:avLst/>
          </a:prstGeom>
          <a:solidFill>
            <a:srgbClr val="F26B1D"/>
          </a:solidFill>
          <a:ln w="12700">
            <a:solidFill>
              <a:srgbClr val="F26B1D"/>
            </a:solidFill>
          </a:ln>
        </p:spPr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30352" y="73152"/>
            <a:ext cx="832104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200" b="1" dirty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5. 投入作業のサイクル（現状 vs 導入後）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31520"/>
            <a:ext cx="85039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00" b="0" dirty="0">
                <a:solidFill>
                  <a:srgbClr val="5B6770"/>
                </a:solidFill>
                <a:latin typeface="BIZ UDPGothic"/>
                <a:ea typeface="BIZ UDPGothic"/>
                <a:cs typeface="BIZ UDPGothic"/>
              </a:rPr>
              <a:t>現状は「3分詰めて5分で空」の繰り返しで持ち場を離れられない。導入後は約2時間に1回の入替（約3分）だけになる（同じ4時間分で比較）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0" dirty="0">
                <a:solidFill>
                  <a:srgbClr val="8A9BA8"/>
                </a:solidFill>
                <a:latin typeface="BIZ UDPGothic"/>
                <a:ea typeface="BIZ UDPGothic"/>
                <a:cs typeface="BIZ UDPGothic"/>
              </a:rPr>
              <a:t>株式会社トンボ飲料様　Gライン パウチ自動供給装置の導入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4828032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900" b="0" dirty="0">
                <a:solidFill>
                  <a:srgbClr val="8A9BA8"/>
                </a:solidFill>
                <a:latin typeface="BIZ UDPGothic"/>
                <a:ea typeface="BIZ UDPGothic"/>
                <a:cs typeface="BIZ UDPGothic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078992"/>
            <a:ext cx="457200" cy="1463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0" dirty="0">
                <a:solidFill>
                  <a:srgbClr val="8A9BA8"/>
                </a:solidFill>
                <a:latin typeface="BIZ UDPGothic"/>
                <a:ea typeface="BIZ UDPGothic"/>
                <a:cs typeface="BIZ UDPGothic"/>
              </a:rPr>
              <a:t>開始</a:t>
            </a:r>
          </a:p>
        </p:txBody>
      </p:sp>
      <p:sp>
        <p:nvSpPr>
          <p:cNvPr id="9" name="Rectangle 8"/>
          <p:cNvSpPr/>
          <p:nvPr/>
        </p:nvSpPr>
        <p:spPr>
          <a:xfrm>
            <a:off x="315468" y="1225296"/>
            <a:ext cx="9144" cy="91440"/>
          </a:xfrm>
          <a:prstGeom prst="rect">
            <a:avLst/>
          </a:prstGeom>
          <a:solidFill>
            <a:srgbClr val="8A9BA8"/>
          </a:solidFill>
          <a:ln w="3175">
            <a:solidFill>
              <a:srgbClr val="8A9BA8"/>
            </a:solidFill>
          </a:ln>
        </p:spPr>
        <p:txBody>
          <a:bodyPr rtlCol="0" anchor="ctr"/>
          <a:lstStyle/>
          <a:p>
            <a:pPr algn="ctr"/>
            <a:endParaRPr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2446020" y="1078992"/>
            <a:ext cx="457200" cy="1463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0" dirty="0">
                <a:solidFill>
                  <a:srgbClr val="8A9BA8"/>
                </a:solidFill>
                <a:latin typeface="BIZ UDPGothic"/>
                <a:ea typeface="BIZ UDPGothic"/>
                <a:cs typeface="BIZ UDPGothic"/>
              </a:rPr>
              <a:t>1時間後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41448" y="1225296"/>
            <a:ext cx="9144" cy="91440"/>
          </a:xfrm>
          <a:prstGeom prst="rect">
            <a:avLst/>
          </a:prstGeom>
          <a:solidFill>
            <a:srgbClr val="8A9BA8"/>
          </a:solidFill>
          <a:ln w="3175">
            <a:solidFill>
              <a:srgbClr val="8A9BA8"/>
            </a:solidFill>
          </a:ln>
        </p:spPr>
        <p:txBody>
          <a:bodyPr rtlCol="0" anchor="ctr"/>
          <a:lstStyle/>
          <a:p>
            <a:pPr algn="ctr"/>
            <a:endParaRPr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4572000" y="1078992"/>
            <a:ext cx="457200" cy="1463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0" dirty="0">
                <a:solidFill>
                  <a:srgbClr val="8A9BA8"/>
                </a:solidFill>
                <a:latin typeface="BIZ UDPGothic"/>
                <a:ea typeface="BIZ UDPGothic"/>
                <a:cs typeface="BIZ UDPGothic"/>
              </a:rPr>
              <a:t>2時間後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67428" y="1225296"/>
            <a:ext cx="9144" cy="91440"/>
          </a:xfrm>
          <a:prstGeom prst="rect">
            <a:avLst/>
          </a:prstGeom>
          <a:solidFill>
            <a:srgbClr val="8A9BA8"/>
          </a:solidFill>
          <a:ln w="3175">
            <a:solidFill>
              <a:srgbClr val="8A9BA8"/>
            </a:solidFill>
          </a:ln>
        </p:spPr>
        <p:txBody>
          <a:bodyPr rtlCol="0" anchor="ctr"/>
          <a:lstStyle/>
          <a:p>
            <a:pPr algn="ctr"/>
            <a:endParaRPr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6697979" y="1078992"/>
            <a:ext cx="457200" cy="1463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0" dirty="0">
                <a:solidFill>
                  <a:srgbClr val="8A9BA8"/>
                </a:solidFill>
                <a:latin typeface="BIZ UDPGothic"/>
                <a:ea typeface="BIZ UDPGothic"/>
                <a:cs typeface="BIZ UDPGothic"/>
              </a:rPr>
              <a:t>3時間後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93407" y="1225296"/>
            <a:ext cx="9144" cy="91440"/>
          </a:xfrm>
          <a:prstGeom prst="rect">
            <a:avLst/>
          </a:prstGeom>
          <a:solidFill>
            <a:srgbClr val="8A9BA8"/>
          </a:solidFill>
          <a:ln w="3175">
            <a:solidFill>
              <a:srgbClr val="8A9BA8"/>
            </a:solidFill>
          </a:ln>
        </p:spPr>
        <p:txBody>
          <a:bodyPr rtlCol="0" anchor="ctr"/>
          <a:lstStyle/>
          <a:p>
            <a:pPr algn="ctr"/>
            <a:endParaRPr sz="2400" dirty="0"/>
          </a:p>
        </p:txBody>
      </p:sp>
      <p:sp>
        <p:nvSpPr>
          <p:cNvPr id="16" name="TextBox 15"/>
          <p:cNvSpPr txBox="1"/>
          <p:nvPr/>
        </p:nvSpPr>
        <p:spPr>
          <a:xfrm>
            <a:off x="8366760" y="1078992"/>
            <a:ext cx="457200" cy="1463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900" b="0" dirty="0">
                <a:solidFill>
                  <a:srgbClr val="8A9BA8"/>
                </a:solidFill>
                <a:latin typeface="BIZ UDPGothic"/>
                <a:ea typeface="BIZ UDPGothic"/>
                <a:cs typeface="BIZ UDPGothic"/>
              </a:rPr>
              <a:t>4時間後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19388" y="1225296"/>
            <a:ext cx="9144" cy="91440"/>
          </a:xfrm>
          <a:prstGeom prst="rect">
            <a:avLst/>
          </a:prstGeom>
          <a:solidFill>
            <a:srgbClr val="8A9BA8"/>
          </a:solidFill>
          <a:ln w="3175">
            <a:solidFill>
              <a:srgbClr val="8A9BA8"/>
            </a:solidFill>
          </a:ln>
        </p:spPr>
        <p:txBody>
          <a:bodyPr rtlCol="0" anchor="ctr"/>
          <a:lstStyle/>
          <a:p>
            <a:pPr algn="ctr"/>
            <a:endParaRPr sz="2400" dirty="0"/>
          </a:p>
        </p:txBody>
      </p:sp>
      <p:sp>
        <p:nvSpPr>
          <p:cNvPr id="18" name="TextBox 17"/>
          <p:cNvSpPr txBox="1"/>
          <p:nvPr/>
        </p:nvSpPr>
        <p:spPr>
          <a:xfrm>
            <a:off x="320040" y="1316736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 dirty="0">
                <a:solidFill>
                  <a:srgbClr val="5B6770"/>
                </a:solidFill>
                <a:latin typeface="BIZ UDPGothic"/>
                <a:ea typeface="BIZ UDPGothic"/>
                <a:cs typeface="BIZ UDPGothic"/>
              </a:rPr>
              <a:t>現状：手投入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3240" y="1316736"/>
            <a:ext cx="576072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000" b="0" dirty="0">
                <a:solidFill>
                  <a:srgbClr val="5B6770"/>
                </a:solidFill>
                <a:latin typeface="BIZ UDPGothic"/>
                <a:ea typeface="BIZ UDPGothic"/>
                <a:cs typeface="BIZ UDPGothic"/>
              </a:rPr>
              <a:t>約8分サイクル（投入3分＋空になるまで5分）が4時間で30回、1日では約131回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1536192"/>
            <a:ext cx="8503920" cy="384048"/>
          </a:xfrm>
          <a:prstGeom prst="rect">
            <a:avLst/>
          </a:prstGeom>
          <a:solidFill>
            <a:srgbClr val="E6EEF1"/>
          </a:solidFill>
          <a:ln w="6350">
            <a:solidFill>
              <a:srgbClr val="C9D3D8"/>
            </a:solidFill>
          </a:ln>
        </p:spPr>
        <p:txBody>
          <a:bodyPr rtlCol="0" anchor="ctr"/>
          <a:lstStyle/>
          <a:p>
            <a:pPr algn="ctr"/>
            <a:endParaRPr sz="2400" dirty="0"/>
          </a:p>
        </p:txBody>
      </p:sp>
      <p:sp>
        <p:nvSpPr>
          <p:cNvPr id="21" name="Rectangle 20"/>
          <p:cNvSpPr/>
          <p:nvPr/>
        </p:nvSpPr>
        <p:spPr>
          <a:xfrm>
            <a:off x="320040" y="1536192"/>
            <a:ext cx="106299" cy="384048"/>
          </a:xfrm>
          <a:prstGeom prst="rect">
            <a:avLst/>
          </a:prstGeom>
          <a:solidFill>
            <a:srgbClr val="F26B1D"/>
          </a:solidFill>
          <a:ln>
            <a:noFill/>
          </a:ln>
        </p:spPr>
        <p:txBody>
          <a:bodyPr rtlCol="0" anchor="ctr"/>
          <a:lstStyle/>
          <a:p>
            <a:pPr algn="ctr"/>
            <a:endParaRPr sz="2400" dirty="0"/>
          </a:p>
        </p:txBody>
      </p:sp>
      <p:sp>
        <p:nvSpPr>
          <p:cNvPr id="22" name="Rectangle 21"/>
          <p:cNvSpPr/>
          <p:nvPr/>
        </p:nvSpPr>
        <p:spPr>
          <a:xfrm>
            <a:off x="603503" y="1536192"/>
            <a:ext cx="106299" cy="384048"/>
          </a:xfrm>
          <a:prstGeom prst="rect">
            <a:avLst/>
          </a:prstGeom>
          <a:solidFill>
            <a:srgbClr val="F26B1D"/>
          </a:solidFill>
          <a:ln>
            <a:noFill/>
          </a:ln>
        </p:spPr>
        <p:txBody>
          <a:bodyPr rtlCol="0" anchor="ctr"/>
          <a:lstStyle/>
          <a:p>
            <a:pPr algn="ctr"/>
            <a:endParaRPr sz="2400" dirty="0"/>
          </a:p>
        </p:txBody>
      </p:sp>
      <p:sp>
        <p:nvSpPr>
          <p:cNvPr id="23" name="Rectangle 22"/>
          <p:cNvSpPr/>
          <p:nvPr/>
        </p:nvSpPr>
        <p:spPr>
          <a:xfrm>
            <a:off x="886968" y="1536192"/>
            <a:ext cx="106299" cy="384048"/>
          </a:xfrm>
          <a:prstGeom prst="rect">
            <a:avLst/>
          </a:prstGeom>
          <a:solidFill>
            <a:srgbClr val="F26B1D"/>
          </a:solidFill>
          <a:ln>
            <a:noFill/>
          </a:ln>
        </p:spPr>
        <p:txBody>
          <a:bodyPr rtlCol="0" anchor="ctr"/>
          <a:lstStyle/>
          <a:p>
            <a:pPr algn="ctr"/>
            <a:endParaRPr sz="2400" dirty="0"/>
          </a:p>
        </p:txBody>
      </p:sp>
      <p:sp>
        <p:nvSpPr>
          <p:cNvPr id="24" name="Rectangle 23"/>
          <p:cNvSpPr/>
          <p:nvPr/>
        </p:nvSpPr>
        <p:spPr>
          <a:xfrm>
            <a:off x="1170431" y="1536192"/>
            <a:ext cx="106299" cy="384048"/>
          </a:xfrm>
          <a:prstGeom prst="rect">
            <a:avLst/>
          </a:prstGeom>
          <a:solidFill>
            <a:srgbClr val="F26B1D"/>
          </a:solidFill>
          <a:ln>
            <a:noFill/>
          </a:ln>
        </p:spPr>
        <p:txBody>
          <a:bodyPr rtlCol="0" anchor="ctr"/>
          <a:lstStyle/>
          <a:p>
            <a:pPr algn="ctr"/>
            <a:endParaRPr sz="2400" dirty="0"/>
          </a:p>
        </p:txBody>
      </p:sp>
      <p:sp>
        <p:nvSpPr>
          <p:cNvPr id="25" name="Rectangle 24"/>
          <p:cNvSpPr/>
          <p:nvPr/>
        </p:nvSpPr>
        <p:spPr>
          <a:xfrm>
            <a:off x="1453895" y="1536192"/>
            <a:ext cx="106299" cy="384048"/>
          </a:xfrm>
          <a:prstGeom prst="rect">
            <a:avLst/>
          </a:prstGeom>
          <a:solidFill>
            <a:srgbClr val="F26B1D"/>
          </a:solidFill>
          <a:ln>
            <a:noFill/>
          </a:ln>
        </p:spPr>
        <p:txBody>
          <a:bodyPr rtlCol="0" anchor="ctr"/>
          <a:lstStyle/>
          <a:p>
            <a:pPr algn="ctr"/>
            <a:endParaRPr sz="2400" dirty="0"/>
          </a:p>
        </p:txBody>
      </p:sp>
      <p:sp>
        <p:nvSpPr>
          <p:cNvPr id="26" name="Rectangle 25"/>
          <p:cNvSpPr/>
          <p:nvPr/>
        </p:nvSpPr>
        <p:spPr>
          <a:xfrm>
            <a:off x="1737360" y="1536192"/>
            <a:ext cx="106299" cy="384048"/>
          </a:xfrm>
          <a:prstGeom prst="rect">
            <a:avLst/>
          </a:prstGeom>
          <a:solidFill>
            <a:srgbClr val="F26B1D"/>
          </a:solidFill>
          <a:ln>
            <a:noFill/>
          </a:ln>
        </p:spPr>
        <p:txBody>
          <a:bodyPr rtlCol="0" anchor="ctr"/>
          <a:lstStyle/>
          <a:p>
            <a:pPr algn="ctr"/>
            <a:endParaRPr sz="2400" dirty="0"/>
          </a:p>
        </p:txBody>
      </p:sp>
      <p:sp>
        <p:nvSpPr>
          <p:cNvPr id="27" name="Rectangle 26"/>
          <p:cNvSpPr/>
          <p:nvPr/>
        </p:nvSpPr>
        <p:spPr>
          <a:xfrm>
            <a:off x="2020824" y="1536192"/>
            <a:ext cx="106299" cy="384048"/>
          </a:xfrm>
          <a:prstGeom prst="rect">
            <a:avLst/>
          </a:prstGeom>
          <a:solidFill>
            <a:srgbClr val="F26B1D"/>
          </a:solidFill>
          <a:ln>
            <a:noFill/>
          </a:ln>
        </p:spPr>
        <p:txBody>
          <a:bodyPr rtlCol="0" anchor="ctr"/>
          <a:lstStyle/>
          <a:p>
            <a:pPr algn="ctr"/>
            <a:endParaRPr sz="2400" dirty="0"/>
          </a:p>
        </p:txBody>
      </p:sp>
      <p:sp>
        <p:nvSpPr>
          <p:cNvPr id="28" name="Rectangle 27"/>
          <p:cNvSpPr/>
          <p:nvPr/>
        </p:nvSpPr>
        <p:spPr>
          <a:xfrm>
            <a:off x="2304288" y="1536192"/>
            <a:ext cx="106299" cy="384048"/>
          </a:xfrm>
          <a:prstGeom prst="rect">
            <a:avLst/>
          </a:prstGeom>
          <a:solidFill>
            <a:srgbClr val="F26B1D"/>
          </a:solidFill>
          <a:ln>
            <a:noFill/>
          </a:ln>
        </p:spPr>
        <p:txBody>
          <a:bodyPr rtlCol="0" anchor="ctr"/>
          <a:lstStyle/>
          <a:p>
            <a:pPr algn="ctr"/>
            <a:endParaRPr sz="2400" dirty="0"/>
          </a:p>
        </p:txBody>
      </p:sp>
      <p:sp>
        <p:nvSpPr>
          <p:cNvPr id="29" name="Rectangle 28"/>
          <p:cNvSpPr/>
          <p:nvPr/>
        </p:nvSpPr>
        <p:spPr>
          <a:xfrm>
            <a:off x="2587752" y="1536192"/>
            <a:ext cx="106299" cy="384048"/>
          </a:xfrm>
          <a:prstGeom prst="rect">
            <a:avLst/>
          </a:prstGeom>
          <a:solidFill>
            <a:srgbClr val="F26B1D"/>
          </a:solidFill>
          <a:ln>
            <a:noFill/>
          </a:ln>
        </p:spPr>
        <p:txBody>
          <a:bodyPr rtlCol="0" anchor="ctr"/>
          <a:lstStyle/>
          <a:p>
            <a:pPr algn="ctr"/>
            <a:endParaRPr sz="2400" dirty="0"/>
          </a:p>
        </p:txBody>
      </p:sp>
      <p:sp>
        <p:nvSpPr>
          <p:cNvPr id="30" name="Rectangle 29"/>
          <p:cNvSpPr/>
          <p:nvPr/>
        </p:nvSpPr>
        <p:spPr>
          <a:xfrm>
            <a:off x="2871216" y="1536192"/>
            <a:ext cx="106299" cy="384048"/>
          </a:xfrm>
          <a:prstGeom prst="rect">
            <a:avLst/>
          </a:prstGeom>
          <a:solidFill>
            <a:srgbClr val="F26B1D"/>
          </a:solidFill>
          <a:ln>
            <a:noFill/>
          </a:ln>
        </p:spPr>
        <p:txBody>
          <a:bodyPr rtlCol="0" anchor="ctr"/>
          <a:lstStyle/>
          <a:p>
            <a:pPr algn="ctr"/>
            <a:endParaRPr sz="2400" dirty="0"/>
          </a:p>
        </p:txBody>
      </p:sp>
      <p:sp>
        <p:nvSpPr>
          <p:cNvPr id="31" name="Rectangle 30"/>
          <p:cNvSpPr/>
          <p:nvPr/>
        </p:nvSpPr>
        <p:spPr>
          <a:xfrm>
            <a:off x="3154680" y="1536192"/>
            <a:ext cx="106299" cy="384048"/>
          </a:xfrm>
          <a:prstGeom prst="rect">
            <a:avLst/>
          </a:prstGeom>
          <a:solidFill>
            <a:srgbClr val="F26B1D"/>
          </a:solidFill>
          <a:ln>
            <a:noFill/>
          </a:ln>
        </p:spPr>
        <p:txBody>
          <a:bodyPr rtlCol="0" anchor="ctr"/>
          <a:lstStyle/>
          <a:p>
            <a:pPr algn="ctr"/>
            <a:endParaRPr sz="2400" dirty="0"/>
          </a:p>
        </p:txBody>
      </p:sp>
      <p:sp>
        <p:nvSpPr>
          <p:cNvPr id="32" name="Rectangle 31"/>
          <p:cNvSpPr/>
          <p:nvPr/>
        </p:nvSpPr>
        <p:spPr>
          <a:xfrm>
            <a:off x="3438144" y="1536192"/>
            <a:ext cx="106299" cy="384048"/>
          </a:xfrm>
          <a:prstGeom prst="rect">
            <a:avLst/>
          </a:prstGeom>
          <a:solidFill>
            <a:srgbClr val="F26B1D"/>
          </a:solidFill>
          <a:ln>
            <a:noFill/>
          </a:ln>
        </p:spPr>
        <p:txBody>
          <a:bodyPr rtlCol="0" anchor="ctr"/>
          <a:lstStyle/>
          <a:p>
            <a:pPr algn="ctr"/>
            <a:endParaRPr sz="2400" dirty="0"/>
          </a:p>
        </p:txBody>
      </p:sp>
      <p:sp>
        <p:nvSpPr>
          <p:cNvPr id="33" name="Rectangle 32"/>
          <p:cNvSpPr/>
          <p:nvPr/>
        </p:nvSpPr>
        <p:spPr>
          <a:xfrm>
            <a:off x="3721607" y="1536192"/>
            <a:ext cx="106299" cy="384048"/>
          </a:xfrm>
          <a:prstGeom prst="rect">
            <a:avLst/>
          </a:prstGeom>
          <a:solidFill>
            <a:srgbClr val="F26B1D"/>
          </a:solidFill>
          <a:ln>
            <a:noFill/>
          </a:ln>
        </p:spPr>
        <p:txBody>
          <a:bodyPr rtlCol="0" anchor="ctr"/>
          <a:lstStyle/>
          <a:p>
            <a:pPr algn="ctr"/>
            <a:endParaRPr sz="2400" dirty="0"/>
          </a:p>
        </p:txBody>
      </p:sp>
      <p:sp>
        <p:nvSpPr>
          <p:cNvPr id="34" name="Rectangle 33"/>
          <p:cNvSpPr/>
          <p:nvPr/>
        </p:nvSpPr>
        <p:spPr>
          <a:xfrm>
            <a:off x="4005072" y="1536192"/>
            <a:ext cx="106299" cy="384048"/>
          </a:xfrm>
          <a:prstGeom prst="rect">
            <a:avLst/>
          </a:prstGeom>
          <a:solidFill>
            <a:srgbClr val="F26B1D"/>
          </a:solidFill>
          <a:ln>
            <a:noFill/>
          </a:ln>
        </p:spPr>
        <p:txBody>
          <a:bodyPr rtlCol="0" anchor="ctr"/>
          <a:lstStyle/>
          <a:p>
            <a:pPr algn="ctr"/>
            <a:endParaRPr sz="2400" dirty="0"/>
          </a:p>
        </p:txBody>
      </p:sp>
      <p:sp>
        <p:nvSpPr>
          <p:cNvPr id="35" name="Rectangle 34"/>
          <p:cNvSpPr/>
          <p:nvPr/>
        </p:nvSpPr>
        <p:spPr>
          <a:xfrm>
            <a:off x="4288536" y="1536192"/>
            <a:ext cx="106299" cy="384048"/>
          </a:xfrm>
          <a:prstGeom prst="rect">
            <a:avLst/>
          </a:prstGeom>
          <a:solidFill>
            <a:srgbClr val="F26B1D"/>
          </a:solidFill>
          <a:ln>
            <a:noFill/>
          </a:ln>
        </p:spPr>
        <p:txBody>
          <a:bodyPr rtlCol="0" anchor="ctr"/>
          <a:lstStyle/>
          <a:p>
            <a:pPr algn="ctr"/>
            <a:endParaRPr sz="2400" dirty="0"/>
          </a:p>
        </p:txBody>
      </p:sp>
      <p:sp>
        <p:nvSpPr>
          <p:cNvPr id="36" name="Rectangle 35"/>
          <p:cNvSpPr/>
          <p:nvPr/>
        </p:nvSpPr>
        <p:spPr>
          <a:xfrm>
            <a:off x="4572000" y="1536192"/>
            <a:ext cx="106299" cy="384048"/>
          </a:xfrm>
          <a:prstGeom prst="rect">
            <a:avLst/>
          </a:prstGeom>
          <a:solidFill>
            <a:srgbClr val="F26B1D"/>
          </a:solidFill>
          <a:ln>
            <a:noFill/>
          </a:ln>
        </p:spPr>
        <p:txBody>
          <a:bodyPr rtlCol="0" anchor="ctr"/>
          <a:lstStyle/>
          <a:p>
            <a:pPr algn="ctr"/>
            <a:endParaRPr sz="2400" dirty="0"/>
          </a:p>
        </p:txBody>
      </p:sp>
      <p:sp>
        <p:nvSpPr>
          <p:cNvPr id="37" name="Rectangle 36"/>
          <p:cNvSpPr/>
          <p:nvPr/>
        </p:nvSpPr>
        <p:spPr>
          <a:xfrm>
            <a:off x="4855464" y="1536192"/>
            <a:ext cx="106299" cy="384048"/>
          </a:xfrm>
          <a:prstGeom prst="rect">
            <a:avLst/>
          </a:prstGeom>
          <a:solidFill>
            <a:srgbClr val="F26B1D"/>
          </a:solidFill>
          <a:ln>
            <a:noFill/>
          </a:ln>
        </p:spPr>
        <p:txBody>
          <a:bodyPr rtlCol="0" anchor="ctr"/>
          <a:lstStyle/>
          <a:p>
            <a:pPr algn="ctr"/>
            <a:endParaRPr sz="2400" dirty="0"/>
          </a:p>
        </p:txBody>
      </p:sp>
      <p:sp>
        <p:nvSpPr>
          <p:cNvPr id="38" name="Rectangle 37"/>
          <p:cNvSpPr/>
          <p:nvPr/>
        </p:nvSpPr>
        <p:spPr>
          <a:xfrm>
            <a:off x="5138927" y="1536192"/>
            <a:ext cx="106299" cy="384048"/>
          </a:xfrm>
          <a:prstGeom prst="rect">
            <a:avLst/>
          </a:prstGeom>
          <a:solidFill>
            <a:srgbClr val="F26B1D"/>
          </a:solidFill>
          <a:ln>
            <a:noFill/>
          </a:ln>
        </p:spPr>
        <p:txBody>
          <a:bodyPr rtlCol="0" anchor="ctr"/>
          <a:lstStyle/>
          <a:p>
            <a:pPr algn="ctr"/>
            <a:endParaRPr sz="2400" dirty="0"/>
          </a:p>
        </p:txBody>
      </p:sp>
      <p:sp>
        <p:nvSpPr>
          <p:cNvPr id="39" name="Rectangle 38"/>
          <p:cNvSpPr/>
          <p:nvPr/>
        </p:nvSpPr>
        <p:spPr>
          <a:xfrm>
            <a:off x="5422392" y="1536192"/>
            <a:ext cx="106299" cy="384048"/>
          </a:xfrm>
          <a:prstGeom prst="rect">
            <a:avLst/>
          </a:prstGeom>
          <a:solidFill>
            <a:srgbClr val="F26B1D"/>
          </a:solidFill>
          <a:ln>
            <a:noFill/>
          </a:ln>
        </p:spPr>
        <p:txBody>
          <a:bodyPr rtlCol="0" anchor="ctr"/>
          <a:lstStyle/>
          <a:p>
            <a:pPr algn="ctr"/>
            <a:endParaRPr sz="2400" dirty="0"/>
          </a:p>
        </p:txBody>
      </p:sp>
      <p:sp>
        <p:nvSpPr>
          <p:cNvPr id="40" name="Rectangle 39"/>
          <p:cNvSpPr/>
          <p:nvPr/>
        </p:nvSpPr>
        <p:spPr>
          <a:xfrm>
            <a:off x="5705855" y="1536192"/>
            <a:ext cx="106299" cy="384048"/>
          </a:xfrm>
          <a:prstGeom prst="rect">
            <a:avLst/>
          </a:prstGeom>
          <a:solidFill>
            <a:srgbClr val="F26B1D"/>
          </a:solidFill>
          <a:ln>
            <a:noFill/>
          </a:ln>
        </p:spPr>
        <p:txBody>
          <a:bodyPr rtlCol="0" anchor="ctr"/>
          <a:lstStyle/>
          <a:p>
            <a:pPr algn="ctr"/>
            <a:endParaRPr sz="2400" dirty="0"/>
          </a:p>
        </p:txBody>
      </p:sp>
      <p:sp>
        <p:nvSpPr>
          <p:cNvPr id="41" name="Rectangle 40"/>
          <p:cNvSpPr/>
          <p:nvPr/>
        </p:nvSpPr>
        <p:spPr>
          <a:xfrm>
            <a:off x="5989320" y="1536192"/>
            <a:ext cx="106299" cy="384048"/>
          </a:xfrm>
          <a:prstGeom prst="rect">
            <a:avLst/>
          </a:prstGeom>
          <a:solidFill>
            <a:srgbClr val="F26B1D"/>
          </a:solidFill>
          <a:ln>
            <a:noFill/>
          </a:ln>
        </p:spPr>
        <p:txBody>
          <a:bodyPr rtlCol="0" anchor="ctr"/>
          <a:lstStyle/>
          <a:p>
            <a:pPr algn="ctr"/>
            <a:endParaRPr sz="2400" dirty="0"/>
          </a:p>
        </p:txBody>
      </p:sp>
      <p:sp>
        <p:nvSpPr>
          <p:cNvPr id="42" name="Rectangle 41"/>
          <p:cNvSpPr/>
          <p:nvPr/>
        </p:nvSpPr>
        <p:spPr>
          <a:xfrm>
            <a:off x="6272783" y="1536192"/>
            <a:ext cx="106299" cy="384048"/>
          </a:xfrm>
          <a:prstGeom prst="rect">
            <a:avLst/>
          </a:prstGeom>
          <a:solidFill>
            <a:srgbClr val="F26B1D"/>
          </a:solidFill>
          <a:ln>
            <a:noFill/>
          </a:ln>
        </p:spPr>
        <p:txBody>
          <a:bodyPr rtlCol="0" anchor="ctr"/>
          <a:lstStyle/>
          <a:p>
            <a:pPr algn="ctr"/>
            <a:endParaRPr sz="2400" dirty="0"/>
          </a:p>
        </p:txBody>
      </p:sp>
      <p:sp>
        <p:nvSpPr>
          <p:cNvPr id="43" name="Rectangle 42"/>
          <p:cNvSpPr/>
          <p:nvPr/>
        </p:nvSpPr>
        <p:spPr>
          <a:xfrm>
            <a:off x="6556248" y="1536192"/>
            <a:ext cx="106299" cy="384048"/>
          </a:xfrm>
          <a:prstGeom prst="rect">
            <a:avLst/>
          </a:prstGeom>
          <a:solidFill>
            <a:srgbClr val="F26B1D"/>
          </a:solidFill>
          <a:ln>
            <a:noFill/>
          </a:ln>
        </p:spPr>
        <p:txBody>
          <a:bodyPr rtlCol="0" anchor="ctr"/>
          <a:lstStyle/>
          <a:p>
            <a:pPr algn="ctr"/>
            <a:endParaRPr sz="2400" dirty="0"/>
          </a:p>
        </p:txBody>
      </p:sp>
      <p:sp>
        <p:nvSpPr>
          <p:cNvPr id="44" name="Rectangle 43"/>
          <p:cNvSpPr/>
          <p:nvPr/>
        </p:nvSpPr>
        <p:spPr>
          <a:xfrm>
            <a:off x="6839712" y="1536192"/>
            <a:ext cx="106299" cy="384048"/>
          </a:xfrm>
          <a:prstGeom prst="rect">
            <a:avLst/>
          </a:prstGeom>
          <a:solidFill>
            <a:srgbClr val="F26B1D"/>
          </a:solidFill>
          <a:ln>
            <a:noFill/>
          </a:ln>
        </p:spPr>
        <p:txBody>
          <a:bodyPr rtlCol="0" anchor="ctr"/>
          <a:lstStyle/>
          <a:p>
            <a:pPr algn="ctr"/>
            <a:endParaRPr sz="2400" dirty="0"/>
          </a:p>
        </p:txBody>
      </p:sp>
      <p:sp>
        <p:nvSpPr>
          <p:cNvPr id="45" name="Rectangle 44"/>
          <p:cNvSpPr/>
          <p:nvPr/>
        </p:nvSpPr>
        <p:spPr>
          <a:xfrm>
            <a:off x="7123175" y="1536192"/>
            <a:ext cx="106299" cy="384048"/>
          </a:xfrm>
          <a:prstGeom prst="rect">
            <a:avLst/>
          </a:prstGeom>
          <a:solidFill>
            <a:srgbClr val="F26B1D"/>
          </a:solidFill>
          <a:ln>
            <a:noFill/>
          </a:ln>
        </p:spPr>
        <p:txBody>
          <a:bodyPr rtlCol="0" anchor="ctr"/>
          <a:lstStyle/>
          <a:p>
            <a:pPr algn="ctr"/>
            <a:endParaRPr sz="2400" dirty="0"/>
          </a:p>
        </p:txBody>
      </p:sp>
      <p:sp>
        <p:nvSpPr>
          <p:cNvPr id="46" name="Rectangle 45"/>
          <p:cNvSpPr/>
          <p:nvPr/>
        </p:nvSpPr>
        <p:spPr>
          <a:xfrm>
            <a:off x="7406640" y="1536192"/>
            <a:ext cx="106299" cy="384048"/>
          </a:xfrm>
          <a:prstGeom prst="rect">
            <a:avLst/>
          </a:prstGeom>
          <a:solidFill>
            <a:srgbClr val="F26B1D"/>
          </a:solidFill>
          <a:ln>
            <a:noFill/>
          </a:ln>
        </p:spPr>
        <p:txBody>
          <a:bodyPr rtlCol="0" anchor="ctr"/>
          <a:lstStyle/>
          <a:p>
            <a:pPr algn="ctr"/>
            <a:endParaRPr sz="2400" dirty="0"/>
          </a:p>
        </p:txBody>
      </p:sp>
      <p:sp>
        <p:nvSpPr>
          <p:cNvPr id="47" name="Rectangle 46"/>
          <p:cNvSpPr/>
          <p:nvPr/>
        </p:nvSpPr>
        <p:spPr>
          <a:xfrm>
            <a:off x="7690104" y="1536192"/>
            <a:ext cx="106299" cy="384048"/>
          </a:xfrm>
          <a:prstGeom prst="rect">
            <a:avLst/>
          </a:prstGeom>
          <a:solidFill>
            <a:srgbClr val="F26B1D"/>
          </a:solidFill>
          <a:ln>
            <a:noFill/>
          </a:ln>
        </p:spPr>
        <p:txBody>
          <a:bodyPr rtlCol="0" anchor="ctr"/>
          <a:lstStyle/>
          <a:p>
            <a:pPr algn="ctr"/>
            <a:endParaRPr sz="2400" dirty="0"/>
          </a:p>
        </p:txBody>
      </p:sp>
      <p:sp>
        <p:nvSpPr>
          <p:cNvPr id="48" name="Rectangle 47"/>
          <p:cNvSpPr/>
          <p:nvPr/>
        </p:nvSpPr>
        <p:spPr>
          <a:xfrm>
            <a:off x="7973567" y="1536192"/>
            <a:ext cx="106299" cy="384048"/>
          </a:xfrm>
          <a:prstGeom prst="rect">
            <a:avLst/>
          </a:prstGeom>
          <a:solidFill>
            <a:srgbClr val="F26B1D"/>
          </a:solidFill>
          <a:ln>
            <a:noFill/>
          </a:ln>
        </p:spPr>
        <p:txBody>
          <a:bodyPr rtlCol="0" anchor="ctr"/>
          <a:lstStyle/>
          <a:p>
            <a:pPr algn="ctr"/>
            <a:endParaRPr sz="2400" dirty="0"/>
          </a:p>
        </p:txBody>
      </p:sp>
      <p:sp>
        <p:nvSpPr>
          <p:cNvPr id="49" name="Rectangle 48"/>
          <p:cNvSpPr/>
          <p:nvPr/>
        </p:nvSpPr>
        <p:spPr>
          <a:xfrm>
            <a:off x="8257031" y="1536192"/>
            <a:ext cx="106299" cy="384048"/>
          </a:xfrm>
          <a:prstGeom prst="rect">
            <a:avLst/>
          </a:prstGeom>
          <a:solidFill>
            <a:srgbClr val="F26B1D"/>
          </a:solidFill>
          <a:ln>
            <a:noFill/>
          </a:ln>
        </p:spPr>
        <p:txBody>
          <a:bodyPr rtlCol="0" anchor="ctr"/>
          <a:lstStyle/>
          <a:p>
            <a:pPr algn="ctr"/>
            <a:endParaRPr sz="2400" dirty="0"/>
          </a:p>
        </p:txBody>
      </p:sp>
      <p:sp>
        <p:nvSpPr>
          <p:cNvPr id="50" name="Rectangle 49"/>
          <p:cNvSpPr/>
          <p:nvPr/>
        </p:nvSpPr>
        <p:spPr>
          <a:xfrm>
            <a:off x="8540496" y="1536192"/>
            <a:ext cx="106299" cy="384048"/>
          </a:xfrm>
          <a:prstGeom prst="rect">
            <a:avLst/>
          </a:prstGeom>
          <a:solidFill>
            <a:srgbClr val="F26B1D"/>
          </a:solidFill>
          <a:ln>
            <a:noFill/>
          </a:ln>
        </p:spPr>
        <p:txBody>
          <a:bodyPr rtlCol="0" anchor="ctr"/>
          <a:lstStyle/>
          <a:p>
            <a:pPr algn="ctr"/>
            <a:endParaRPr sz="2400" dirty="0"/>
          </a:p>
        </p:txBody>
      </p:sp>
      <p:sp>
        <p:nvSpPr>
          <p:cNvPr id="51" name="TextBox 50"/>
          <p:cNvSpPr txBox="1"/>
          <p:nvPr/>
        </p:nvSpPr>
        <p:spPr>
          <a:xfrm>
            <a:off x="338328" y="1938528"/>
            <a:ext cx="5486400" cy="1463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00" b="0" dirty="0">
                <a:solidFill>
                  <a:srgbClr val="5B6770"/>
                </a:solidFill>
                <a:latin typeface="BIZ UDPGothic"/>
                <a:ea typeface="BIZ UDPGothic"/>
                <a:cs typeface="BIZ UDPGothic"/>
              </a:rPr>
              <a:t>■ 投入（約3分）　□ 空になるまで（約5分：次の束のほぐし・開梱に追われる）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0040" y="2157984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00" b="1" u="sng" dirty="0">
                <a:solidFill>
                  <a:srgbClr val="0F4C5C"/>
                </a:solidFill>
                <a:latin typeface="BIZ UDPGothic"/>
                <a:ea typeface="BIZ UDPGothic"/>
                <a:cs typeface="BIZ UDPGothic"/>
              </a:rPr>
              <a:t>1サイクルの拡大（約8分）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0040" y="2359151"/>
            <a:ext cx="1508760" cy="493773"/>
          </a:xfrm>
          <a:prstGeom prst="rect">
            <a:avLst/>
          </a:prstGeom>
          <a:solidFill>
            <a:srgbClr val="F26B1D"/>
          </a:solidFill>
          <a:ln>
            <a:noFill/>
          </a:ln>
        </p:spPr>
        <p:txBody>
          <a:bodyPr rtlCol="0" anchor="ctr"/>
          <a:lstStyle/>
          <a:p>
            <a:pPr algn="ctr"/>
            <a:endParaRPr sz="2400" dirty="0"/>
          </a:p>
        </p:txBody>
      </p:sp>
      <p:sp>
        <p:nvSpPr>
          <p:cNvPr id="54" name="Rectangle 53"/>
          <p:cNvSpPr/>
          <p:nvPr/>
        </p:nvSpPr>
        <p:spPr>
          <a:xfrm>
            <a:off x="1828800" y="2359151"/>
            <a:ext cx="2514600" cy="493773"/>
          </a:xfrm>
          <a:prstGeom prst="rect">
            <a:avLst/>
          </a:prstGeom>
          <a:solidFill>
            <a:srgbClr val="E6EEF1"/>
          </a:solidFill>
          <a:ln w="6350">
            <a:solidFill>
              <a:srgbClr val="C9D3D8"/>
            </a:solidFill>
          </a:ln>
        </p:spPr>
        <p:txBody>
          <a:bodyPr rtlCol="0" anchor="ctr"/>
          <a:lstStyle/>
          <a:p>
            <a:pPr algn="ctr"/>
            <a:endParaRPr sz="2400" dirty="0"/>
          </a:p>
        </p:txBody>
      </p:sp>
      <p:sp>
        <p:nvSpPr>
          <p:cNvPr id="55" name="TextBox 54"/>
          <p:cNvSpPr txBox="1"/>
          <p:nvPr/>
        </p:nvSpPr>
        <p:spPr>
          <a:xfrm>
            <a:off x="365759" y="2359151"/>
            <a:ext cx="1417320" cy="47548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000" b="1" dirty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投入 約3分</a:t>
            </a:r>
          </a:p>
          <a:p>
            <a:pPr algn="ctr"/>
            <a:r>
              <a:rPr sz="1000" b="0" dirty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踏み台に上がり束を</a:t>
            </a:r>
            <a:endParaRPr lang="en-US" sz="1000" b="0" dirty="0">
              <a:solidFill>
                <a:srgbClr val="FFFFFF"/>
              </a:solidFill>
              <a:latin typeface="BIZ UDPGothic"/>
              <a:ea typeface="BIZ UDPGothic"/>
              <a:cs typeface="BIZ UDPGothic"/>
            </a:endParaRPr>
          </a:p>
          <a:p>
            <a:pPr algn="ctr"/>
            <a:r>
              <a:rPr sz="1000" b="0" dirty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詰める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874519" y="2359151"/>
            <a:ext cx="2423160" cy="47548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000" b="1" dirty="0">
                <a:solidFill>
                  <a:srgbClr val="1F2A30"/>
                </a:solidFill>
                <a:latin typeface="BIZ UDPGothic"/>
                <a:ea typeface="BIZ UDPGothic"/>
                <a:cs typeface="BIZ UDPGothic"/>
              </a:rPr>
              <a:t>約5分で空になる</a:t>
            </a:r>
          </a:p>
          <a:p>
            <a:pPr algn="ctr"/>
            <a:r>
              <a:rPr sz="1000" b="0" dirty="0">
                <a:solidFill>
                  <a:srgbClr val="1F2A30"/>
                </a:solidFill>
                <a:latin typeface="BIZ UDPGothic"/>
                <a:ea typeface="BIZ UDPGothic"/>
                <a:cs typeface="BIZ UDPGothic"/>
              </a:rPr>
              <a:t>合間も次の束のほぐし・開梱で手が</a:t>
            </a:r>
            <a:endParaRPr lang="en-US" sz="1000" b="0" dirty="0">
              <a:solidFill>
                <a:srgbClr val="1F2A30"/>
              </a:solidFill>
              <a:latin typeface="BIZ UDPGothic"/>
              <a:ea typeface="BIZ UDPGothic"/>
              <a:cs typeface="BIZ UDPGothic"/>
            </a:endParaRPr>
          </a:p>
          <a:p>
            <a:pPr algn="ctr"/>
            <a:r>
              <a:rPr sz="1000" b="0" dirty="0">
                <a:solidFill>
                  <a:srgbClr val="1F2A30"/>
                </a:solidFill>
                <a:latin typeface="BIZ UDPGothic"/>
                <a:ea typeface="BIZ UDPGothic"/>
                <a:cs typeface="BIZ UDPGothic"/>
              </a:rPr>
              <a:t>空かない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26280" y="2157984"/>
            <a:ext cx="429768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1" dirty="0">
                <a:solidFill>
                  <a:srgbClr val="1F2A30"/>
                </a:solidFill>
                <a:latin typeface="BIZ UDPGothic"/>
                <a:ea typeface="BIZ UDPGothic"/>
                <a:cs typeface="BIZ UDPGothic"/>
              </a:rPr>
              <a:t>1日の稼働1,050分 ÷ 8分 ≒ 約131回の投入。</a:t>
            </a:r>
          </a:p>
          <a:p>
            <a:pPr algn="l"/>
            <a:r>
              <a:rPr sz="1000" b="0" dirty="0">
                <a:solidFill>
                  <a:srgbClr val="1F2A30"/>
                </a:solidFill>
                <a:latin typeface="BIZ UDPGothic"/>
                <a:ea typeface="BIZ UDPGothic"/>
                <a:cs typeface="BIZ UDPGothic"/>
              </a:rPr>
              <a:t>投入担当（パート1名）はシフト中ずっと持ち場に拘束され、早番150分・中番480分・遅番420分＝1,050分／日。遅番は派遣が確保できず、日勤社員のカバー出勤が常態化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20040" y="2907792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 dirty="0">
                <a:solidFill>
                  <a:srgbClr val="B84A0A"/>
                </a:solidFill>
                <a:latin typeface="BIZ UDPGothic"/>
                <a:ea typeface="BIZ UDPGothic"/>
                <a:cs typeface="BIZ UDPGothic"/>
              </a:rPr>
              <a:t>導入後：自動供給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063240" y="2907792"/>
            <a:ext cx="576072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000" b="0" dirty="0">
                <a:solidFill>
                  <a:srgbClr val="5B6770"/>
                </a:solidFill>
                <a:latin typeface="BIZ UDPGothic"/>
                <a:ea typeface="BIZ UDPGothic"/>
                <a:cs typeface="BIZ UDPGothic"/>
              </a:rPr>
              <a:t>装置に約2時間分（パレット20枚＝24,000袋、フジシール資料）を装填。入替は約3分×4時間で2回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0040" y="3127248"/>
            <a:ext cx="8503920" cy="384048"/>
          </a:xfrm>
          <a:prstGeom prst="rect">
            <a:avLst/>
          </a:prstGeom>
          <a:solidFill>
            <a:srgbClr val="E6EEF1"/>
          </a:solidFill>
          <a:ln w="6350">
            <a:solidFill>
              <a:srgbClr val="C9D3D8"/>
            </a:solidFill>
          </a:ln>
        </p:spPr>
        <p:txBody>
          <a:bodyPr rtlCol="0" anchor="ctr"/>
          <a:lstStyle/>
          <a:p>
            <a:pPr algn="ctr"/>
            <a:endParaRPr sz="2400" dirty="0"/>
          </a:p>
        </p:txBody>
      </p:sp>
      <p:sp>
        <p:nvSpPr>
          <p:cNvPr id="61" name="Rectangle 60"/>
          <p:cNvSpPr/>
          <p:nvPr/>
        </p:nvSpPr>
        <p:spPr>
          <a:xfrm>
            <a:off x="4465701" y="3127248"/>
            <a:ext cx="106299" cy="384048"/>
          </a:xfrm>
          <a:prstGeom prst="rect">
            <a:avLst/>
          </a:prstGeom>
          <a:solidFill>
            <a:srgbClr val="F26B1D"/>
          </a:solidFill>
          <a:ln>
            <a:noFill/>
          </a:ln>
        </p:spPr>
        <p:txBody>
          <a:bodyPr rtlCol="0" anchor="ctr"/>
          <a:lstStyle/>
          <a:p>
            <a:pPr algn="ctr"/>
            <a:endParaRPr sz="2400" dirty="0"/>
          </a:p>
        </p:txBody>
      </p:sp>
      <p:sp>
        <p:nvSpPr>
          <p:cNvPr id="62" name="Rectangle 61"/>
          <p:cNvSpPr/>
          <p:nvPr/>
        </p:nvSpPr>
        <p:spPr>
          <a:xfrm>
            <a:off x="8717661" y="3127248"/>
            <a:ext cx="106299" cy="384048"/>
          </a:xfrm>
          <a:prstGeom prst="rect">
            <a:avLst/>
          </a:prstGeom>
          <a:solidFill>
            <a:srgbClr val="F26B1D"/>
          </a:solidFill>
          <a:ln>
            <a:noFill/>
          </a:ln>
        </p:spPr>
        <p:txBody>
          <a:bodyPr rtlCol="0" anchor="ctr"/>
          <a:lstStyle/>
          <a:p>
            <a:pPr algn="ctr"/>
            <a:endParaRPr sz="2400" dirty="0"/>
          </a:p>
        </p:txBody>
      </p:sp>
      <p:sp>
        <p:nvSpPr>
          <p:cNvPr id="63" name="TextBox 62"/>
          <p:cNvSpPr txBox="1"/>
          <p:nvPr/>
        </p:nvSpPr>
        <p:spPr>
          <a:xfrm>
            <a:off x="411479" y="3127248"/>
            <a:ext cx="3962781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050" b="1" dirty="0">
                <a:solidFill>
                  <a:srgbClr val="0F4C5C"/>
                </a:solidFill>
                <a:latin typeface="BIZ UDPGothic"/>
                <a:ea typeface="BIZ UDPGothic"/>
                <a:cs typeface="BIZ UDPGothic"/>
              </a:rPr>
              <a:t>ロボットが自動供給 約2時間</a:t>
            </a:r>
          </a:p>
          <a:p>
            <a:pPr algn="ctr"/>
            <a:r>
              <a:rPr sz="1000" b="0" dirty="0">
                <a:solidFill>
                  <a:srgbClr val="5B6770"/>
                </a:solidFill>
                <a:latin typeface="BIZ UDPGothic"/>
                <a:ea typeface="BIZ UDPGothic"/>
                <a:cs typeface="BIZ UDPGothic"/>
              </a:rPr>
              <a:t>パウチ詰めは早番・中番が自分のペースでまとめて実施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663440" y="3127248"/>
            <a:ext cx="3962781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050" b="1" dirty="0">
                <a:solidFill>
                  <a:srgbClr val="0F4C5C"/>
                </a:solidFill>
                <a:latin typeface="BIZ UDPGothic"/>
                <a:ea typeface="BIZ UDPGothic"/>
                <a:cs typeface="BIZ UDPGothic"/>
              </a:rPr>
              <a:t>ロボットが自動供給 約2時間</a:t>
            </a:r>
          </a:p>
          <a:p>
            <a:pPr algn="ctr"/>
            <a:r>
              <a:rPr sz="1000" b="0" dirty="0">
                <a:solidFill>
                  <a:srgbClr val="5B6770"/>
                </a:solidFill>
                <a:latin typeface="BIZ UDPGothic"/>
                <a:ea typeface="BIZ UDPGothic"/>
                <a:cs typeface="BIZ UDPGothic"/>
              </a:rPr>
              <a:t>パウチ詰めは早番・中番が自分のペースでまとめて実施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8" y="3529584"/>
            <a:ext cx="5486400" cy="1463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00" b="0" dirty="0">
                <a:solidFill>
                  <a:srgbClr val="5B6770"/>
                </a:solidFill>
                <a:latin typeface="BIZ UDPGothic"/>
                <a:ea typeface="BIZ UDPGothic"/>
                <a:cs typeface="BIZ UDPGothic"/>
              </a:rPr>
              <a:t>■ パレットの入替（約3分。遅番は製袋室オペレーターが兼務）　□ 人手不要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20040" y="3712463"/>
            <a:ext cx="4160520" cy="3657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1" dirty="0">
                <a:solidFill>
                  <a:srgbClr val="0F4C5C"/>
                </a:solidFill>
                <a:latin typeface="BIZ UDPGothic"/>
                <a:ea typeface="BIZ UDPGothic"/>
                <a:cs typeface="BIZ UDPGothic"/>
              </a:rPr>
              <a:t>パレット詰め（約2分／枚）</a:t>
            </a:r>
            <a:r>
              <a:rPr sz="1000" b="0" dirty="0">
                <a:solidFill>
                  <a:srgbClr val="1F2A30"/>
                </a:solidFill>
                <a:latin typeface="BIZ UDPGothic"/>
                <a:ea typeface="BIZ UDPGothic"/>
                <a:cs typeface="BIZ UDPGothic"/>
              </a:rPr>
              <a:t>は早番・中番がまとめて行う </a:t>
            </a:r>
            <a:endParaRPr lang="en-US" altLang="en-US" sz="1000" b="0" dirty="0">
              <a:solidFill>
                <a:srgbClr val="1F2A30"/>
              </a:solidFill>
              <a:latin typeface="BIZ UDPGothic"/>
              <a:ea typeface="BIZ UDPGothic"/>
              <a:cs typeface="BIZ UDPGothic"/>
            </a:endParaRPr>
          </a:p>
          <a:p>
            <a:pPr algn="l"/>
            <a:r>
              <a:rPr lang="ja-JP" altLang="en-US" sz="1000" b="0" dirty="0">
                <a:solidFill>
                  <a:srgbClr val="1F2A30"/>
                </a:solidFill>
                <a:latin typeface="BIZ UDPGothic"/>
                <a:ea typeface="BIZ UDPGothic"/>
                <a:cs typeface="BIZ UDPGothic"/>
              </a:rPr>
              <a:t>→ </a:t>
            </a:r>
            <a:r>
              <a:rPr lang="en-US" altLang="ja-JP" sz="1000" b="0" dirty="0">
                <a:solidFill>
                  <a:srgbClr val="1F2A30"/>
                </a:solidFill>
                <a:latin typeface="BIZ UDPGothic"/>
                <a:ea typeface="BIZ UDPGothic"/>
                <a:cs typeface="BIZ UDPGothic"/>
              </a:rPr>
              <a:t>1</a:t>
            </a:r>
            <a:r>
              <a:rPr lang="ja-JP" altLang="en-US" sz="1000" b="0" dirty="0">
                <a:solidFill>
                  <a:srgbClr val="1F2A30"/>
                </a:solidFill>
                <a:latin typeface="BIZ UDPGothic"/>
                <a:ea typeface="BIZ UDPGothic"/>
                <a:cs typeface="BIZ UDPGothic"/>
              </a:rPr>
              <a:t>品種の日</a:t>
            </a:r>
            <a:r>
              <a:rPr lang="en-US" altLang="ja-JP" sz="1000" b="0" dirty="0">
                <a:solidFill>
                  <a:srgbClr val="1F2A30"/>
                </a:solidFill>
                <a:latin typeface="BIZ UDPGothic"/>
                <a:ea typeface="BIZ UDPGothic"/>
                <a:cs typeface="BIZ UDPGothic"/>
              </a:rPr>
              <a:t>250</a:t>
            </a:r>
            <a:r>
              <a:rPr lang="ja-JP" altLang="en-US" sz="1000" b="0" dirty="0">
                <a:solidFill>
                  <a:srgbClr val="1F2A30"/>
                </a:solidFill>
                <a:latin typeface="BIZ UDPGothic"/>
                <a:ea typeface="BIZ UDPGothic"/>
                <a:cs typeface="BIZ UDPGothic"/>
              </a:rPr>
              <a:t>分、</a:t>
            </a:r>
            <a:r>
              <a:rPr lang="en-US" altLang="ja-JP" sz="1000" b="0" dirty="0">
                <a:solidFill>
                  <a:srgbClr val="1F2A30"/>
                </a:solidFill>
                <a:latin typeface="BIZ UDPGothic"/>
                <a:ea typeface="BIZ UDPGothic"/>
                <a:cs typeface="BIZ UDPGothic"/>
              </a:rPr>
              <a:t>2</a:t>
            </a:r>
            <a:r>
              <a:rPr lang="ja-JP" altLang="en-US" sz="1000" b="0" dirty="0">
                <a:solidFill>
                  <a:srgbClr val="1F2A30"/>
                </a:solidFill>
                <a:latin typeface="BIZ UDPGothic"/>
                <a:ea typeface="BIZ UDPGothic"/>
                <a:cs typeface="BIZ UDPGothic"/>
              </a:rPr>
              <a:t>品種の日</a:t>
            </a:r>
            <a:r>
              <a:rPr lang="en-US" altLang="ja-JP" sz="1000" b="0" dirty="0">
                <a:solidFill>
                  <a:srgbClr val="1F2A30"/>
                </a:solidFill>
                <a:latin typeface="BIZ UDPGothic"/>
                <a:ea typeface="BIZ UDPGothic"/>
                <a:cs typeface="BIZ UDPGothic"/>
              </a:rPr>
              <a:t>168</a:t>
            </a:r>
            <a:r>
              <a:rPr lang="ja-JP" altLang="en-US" sz="1000" b="0" dirty="0">
                <a:solidFill>
                  <a:srgbClr val="1F2A30"/>
                </a:solidFill>
                <a:latin typeface="BIZ UDPGothic"/>
                <a:ea typeface="BIZ UDPGothic"/>
                <a:cs typeface="BIZ UDPGothic"/>
              </a:rPr>
              <a:t>分（月平均</a:t>
            </a:r>
            <a:r>
              <a:rPr lang="en-US" altLang="ja-JP" sz="1000" b="0" dirty="0">
                <a:solidFill>
                  <a:srgbClr val="1F2A30"/>
                </a:solidFill>
                <a:latin typeface="BIZ UDPGothic"/>
                <a:ea typeface="BIZ UDPGothic"/>
                <a:cs typeface="BIZ UDPGothic"/>
              </a:rPr>
              <a:t>209</a:t>
            </a:r>
            <a:r>
              <a:rPr lang="ja-JP" altLang="en-US" sz="1000" b="0" dirty="0">
                <a:solidFill>
                  <a:srgbClr val="1F2A30"/>
                </a:solidFill>
                <a:latin typeface="BIZ UDPGothic"/>
                <a:ea typeface="BIZ UDPGothic"/>
                <a:cs typeface="BIZ UDPGothic"/>
              </a:rPr>
              <a:t>分）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663440" y="3712463"/>
            <a:ext cx="4160520" cy="3657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1" dirty="0">
                <a:solidFill>
                  <a:srgbClr val="0F4C5C"/>
                </a:solidFill>
                <a:latin typeface="BIZ UDPGothic"/>
                <a:ea typeface="BIZ UDPGothic"/>
                <a:cs typeface="BIZ UDPGothic"/>
              </a:rPr>
              <a:t>入替（約3分）</a:t>
            </a:r>
            <a:r>
              <a:rPr sz="1000" b="0" dirty="0">
                <a:solidFill>
                  <a:srgbClr val="1F2A30"/>
                </a:solidFill>
                <a:latin typeface="BIZ UDPGothic"/>
                <a:ea typeface="BIZ UDPGothic"/>
                <a:cs typeface="BIZ UDPGothic"/>
              </a:rPr>
              <a:t>は生産量÷24,000袋で1品種の日6回＝18分、</a:t>
            </a:r>
            <a:endParaRPr lang="en-US" altLang="en-US" sz="1000" b="0" dirty="0">
              <a:solidFill>
                <a:srgbClr val="1F2A30"/>
              </a:solidFill>
              <a:latin typeface="BIZ UDPGothic"/>
              <a:ea typeface="BIZ UDPGothic"/>
              <a:cs typeface="BIZ UDPGothic"/>
            </a:endParaRPr>
          </a:p>
          <a:p>
            <a:pPr algn="l"/>
            <a:r>
              <a:rPr lang="en-US" altLang="ja-JP" sz="1000" b="0" dirty="0">
                <a:solidFill>
                  <a:srgbClr val="1F2A30"/>
                </a:solidFill>
                <a:latin typeface="BIZ UDPGothic"/>
                <a:ea typeface="BIZ UDPGothic"/>
                <a:cs typeface="BIZ UDPGothic"/>
              </a:rPr>
              <a:t>2</a:t>
            </a:r>
            <a:r>
              <a:rPr lang="ja-JP" altLang="en-US" sz="1000" b="0" dirty="0">
                <a:solidFill>
                  <a:srgbClr val="1F2A30"/>
                </a:solidFill>
                <a:latin typeface="BIZ UDPGothic"/>
                <a:ea typeface="BIZ UDPGothic"/>
                <a:cs typeface="BIZ UDPGothic"/>
              </a:rPr>
              <a:t>品種の日</a:t>
            </a:r>
            <a:r>
              <a:rPr lang="en-US" altLang="ja-JP" sz="1000" b="0" dirty="0">
                <a:solidFill>
                  <a:srgbClr val="1F2A30"/>
                </a:solidFill>
                <a:latin typeface="BIZ UDPGothic"/>
                <a:ea typeface="BIZ UDPGothic"/>
                <a:cs typeface="BIZ UDPGothic"/>
              </a:rPr>
              <a:t>4</a:t>
            </a:r>
            <a:r>
              <a:rPr lang="ja-JP" altLang="en-US" sz="1000" b="0" dirty="0">
                <a:solidFill>
                  <a:srgbClr val="1F2A30"/>
                </a:solidFill>
                <a:latin typeface="BIZ UDPGothic"/>
                <a:ea typeface="BIZ UDPGothic"/>
                <a:cs typeface="BIZ UDPGothic"/>
              </a:rPr>
              <a:t>回＝</a:t>
            </a:r>
            <a:r>
              <a:rPr lang="en-US" altLang="ja-JP" sz="1000" b="0" dirty="0">
                <a:solidFill>
                  <a:srgbClr val="1F2A30"/>
                </a:solidFill>
                <a:latin typeface="BIZ UDPGothic"/>
                <a:ea typeface="BIZ UDPGothic"/>
                <a:cs typeface="BIZ UDPGothic"/>
              </a:rPr>
              <a:t>12</a:t>
            </a:r>
            <a:r>
              <a:rPr lang="ja-JP" altLang="en-US" sz="1000" b="0" dirty="0">
                <a:solidFill>
                  <a:srgbClr val="1F2A30"/>
                </a:solidFill>
                <a:latin typeface="BIZ UDPGothic"/>
                <a:ea typeface="BIZ UDPGothic"/>
                <a:cs typeface="BIZ UDPGothic"/>
              </a:rPr>
              <a:t>分。遅番はオペレーターが兼務し、投入担当が不要に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20040" y="4114800"/>
            <a:ext cx="2724912" cy="676656"/>
          </a:xfrm>
          <a:prstGeom prst="rect">
            <a:avLst/>
          </a:prstGeom>
          <a:solidFill>
            <a:srgbClr val="EEF4F5"/>
          </a:solidFill>
          <a:ln>
            <a:noFill/>
          </a:ln>
        </p:spPr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9" name="TextBox 68"/>
          <p:cNvSpPr txBox="1"/>
          <p:nvPr/>
        </p:nvSpPr>
        <p:spPr>
          <a:xfrm>
            <a:off x="457200" y="4133087"/>
            <a:ext cx="246888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1" dirty="0">
                <a:solidFill>
                  <a:srgbClr val="B84A0A"/>
                </a:solidFill>
                <a:latin typeface="BIZ UDPGothic"/>
                <a:ea typeface="BIZ UDPGothic"/>
                <a:cs typeface="BIZ UDPGothic"/>
              </a:rPr>
              <a:t>1,050分 → 251分／日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7200" y="4462272"/>
            <a:ext cx="24688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00" b="0" dirty="0">
                <a:solidFill>
                  <a:srgbClr val="5B6770"/>
                </a:solidFill>
                <a:latin typeface="BIZ UDPGothic"/>
                <a:ea typeface="BIZ UDPGothic"/>
                <a:cs typeface="BIZ UDPGothic"/>
              </a:rPr>
              <a:t>投入の拘束時間 → 導入後の関連作業（搬入20＋詰め209＋入替15＋型替え7、月平均）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209544" y="4114800"/>
            <a:ext cx="2724912" cy="676656"/>
          </a:xfrm>
          <a:prstGeom prst="rect">
            <a:avLst/>
          </a:prstGeom>
          <a:solidFill>
            <a:srgbClr val="EEF4F5"/>
          </a:solidFill>
          <a:ln>
            <a:noFill/>
          </a:ln>
        </p:spPr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2" name="TextBox 71"/>
          <p:cNvSpPr txBox="1"/>
          <p:nvPr/>
        </p:nvSpPr>
        <p:spPr>
          <a:xfrm>
            <a:off x="3346703" y="4133087"/>
            <a:ext cx="246888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1" dirty="0">
                <a:solidFill>
                  <a:srgbClr val="B84A0A"/>
                </a:solidFill>
                <a:latin typeface="BIZ UDPGothic"/>
                <a:ea typeface="BIZ UDPGothic"/>
                <a:cs typeface="BIZ UDPGothic"/>
              </a:rPr>
              <a:t>約799分／日 創出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346703" y="4462272"/>
            <a:ext cx="24688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00" b="0" dirty="0">
                <a:solidFill>
                  <a:srgbClr val="5B6770"/>
                </a:solidFill>
                <a:latin typeface="BIZ UDPGothic"/>
                <a:ea typeface="BIZ UDPGothic"/>
                <a:cs typeface="BIZ UDPGothic"/>
              </a:rPr>
              <a:t>≒13.3時間。主に中番・遅番で創出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099048" y="4114800"/>
            <a:ext cx="2724912" cy="676656"/>
          </a:xfrm>
          <a:prstGeom prst="rect">
            <a:avLst/>
          </a:prstGeom>
          <a:solidFill>
            <a:srgbClr val="EEF4F5"/>
          </a:solidFill>
          <a:ln>
            <a:noFill/>
          </a:ln>
        </p:spPr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5" name="TextBox 74"/>
          <p:cNvSpPr txBox="1"/>
          <p:nvPr/>
        </p:nvSpPr>
        <p:spPr>
          <a:xfrm>
            <a:off x="6236208" y="4133087"/>
            <a:ext cx="246888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700" b="1" dirty="0">
                <a:solidFill>
                  <a:srgbClr val="B84A0A"/>
                </a:solidFill>
                <a:latin typeface="BIZ UDPGothic"/>
                <a:ea typeface="BIZ UDPGothic"/>
                <a:cs typeface="BIZ UDPGothic"/>
              </a:rPr>
              <a:t>省力化指数 0.78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236208" y="4462272"/>
            <a:ext cx="24688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00" b="0" dirty="0">
                <a:solidFill>
                  <a:srgbClr val="5B6770"/>
                </a:solidFill>
                <a:latin typeface="BIZ UDPGothic"/>
                <a:ea typeface="BIZ UDPGothic"/>
                <a:cs typeface="BIZ UDPGothic"/>
              </a:rPr>
              <a:t>（1,030−231）÷1,030。別紙1の自動計算と同じ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3" name="Shape 1"/>
          <p:cNvSpPr/>
          <p:nvPr/>
        </p:nvSpPr>
        <p:spPr>
          <a:xfrm>
            <a:off x="320040" y="182880"/>
            <a:ext cx="109728" cy="320040"/>
          </a:xfrm>
          <a:prstGeom prst="rect">
            <a:avLst/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4" name="Text 2"/>
          <p:cNvSpPr/>
          <p:nvPr/>
        </p:nvSpPr>
        <p:spPr>
          <a:xfrm>
            <a:off x="530352" y="7315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200" b="1" dirty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6. </a:t>
            </a:r>
            <a:r>
              <a:rPr sz="2200" b="1" dirty="0" err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パウチ供給工程のビフォ</a:t>
            </a:r>
            <a:r>
              <a:rPr sz="2200" b="1" dirty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ー・</a:t>
            </a:r>
            <a:r>
              <a:rPr sz="2200" b="1" dirty="0" err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アフタ</a:t>
            </a:r>
            <a:r>
              <a:rPr sz="2200" b="1" dirty="0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ー（1日の人手作業時間）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731520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 b="0">
                <a:solidFill>
                  <a:srgbClr val="5B6770"/>
                </a:solidFill>
                <a:latin typeface="BIZ UDPGothic"/>
                <a:ea typeface="BIZ UDPGothic"/>
                <a:cs typeface="BIZ UDPGothic"/>
              </a:rPr>
              <a:t>①〜の番号と数値は別紙1と同じ。オレンジ＝左は無くなる作業、右は新たな作業。下3段は前後で変わらない作業。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A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株式会社トンボ飲料様　Gライン パウチ自動供給装置の導入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321040" y="482803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900" b="0">
                <a:solidFill>
                  <a:srgbClr val="8A9BA8"/>
                </a:solidFill>
                <a:latin typeface="BIZ UDPGothic"/>
                <a:ea typeface="BIZ UDPGothic"/>
                <a:cs typeface="BIZ UDPGothic"/>
              </a:rPr>
              <a:t>7</a:t>
            </a:r>
            <a:endParaRPr lang="en-US" sz="900" dirty="0"/>
          </a:p>
        </p:txBody>
      </p:sp>
      <p:sp>
        <p:nvSpPr>
          <p:cNvPr id="8" name="Rectangle 7"/>
          <p:cNvSpPr/>
          <p:nvPr/>
        </p:nvSpPr>
        <p:spPr>
          <a:xfrm>
            <a:off x="320040" y="1097280"/>
            <a:ext cx="4160520" cy="3310128"/>
          </a:xfrm>
          <a:prstGeom prst="rect">
            <a:avLst/>
          </a:prstGeom>
          <a:solidFill>
            <a:srgbClr val="F7F9FA"/>
          </a:solidFill>
          <a:ln w="15875">
            <a:solidFill>
              <a:srgbClr val="0F4C5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1097280"/>
            <a:ext cx="822960" cy="274320"/>
          </a:xfrm>
          <a:prstGeom prst="rect">
            <a:avLst/>
          </a:prstGeom>
          <a:solidFill>
            <a:srgbClr val="5B6770"/>
          </a:solidFill>
          <a:ln w="12700">
            <a:solidFill>
              <a:srgbClr val="5B677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" y="109728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現状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10972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50" b="1">
                <a:solidFill>
                  <a:srgbClr val="0F4C5C"/>
                </a:solidFill>
                <a:latin typeface="BIZ UDPGothic"/>
                <a:ea typeface="BIZ UDPGothic"/>
                <a:cs typeface="BIZ UDPGothic"/>
              </a:rPr>
              <a:t>投入担当の作業 1,050分／日（①〜⑦の合計）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426464"/>
            <a:ext cx="3977639" cy="256032"/>
          </a:xfrm>
          <a:prstGeom prst="rect">
            <a:avLst/>
          </a:prstGeom>
          <a:solidFill>
            <a:srgbClr val="EEF4F5"/>
          </a:solidFill>
          <a:ln w="9525">
            <a:solidFill>
              <a:srgbClr val="C9D3D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4632" y="1426464"/>
            <a:ext cx="196596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1">
                <a:solidFill>
                  <a:srgbClr val="1F2A30"/>
                </a:solidFill>
                <a:latin typeface="BIZ UDPGothic"/>
                <a:ea typeface="BIZ UDPGothic"/>
                <a:cs typeface="BIZ UDPGothic"/>
              </a:rPr>
              <a:t>① 空パウチの搬入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1426464"/>
            <a:ext cx="71323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>
                <a:solidFill>
                  <a:srgbClr val="0F4C5C"/>
                </a:solidFill>
                <a:latin typeface="BIZ UDPGothic"/>
                <a:ea typeface="BIZ UDPGothic"/>
                <a:cs typeface="BIZ UDPGothic"/>
              </a:rPr>
              <a:t>20分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1426464"/>
            <a:ext cx="1161288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50" b="0">
                <a:solidFill>
                  <a:srgbClr val="5B6770"/>
                </a:solidFill>
                <a:latin typeface="BIZ UDPGothic"/>
                <a:ea typeface="BIZ UDPGothic"/>
                <a:cs typeface="BIZ UDPGothic"/>
              </a:rPr>
              <a:t>数箱ずつ5〜6回</a:t>
            </a:r>
          </a:p>
          <a:p>
            <a:pPr algn="l"/>
            <a:r>
              <a:rPr sz="750" b="0">
                <a:solidFill>
                  <a:srgbClr val="5B6770"/>
                </a:solidFill>
                <a:latin typeface="BIZ UDPGothic"/>
                <a:ea typeface="BIZ UDPGothic"/>
                <a:cs typeface="BIZ UDPGothic"/>
              </a:rPr>
              <a:t>（変わらない）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1719072"/>
            <a:ext cx="3977639" cy="256032"/>
          </a:xfrm>
          <a:prstGeom prst="rect">
            <a:avLst/>
          </a:prstGeom>
          <a:solidFill>
            <a:srgbClr val="FDE8DC"/>
          </a:solidFill>
          <a:ln w="19050">
            <a:solidFill>
              <a:srgbClr val="F26B1D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4632" y="1719072"/>
            <a:ext cx="196596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1">
                <a:solidFill>
                  <a:srgbClr val="1F2A30"/>
                </a:solidFill>
                <a:latin typeface="BIZ UDPGothic"/>
                <a:ea typeface="BIZ UDPGothic"/>
                <a:cs typeface="BIZ UDPGothic"/>
              </a:rPr>
              <a:t>② 段ボールの開梱・束出し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23160" y="1719072"/>
            <a:ext cx="71323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>
                <a:solidFill>
                  <a:srgbClr val="B84A0A"/>
                </a:solidFill>
                <a:latin typeface="BIZ UDPGothic"/>
                <a:ea typeface="BIZ UDPGothic"/>
                <a:cs typeface="BIZ UDPGothic"/>
              </a:rPr>
              <a:t>43分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1719072"/>
            <a:ext cx="1161288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50" b="0">
                <a:solidFill>
                  <a:srgbClr val="5B6770"/>
                </a:solidFill>
                <a:latin typeface="BIZ UDPGothic"/>
                <a:ea typeface="BIZ UDPGothic"/>
                <a:cs typeface="BIZ UDPGothic"/>
              </a:rPr>
              <a:t>43箱×1分</a:t>
            </a:r>
          </a:p>
          <a:p>
            <a:pPr algn="l"/>
            <a:r>
              <a:rPr sz="750" b="0">
                <a:solidFill>
                  <a:srgbClr val="5B6770"/>
                </a:solidFill>
                <a:latin typeface="BIZ UDPGothic"/>
                <a:ea typeface="BIZ UDPGothic"/>
                <a:cs typeface="BIZ UDPGothic"/>
              </a:rPr>
              <a:t>（詰め作業に含める）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2011680"/>
            <a:ext cx="3977639" cy="256032"/>
          </a:xfrm>
          <a:prstGeom prst="rect">
            <a:avLst/>
          </a:prstGeom>
          <a:solidFill>
            <a:srgbClr val="FDE8DC"/>
          </a:solidFill>
          <a:ln w="19050">
            <a:solidFill>
              <a:srgbClr val="F26B1D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84632" y="2011680"/>
            <a:ext cx="196596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1">
                <a:solidFill>
                  <a:srgbClr val="1F2A30"/>
                </a:solidFill>
                <a:latin typeface="BIZ UDPGothic"/>
                <a:ea typeface="BIZ UDPGothic"/>
                <a:cs typeface="BIZ UDPGothic"/>
              </a:rPr>
              <a:t>③ 空段ボールの片付け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23160" y="2011680"/>
            <a:ext cx="71323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>
                <a:solidFill>
                  <a:srgbClr val="B84A0A"/>
                </a:solidFill>
                <a:latin typeface="BIZ UDPGothic"/>
                <a:ea typeface="BIZ UDPGothic"/>
                <a:cs typeface="BIZ UDPGothic"/>
              </a:rPr>
              <a:t>22分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2011680"/>
            <a:ext cx="1161288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50" b="0">
                <a:solidFill>
                  <a:srgbClr val="5B6770"/>
                </a:solidFill>
                <a:latin typeface="BIZ UDPGothic"/>
                <a:ea typeface="BIZ UDPGothic"/>
                <a:cs typeface="BIZ UDPGothic"/>
              </a:rPr>
              <a:t>43箱×0.5分</a:t>
            </a:r>
          </a:p>
          <a:p>
            <a:pPr algn="l"/>
            <a:r>
              <a:rPr sz="750" b="0">
                <a:solidFill>
                  <a:srgbClr val="5B6770"/>
                </a:solidFill>
                <a:latin typeface="BIZ UDPGothic"/>
                <a:ea typeface="BIZ UDPGothic"/>
                <a:cs typeface="BIZ UDPGothic"/>
              </a:rPr>
              <a:t>（詰め作業に含める）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2304288"/>
            <a:ext cx="3977639" cy="256032"/>
          </a:xfrm>
          <a:prstGeom prst="rect">
            <a:avLst/>
          </a:prstGeom>
          <a:solidFill>
            <a:srgbClr val="FDE8DC"/>
          </a:solidFill>
          <a:ln w="19050">
            <a:solidFill>
              <a:srgbClr val="F26B1D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84632" y="2304288"/>
            <a:ext cx="196596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1">
                <a:solidFill>
                  <a:srgbClr val="1F2A30"/>
                </a:solidFill>
                <a:latin typeface="BIZ UDPGothic"/>
                <a:ea typeface="BIZ UDPGothic"/>
                <a:cs typeface="BIZ UDPGothic"/>
              </a:rPr>
              <a:t>④ パウチのほぐし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23160" y="2304288"/>
            <a:ext cx="71323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>
                <a:solidFill>
                  <a:srgbClr val="B84A0A"/>
                </a:solidFill>
                <a:latin typeface="BIZ UDPGothic"/>
                <a:ea typeface="BIZ UDPGothic"/>
                <a:cs typeface="BIZ UDPGothic"/>
              </a:rPr>
              <a:t>563分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2304288"/>
            <a:ext cx="1161288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50" b="0">
                <a:solidFill>
                  <a:srgbClr val="5B6770"/>
                </a:solidFill>
                <a:latin typeface="BIZ UDPGothic"/>
                <a:ea typeface="BIZ UDPGothic"/>
                <a:cs typeface="BIZ UDPGothic"/>
              </a:rPr>
              <a:t>無くなる</a:t>
            </a:r>
          </a:p>
          <a:p>
            <a:pPr algn="l"/>
            <a:r>
              <a:rPr sz="750" b="0">
                <a:solidFill>
                  <a:srgbClr val="5B6770"/>
                </a:solidFill>
                <a:latin typeface="BIZ UDPGothic"/>
                <a:ea typeface="BIZ UDPGothic"/>
                <a:cs typeface="BIZ UDPGothic"/>
              </a:rPr>
              <a:t>（投入の合間に継続）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2596896"/>
            <a:ext cx="3977639" cy="256032"/>
          </a:xfrm>
          <a:prstGeom prst="rect">
            <a:avLst/>
          </a:prstGeom>
          <a:solidFill>
            <a:srgbClr val="FDE8DC"/>
          </a:solidFill>
          <a:ln w="19050">
            <a:solidFill>
              <a:srgbClr val="F26B1D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84632" y="2596896"/>
            <a:ext cx="196596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1">
                <a:solidFill>
                  <a:srgbClr val="1F2A30"/>
                </a:solidFill>
                <a:latin typeface="BIZ UDPGothic"/>
                <a:ea typeface="BIZ UDPGothic"/>
                <a:cs typeface="BIZ UDPGothic"/>
              </a:rPr>
              <a:t>⑤ 踏み台の昇降・残量確認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23160" y="2596896"/>
            <a:ext cx="71323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>
                <a:solidFill>
                  <a:srgbClr val="B84A0A"/>
                </a:solidFill>
                <a:latin typeface="BIZ UDPGothic"/>
                <a:ea typeface="BIZ UDPGothic"/>
                <a:cs typeface="BIZ UDPGothic"/>
              </a:rPr>
              <a:t>79分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2596896"/>
            <a:ext cx="1161288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50" b="0">
                <a:solidFill>
                  <a:srgbClr val="5B6770"/>
                </a:solidFill>
                <a:latin typeface="BIZ UDPGothic"/>
                <a:ea typeface="BIZ UDPGothic"/>
                <a:cs typeface="BIZ UDPGothic"/>
              </a:rPr>
              <a:t>無くなる</a:t>
            </a:r>
          </a:p>
          <a:p>
            <a:pPr algn="l"/>
            <a:r>
              <a:rPr sz="750" b="0">
                <a:solidFill>
                  <a:srgbClr val="5B6770"/>
                </a:solidFill>
                <a:latin typeface="BIZ UDPGothic"/>
                <a:ea typeface="BIZ UDPGothic"/>
                <a:cs typeface="BIZ UDPGothic"/>
              </a:rPr>
              <a:t>（0.6分×131回）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2889504"/>
            <a:ext cx="3977639" cy="256032"/>
          </a:xfrm>
          <a:prstGeom prst="rect">
            <a:avLst/>
          </a:prstGeom>
          <a:solidFill>
            <a:srgbClr val="FDE8DC"/>
          </a:solidFill>
          <a:ln w="19050">
            <a:solidFill>
              <a:srgbClr val="F26B1D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84632" y="2889504"/>
            <a:ext cx="196596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1">
                <a:solidFill>
                  <a:srgbClr val="1F2A30"/>
                </a:solidFill>
                <a:latin typeface="BIZ UDPGothic"/>
                <a:ea typeface="BIZ UDPGothic"/>
                <a:cs typeface="BIZ UDPGothic"/>
              </a:rPr>
              <a:t>⑥ マガジンへの手投入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23160" y="2889504"/>
            <a:ext cx="71323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>
                <a:solidFill>
                  <a:srgbClr val="B84A0A"/>
                </a:solidFill>
                <a:latin typeface="BIZ UDPGothic"/>
                <a:ea typeface="BIZ UDPGothic"/>
                <a:cs typeface="BIZ UDPGothic"/>
              </a:rPr>
              <a:t>315分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0" y="2889504"/>
            <a:ext cx="1161288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50" b="0">
                <a:solidFill>
                  <a:srgbClr val="5B6770"/>
                </a:solidFill>
                <a:latin typeface="BIZ UDPGothic"/>
                <a:ea typeface="BIZ UDPGothic"/>
                <a:cs typeface="BIZ UDPGothic"/>
              </a:rPr>
              <a:t>無くなる</a:t>
            </a:r>
          </a:p>
          <a:p>
            <a:pPr algn="l"/>
            <a:r>
              <a:rPr sz="750" b="0">
                <a:solidFill>
                  <a:srgbClr val="5B6770"/>
                </a:solidFill>
                <a:latin typeface="BIZ UDPGothic"/>
                <a:ea typeface="BIZ UDPGothic"/>
                <a:cs typeface="BIZ UDPGothic"/>
              </a:rPr>
              <a:t>（2.4分×131回）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3182112"/>
            <a:ext cx="3977639" cy="256032"/>
          </a:xfrm>
          <a:prstGeom prst="rect">
            <a:avLst/>
          </a:prstGeom>
          <a:solidFill>
            <a:srgbClr val="FDE8DC"/>
          </a:solidFill>
          <a:ln w="19050">
            <a:solidFill>
              <a:srgbClr val="F26B1D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84632" y="3182112"/>
            <a:ext cx="196596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1">
                <a:solidFill>
                  <a:srgbClr val="1F2A30"/>
                </a:solidFill>
                <a:latin typeface="BIZ UDPGothic"/>
                <a:ea typeface="BIZ UDPGothic"/>
                <a:cs typeface="BIZ UDPGothic"/>
              </a:rPr>
              <a:t>⑦ 品種切替時のパウチ切替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23160" y="3182112"/>
            <a:ext cx="71323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>
                <a:solidFill>
                  <a:srgbClr val="B84A0A"/>
                </a:solidFill>
                <a:latin typeface="BIZ UDPGothic"/>
                <a:ea typeface="BIZ UDPGothic"/>
                <a:cs typeface="BIZ UDPGothic"/>
              </a:rPr>
              <a:t>8分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0" y="3182112"/>
            <a:ext cx="1161288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50" b="0">
                <a:solidFill>
                  <a:srgbClr val="5B6770"/>
                </a:solidFill>
                <a:latin typeface="BIZ UDPGothic"/>
                <a:ea typeface="BIZ UDPGothic"/>
                <a:cs typeface="BIZ UDPGothic"/>
              </a:rPr>
              <a:t>無くなる（月平均）</a:t>
            </a:r>
          </a:p>
          <a:p>
            <a:pPr algn="l"/>
            <a:r>
              <a:rPr sz="750" b="0">
                <a:solidFill>
                  <a:srgbClr val="5B6770"/>
                </a:solidFill>
                <a:latin typeface="BIZ UDPGothic"/>
                <a:ea typeface="BIZ UDPGothic"/>
                <a:cs typeface="BIZ UDPGothic"/>
              </a:rPr>
              <a:t>2品種の日に15分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" y="3474720"/>
            <a:ext cx="3977639" cy="256032"/>
          </a:xfrm>
          <a:prstGeom prst="rect">
            <a:avLst/>
          </a:prstGeom>
          <a:solidFill>
            <a:srgbClr val="EEF4F5"/>
          </a:solidFill>
          <a:ln w="9525">
            <a:solidFill>
              <a:srgbClr val="C9D3D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84632" y="3474720"/>
            <a:ext cx="196596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1">
                <a:solidFill>
                  <a:srgbClr val="1F2A30"/>
                </a:solidFill>
                <a:latin typeface="BIZ UDPGothic"/>
                <a:ea typeface="BIZ UDPGothic"/>
                <a:cs typeface="BIZ UDPGothic"/>
              </a:rPr>
              <a:t>⑧ 製袋機の運転・監視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423160" y="3474720"/>
            <a:ext cx="71323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>
                <a:solidFill>
                  <a:srgbClr val="0F4C5C"/>
                </a:solidFill>
                <a:latin typeface="BIZ UDPGothic"/>
                <a:ea typeface="BIZ UDPGothic"/>
                <a:cs typeface="BIZ UDPGothic"/>
              </a:rPr>
              <a:t>1,050分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00400" y="3474720"/>
            <a:ext cx="1161288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50" b="0">
                <a:solidFill>
                  <a:srgbClr val="5B6770"/>
                </a:solidFill>
                <a:latin typeface="BIZ UDPGothic"/>
                <a:ea typeface="BIZ UDPGothic"/>
                <a:cs typeface="BIZ UDPGothic"/>
              </a:rPr>
              <a:t>オペレーター1名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1480" y="3767328"/>
            <a:ext cx="3977639" cy="256032"/>
          </a:xfrm>
          <a:prstGeom prst="rect">
            <a:avLst/>
          </a:prstGeom>
          <a:solidFill>
            <a:srgbClr val="EEF4F5"/>
          </a:solidFill>
          <a:ln w="9525">
            <a:solidFill>
              <a:srgbClr val="C9D3D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84632" y="3767328"/>
            <a:ext cx="196596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1">
                <a:solidFill>
                  <a:srgbClr val="1F2A30"/>
                </a:solidFill>
                <a:latin typeface="BIZ UDPGothic"/>
                <a:ea typeface="BIZ UDPGothic"/>
                <a:cs typeface="BIZ UDPGothic"/>
              </a:rPr>
              <a:t>⑨ 充填（充填室）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423160" y="3767328"/>
            <a:ext cx="71323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>
                <a:solidFill>
                  <a:srgbClr val="0F4C5C"/>
                </a:solidFill>
                <a:latin typeface="BIZ UDPGothic"/>
                <a:ea typeface="BIZ UDPGothic"/>
                <a:cs typeface="BIZ UDPGothic"/>
              </a:rPr>
              <a:t>1,050分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00400" y="3767328"/>
            <a:ext cx="1161288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50" b="0">
                <a:solidFill>
                  <a:srgbClr val="5B6770"/>
                </a:solidFill>
                <a:latin typeface="BIZ UDPGothic"/>
                <a:ea typeface="BIZ UDPGothic"/>
                <a:cs typeface="BIZ UDPGothic"/>
              </a:rPr>
              <a:t>1名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" y="4059935"/>
            <a:ext cx="3977639" cy="256032"/>
          </a:xfrm>
          <a:prstGeom prst="rect">
            <a:avLst/>
          </a:prstGeom>
          <a:solidFill>
            <a:srgbClr val="EEF4F5"/>
          </a:solidFill>
          <a:ln w="9525">
            <a:solidFill>
              <a:srgbClr val="C9D3D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84632" y="4059935"/>
            <a:ext cx="196596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1">
                <a:solidFill>
                  <a:srgbClr val="1F2A30"/>
                </a:solidFill>
                <a:latin typeface="BIZ UDPGothic"/>
                <a:ea typeface="BIZ UDPGothic"/>
                <a:cs typeface="BIZ UDPGothic"/>
              </a:rPr>
              <a:t>⑩ 包装・箱詰め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423160" y="4059935"/>
            <a:ext cx="71323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>
                <a:solidFill>
                  <a:srgbClr val="0F4C5C"/>
                </a:solidFill>
                <a:latin typeface="BIZ UDPGothic"/>
                <a:ea typeface="BIZ UDPGothic"/>
                <a:cs typeface="BIZ UDPGothic"/>
              </a:rPr>
              <a:t>2,625分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200400" y="4059935"/>
            <a:ext cx="1161288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50" b="0">
                <a:solidFill>
                  <a:srgbClr val="5B6770"/>
                </a:solidFill>
                <a:latin typeface="BIZ UDPGothic"/>
                <a:ea typeface="BIZ UDPGothic"/>
                <a:cs typeface="BIZ UDPGothic"/>
              </a:rPr>
              <a:t>2〜3名（平均2.5名）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63440" y="1097280"/>
            <a:ext cx="4160520" cy="3310128"/>
          </a:xfrm>
          <a:prstGeom prst="rect">
            <a:avLst/>
          </a:prstGeom>
          <a:solidFill>
            <a:srgbClr val="F7F9FA"/>
          </a:solidFill>
          <a:ln w="15875">
            <a:solidFill>
              <a:srgbClr val="0F4C5C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4663440" y="1097280"/>
            <a:ext cx="822960" cy="274320"/>
          </a:xfrm>
          <a:prstGeom prst="rect">
            <a:avLst/>
          </a:prstGeom>
          <a:solidFill>
            <a:srgbClr val="F26B1D"/>
          </a:solidFill>
          <a:ln w="12700">
            <a:solidFill>
              <a:srgbClr val="F26B1D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663440" y="109728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導入後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577840" y="10972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50" b="1">
                <a:solidFill>
                  <a:srgbClr val="0F4C5C"/>
                </a:solidFill>
                <a:latin typeface="BIZ UDPGothic"/>
                <a:ea typeface="BIZ UDPGothic"/>
                <a:cs typeface="BIZ UDPGothic"/>
              </a:rPr>
              <a:t>投入に代わる作業 251分／日（①〜④。うち新規231分）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754880" y="1426464"/>
            <a:ext cx="3977639" cy="256032"/>
          </a:xfrm>
          <a:prstGeom prst="rect">
            <a:avLst/>
          </a:prstGeom>
          <a:solidFill>
            <a:srgbClr val="EEF4F5"/>
          </a:solidFill>
          <a:ln w="9525">
            <a:solidFill>
              <a:srgbClr val="C9D3D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828032" y="1426464"/>
            <a:ext cx="196596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1">
                <a:solidFill>
                  <a:srgbClr val="1F2A30"/>
                </a:solidFill>
                <a:latin typeface="BIZ UDPGothic"/>
                <a:ea typeface="BIZ UDPGothic"/>
                <a:cs typeface="BIZ UDPGothic"/>
              </a:rPr>
              <a:t>① 空パウチの搬入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66560" y="1426464"/>
            <a:ext cx="71323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>
                <a:solidFill>
                  <a:srgbClr val="0F4C5C"/>
                </a:solidFill>
                <a:latin typeface="BIZ UDPGothic"/>
                <a:ea typeface="BIZ UDPGothic"/>
                <a:cs typeface="BIZ UDPGothic"/>
              </a:rPr>
              <a:t>20分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543800" y="1426464"/>
            <a:ext cx="1161288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50" b="0">
                <a:solidFill>
                  <a:srgbClr val="5B6770"/>
                </a:solidFill>
                <a:latin typeface="BIZ UDPGothic"/>
                <a:ea typeface="BIZ UDPGothic"/>
                <a:cs typeface="BIZ UDPGothic"/>
              </a:rPr>
              <a:t>変化なし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754880" y="1719072"/>
            <a:ext cx="3977639" cy="256032"/>
          </a:xfrm>
          <a:prstGeom prst="rect">
            <a:avLst/>
          </a:prstGeom>
          <a:solidFill>
            <a:srgbClr val="FDE8DC"/>
          </a:solidFill>
          <a:ln w="19050">
            <a:solidFill>
              <a:srgbClr val="F26B1D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828032" y="1719072"/>
            <a:ext cx="196596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1">
                <a:solidFill>
                  <a:srgbClr val="1F2A30"/>
                </a:solidFill>
                <a:latin typeface="BIZ UDPGothic"/>
                <a:ea typeface="BIZ UDPGothic"/>
                <a:cs typeface="BIZ UDPGothic"/>
              </a:rPr>
              <a:t>② 専用パレットへの詰め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766560" y="1719072"/>
            <a:ext cx="71323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>
                <a:solidFill>
                  <a:srgbClr val="B84A0A"/>
                </a:solidFill>
                <a:latin typeface="BIZ UDPGothic"/>
                <a:ea typeface="BIZ UDPGothic"/>
                <a:cs typeface="BIZ UDPGothic"/>
              </a:rPr>
              <a:t>209分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543800" y="1719072"/>
            <a:ext cx="1161288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50" b="0">
                <a:solidFill>
                  <a:srgbClr val="5B6770"/>
                </a:solidFill>
                <a:latin typeface="BIZ UDPGothic"/>
                <a:ea typeface="BIZ UDPGothic"/>
                <a:cs typeface="BIZ UDPGothic"/>
              </a:rPr>
              <a:t>新規（約2分／枚）</a:t>
            </a:r>
          </a:p>
          <a:p>
            <a:pPr algn="l"/>
            <a:r>
              <a:rPr sz="750" b="0">
                <a:solidFill>
                  <a:srgbClr val="5B6770"/>
                </a:solidFill>
                <a:latin typeface="BIZ UDPGothic"/>
                <a:ea typeface="BIZ UDPGothic"/>
                <a:cs typeface="BIZ UDPGothic"/>
              </a:rPr>
              <a:t>250／168分の平均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754880" y="2011680"/>
            <a:ext cx="3977639" cy="256032"/>
          </a:xfrm>
          <a:prstGeom prst="rect">
            <a:avLst/>
          </a:prstGeom>
          <a:solidFill>
            <a:srgbClr val="FDE8DC"/>
          </a:solidFill>
          <a:ln w="19050">
            <a:solidFill>
              <a:srgbClr val="F26B1D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828032" y="2011680"/>
            <a:ext cx="196596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1">
                <a:solidFill>
                  <a:srgbClr val="1F2A30"/>
                </a:solidFill>
                <a:latin typeface="BIZ UDPGothic"/>
                <a:ea typeface="BIZ UDPGothic"/>
                <a:cs typeface="BIZ UDPGothic"/>
              </a:rPr>
              <a:t>③ パレットの装填・入替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766560" y="2011680"/>
            <a:ext cx="71323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>
                <a:solidFill>
                  <a:srgbClr val="B84A0A"/>
                </a:solidFill>
                <a:latin typeface="BIZ UDPGothic"/>
                <a:ea typeface="BIZ UDPGothic"/>
                <a:cs typeface="BIZ UDPGothic"/>
              </a:rPr>
              <a:t>15分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543800" y="2011680"/>
            <a:ext cx="1161288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50" b="0">
                <a:solidFill>
                  <a:srgbClr val="5B6770"/>
                </a:solidFill>
                <a:latin typeface="BIZ UDPGothic"/>
                <a:ea typeface="BIZ UDPGothic"/>
                <a:cs typeface="BIZ UDPGothic"/>
              </a:rPr>
              <a:t>新規（月平均）</a:t>
            </a:r>
          </a:p>
          <a:p>
            <a:pPr algn="l"/>
            <a:r>
              <a:rPr sz="750" b="0">
                <a:solidFill>
                  <a:srgbClr val="5B6770"/>
                </a:solidFill>
                <a:latin typeface="BIZ UDPGothic"/>
                <a:ea typeface="BIZ UDPGothic"/>
                <a:cs typeface="BIZ UDPGothic"/>
              </a:rPr>
              <a:t>約3分×約2時間に1回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754880" y="2304288"/>
            <a:ext cx="3977639" cy="256032"/>
          </a:xfrm>
          <a:prstGeom prst="rect">
            <a:avLst/>
          </a:prstGeom>
          <a:solidFill>
            <a:srgbClr val="FDE8DC"/>
          </a:solidFill>
          <a:ln w="19050">
            <a:solidFill>
              <a:srgbClr val="F26B1D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4828032" y="2304288"/>
            <a:ext cx="196596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1">
                <a:solidFill>
                  <a:srgbClr val="1F2A30"/>
                </a:solidFill>
                <a:latin typeface="BIZ UDPGothic"/>
                <a:ea typeface="BIZ UDPGothic"/>
                <a:cs typeface="BIZ UDPGothic"/>
              </a:rPr>
              <a:t>④ 専用パレットの型替え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766560" y="2304288"/>
            <a:ext cx="71323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>
                <a:solidFill>
                  <a:srgbClr val="B84A0A"/>
                </a:solidFill>
                <a:latin typeface="BIZ UDPGothic"/>
                <a:ea typeface="BIZ UDPGothic"/>
                <a:cs typeface="BIZ UDPGothic"/>
              </a:rPr>
              <a:t>7分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543800" y="2304288"/>
            <a:ext cx="1161288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50" b="0">
                <a:solidFill>
                  <a:srgbClr val="5B6770"/>
                </a:solidFill>
                <a:latin typeface="BIZ UDPGothic"/>
                <a:ea typeface="BIZ UDPGothic"/>
                <a:cs typeface="BIZ UDPGothic"/>
              </a:rPr>
              <a:t>新規（月平均7分）</a:t>
            </a:r>
          </a:p>
          <a:p>
            <a:pPr algn="l"/>
            <a:r>
              <a:rPr sz="750" b="0">
                <a:solidFill>
                  <a:srgbClr val="5B6770"/>
                </a:solidFill>
                <a:latin typeface="BIZ UDPGothic"/>
                <a:ea typeface="BIZ UDPGothic"/>
                <a:cs typeface="BIZ UDPGothic"/>
              </a:rPr>
              <a:t>2品種の日の半数で28分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754880" y="2596896"/>
            <a:ext cx="3977639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4846320" y="2596896"/>
            <a:ext cx="3794760" cy="8412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0">
                <a:solidFill>
                  <a:srgbClr val="8A9BA8"/>
                </a:solidFill>
                <a:latin typeface="BIZ UDPGothic"/>
                <a:ea typeface="BIZ UDPGothic"/>
                <a:cs typeface="BIZ UDPGothic"/>
              </a:rPr>
              <a:t>（該当する作業なし）</a:t>
            </a:r>
          </a:p>
          <a:p>
            <a:pPr algn="ctr"/>
            <a:r>
              <a:rPr sz="800" b="0">
                <a:solidFill>
                  <a:srgbClr val="5B6770"/>
                </a:solidFill>
                <a:latin typeface="BIZ UDPGothic"/>
                <a:ea typeface="BIZ UDPGothic"/>
                <a:cs typeface="BIZ UDPGothic"/>
              </a:rPr>
              <a:t>②③の開梱・片付けは詰め作業②に含めて計上</a:t>
            </a:r>
          </a:p>
          <a:p>
            <a:pPr algn="ctr"/>
            <a:r>
              <a:rPr sz="800" b="0">
                <a:solidFill>
                  <a:srgbClr val="5B6770"/>
                </a:solidFill>
                <a:latin typeface="BIZ UDPGothic"/>
                <a:ea typeface="BIZ UDPGothic"/>
                <a:cs typeface="BIZ UDPGothic"/>
              </a:rPr>
              <a:t>④〜⑦はロボットが供給するため無くなる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754880" y="3474720"/>
            <a:ext cx="3977639" cy="256032"/>
          </a:xfrm>
          <a:prstGeom prst="rect">
            <a:avLst/>
          </a:prstGeom>
          <a:solidFill>
            <a:srgbClr val="EEF4F5"/>
          </a:solidFill>
          <a:ln w="9525">
            <a:solidFill>
              <a:srgbClr val="C9D3D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4828032" y="3474720"/>
            <a:ext cx="196596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1">
                <a:solidFill>
                  <a:srgbClr val="1F2A30"/>
                </a:solidFill>
                <a:latin typeface="BIZ UDPGothic"/>
                <a:ea typeface="BIZ UDPGothic"/>
                <a:cs typeface="BIZ UDPGothic"/>
              </a:rPr>
              <a:t>⑤ 製袋機の運転・監視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766560" y="3474720"/>
            <a:ext cx="71323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>
                <a:solidFill>
                  <a:srgbClr val="0F4C5C"/>
                </a:solidFill>
                <a:latin typeface="BIZ UDPGothic"/>
                <a:ea typeface="BIZ UDPGothic"/>
                <a:cs typeface="BIZ UDPGothic"/>
              </a:rPr>
              <a:t>1,050分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543800" y="3474720"/>
            <a:ext cx="1161288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50" b="0">
                <a:solidFill>
                  <a:srgbClr val="5B6770"/>
                </a:solidFill>
                <a:latin typeface="BIZ UDPGothic"/>
                <a:ea typeface="BIZ UDPGothic"/>
                <a:cs typeface="BIZ UDPGothic"/>
              </a:rPr>
              <a:t>供給はロボット</a:t>
            </a:r>
          </a:p>
          <a:p>
            <a:pPr algn="l"/>
            <a:r>
              <a:rPr sz="750" b="0">
                <a:solidFill>
                  <a:srgbClr val="5B6770"/>
                </a:solidFill>
                <a:latin typeface="BIZ UDPGothic"/>
                <a:ea typeface="BIZ UDPGothic"/>
                <a:cs typeface="BIZ UDPGothic"/>
              </a:rPr>
              <a:t>（人手0分）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754880" y="3767328"/>
            <a:ext cx="3977639" cy="256032"/>
          </a:xfrm>
          <a:prstGeom prst="rect">
            <a:avLst/>
          </a:prstGeom>
          <a:solidFill>
            <a:srgbClr val="EEF4F5"/>
          </a:solidFill>
          <a:ln w="9525">
            <a:solidFill>
              <a:srgbClr val="C9D3D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4828032" y="3767328"/>
            <a:ext cx="196596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1">
                <a:solidFill>
                  <a:srgbClr val="1F2A30"/>
                </a:solidFill>
                <a:latin typeface="BIZ UDPGothic"/>
                <a:ea typeface="BIZ UDPGothic"/>
                <a:cs typeface="BIZ UDPGothic"/>
              </a:rPr>
              <a:t>⑥ 充填（充填室）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766560" y="3767328"/>
            <a:ext cx="71323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>
                <a:solidFill>
                  <a:srgbClr val="0F4C5C"/>
                </a:solidFill>
                <a:latin typeface="BIZ UDPGothic"/>
                <a:ea typeface="BIZ UDPGothic"/>
                <a:cs typeface="BIZ UDPGothic"/>
              </a:rPr>
              <a:t>1,050分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543800" y="3767328"/>
            <a:ext cx="1161288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50" b="0">
                <a:solidFill>
                  <a:srgbClr val="5B6770"/>
                </a:solidFill>
                <a:latin typeface="BIZ UDPGothic"/>
                <a:ea typeface="BIZ UDPGothic"/>
                <a:cs typeface="BIZ UDPGothic"/>
              </a:rPr>
              <a:t>変化なし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754880" y="4059935"/>
            <a:ext cx="3977639" cy="256032"/>
          </a:xfrm>
          <a:prstGeom prst="rect">
            <a:avLst/>
          </a:prstGeom>
          <a:solidFill>
            <a:srgbClr val="EEF4F5"/>
          </a:solidFill>
          <a:ln w="9525">
            <a:solidFill>
              <a:srgbClr val="C9D3D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4828032" y="4059935"/>
            <a:ext cx="196596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1">
                <a:solidFill>
                  <a:srgbClr val="1F2A30"/>
                </a:solidFill>
                <a:latin typeface="BIZ UDPGothic"/>
                <a:ea typeface="BIZ UDPGothic"/>
                <a:cs typeface="BIZ UDPGothic"/>
              </a:rPr>
              <a:t>⑦ 包装・箱詰め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766560" y="4059935"/>
            <a:ext cx="71323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>
                <a:solidFill>
                  <a:srgbClr val="0F4C5C"/>
                </a:solidFill>
                <a:latin typeface="BIZ UDPGothic"/>
                <a:ea typeface="BIZ UDPGothic"/>
                <a:cs typeface="BIZ UDPGothic"/>
              </a:rPr>
              <a:t>2,625分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543800" y="4059935"/>
            <a:ext cx="1161288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50" b="0">
                <a:solidFill>
                  <a:srgbClr val="5B6770"/>
                </a:solidFill>
                <a:latin typeface="BIZ UDPGothic"/>
                <a:ea typeface="BIZ UDPGothic"/>
                <a:cs typeface="BIZ UDPGothic"/>
              </a:rPr>
              <a:t>変化なし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20040" y="4480560"/>
            <a:ext cx="8503920" cy="310896"/>
          </a:xfrm>
          <a:prstGeom prst="rect">
            <a:avLst/>
          </a:prstGeom>
          <a:solidFill>
            <a:srgbClr val="EEF4F5"/>
          </a:solidFill>
          <a:ln w="12700">
            <a:solidFill>
              <a:srgbClr val="D5DEE2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411480" y="4480560"/>
            <a:ext cx="832104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00" b="1" dirty="0">
                <a:solidFill>
                  <a:srgbClr val="0F4C5C"/>
                </a:solidFill>
                <a:latin typeface="BIZ UDPGothic"/>
                <a:ea typeface="BIZ UDPGothic"/>
                <a:cs typeface="BIZ UDPGothic"/>
              </a:rPr>
              <a:t>別紙1の計算：</a:t>
            </a:r>
            <a:r>
              <a:rPr sz="1000" b="0" dirty="0">
                <a:solidFill>
                  <a:srgbClr val="1F2A30"/>
                </a:solidFill>
                <a:latin typeface="BIZ UDPGothic"/>
                <a:ea typeface="BIZ UDPGothic"/>
                <a:cs typeface="BIZ UDPGothic"/>
              </a:rPr>
              <a:t>削減 1,030分／日（17.2時間） − </a:t>
            </a:r>
            <a:r>
              <a:rPr sz="1000" b="0" dirty="0" err="1">
                <a:solidFill>
                  <a:srgbClr val="1F2A30"/>
                </a:solidFill>
                <a:latin typeface="BIZ UDPGothic"/>
                <a:ea typeface="BIZ UDPGothic"/>
                <a:cs typeface="BIZ UDPGothic"/>
              </a:rPr>
              <a:t>発生</a:t>
            </a:r>
            <a:r>
              <a:rPr sz="1000" b="0" dirty="0">
                <a:solidFill>
                  <a:srgbClr val="1F2A30"/>
                </a:solidFill>
                <a:latin typeface="BIZ UDPGothic"/>
                <a:ea typeface="BIZ UDPGothic"/>
                <a:cs typeface="BIZ UDPGothic"/>
              </a:rPr>
              <a:t> 231分／日（3.9時間） ＝ 799分／日（13.3時間）　</a:t>
            </a:r>
            <a:r>
              <a:rPr sz="1000" b="1" dirty="0" err="1">
                <a:solidFill>
                  <a:srgbClr val="B84A0A"/>
                </a:solidFill>
                <a:latin typeface="BIZ UDPGothic"/>
                <a:ea typeface="BIZ UDPGothic"/>
                <a:cs typeface="BIZ UDPGothic"/>
              </a:rPr>
              <a:t>省力化指数</a:t>
            </a:r>
            <a:r>
              <a:rPr sz="1000" b="1" dirty="0">
                <a:solidFill>
                  <a:srgbClr val="B84A0A"/>
                </a:solidFill>
                <a:latin typeface="BIZ UDPGothic"/>
                <a:ea typeface="BIZ UDPGothic"/>
                <a:cs typeface="BIZ UDPGothic"/>
              </a:rPr>
              <a:t> 0.78</a:t>
            </a:r>
            <a:r>
              <a:rPr sz="1000" b="0" dirty="0">
                <a:solidFill>
                  <a:srgbClr val="1F2A30"/>
                </a:solidFill>
                <a:latin typeface="BIZ UDPGothic"/>
                <a:ea typeface="BIZ UDPGothic"/>
                <a:cs typeface="BIZ UDPGothic"/>
              </a:rPr>
              <a:t>（＝799÷1,030）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320040" y="182880"/>
            <a:ext cx="109728" cy="320040"/>
          </a:xfrm>
          <a:prstGeom prst="rect">
            <a:avLst/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30352" y="7315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7. 人の配置・担当人数・工数の変化（シフト別）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731520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7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投入担当の作業（現状）と、それに代わる作業（導入後）の1日の時間。導入後は「1品種の日／2品種の日」の順です。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A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株式会社トンボ飲料様　Gライン パウチ自動供給装置の導入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321040" y="482803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900" b="0">
                <a:solidFill>
                  <a:srgbClr val="8A9BA8"/>
                </a:solidFill>
                <a:latin typeface="BIZ UDPGothic"/>
                <a:ea typeface="BIZ UDPGothic"/>
                <a:cs typeface="BIZ UDPGothic"/>
              </a:rPr>
              <a:t>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097280"/>
            <a:ext cx="2724912" cy="676656"/>
          </a:xfrm>
          <a:prstGeom prst="rect">
            <a:avLst/>
          </a:prstGeom>
          <a:solidFill>
            <a:srgbClr val="EEF4F5"/>
          </a:solidFill>
          <a:ln w="12700">
            <a:solidFill>
              <a:srgbClr val="D5DE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57200" y="111556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700" b="1">
                <a:solidFill>
                  <a:srgbClr val="B84A0A"/>
                </a:solidFill>
                <a:latin typeface="BIZ UDPGothic"/>
                <a:ea typeface="BIZ UDPGothic"/>
                <a:cs typeface="BIZ UDPGothic"/>
              </a:rPr>
              <a:t>1,050分 → 251分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7200" y="144475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00" b="0" dirty="0">
                <a:solidFill>
                  <a:srgbClr val="5B6770"/>
                </a:solidFill>
                <a:latin typeface="BIZ UDPGothic"/>
                <a:ea typeface="BIZ UDPGothic"/>
                <a:cs typeface="BIZ UDPGothic"/>
              </a:rPr>
              <a:t>投入担当の作業→導入後の関連作業（月平均。搬入20分は変わらず）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9544" y="1097280"/>
            <a:ext cx="2724912" cy="676656"/>
          </a:xfrm>
          <a:prstGeom prst="rect">
            <a:avLst/>
          </a:prstGeom>
          <a:solidFill>
            <a:srgbClr val="EEF4F5"/>
          </a:solidFill>
          <a:ln w="12700">
            <a:solidFill>
              <a:srgbClr val="D5DE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3346704" y="111556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700" b="1">
                <a:solidFill>
                  <a:srgbClr val="B84A0A"/>
                </a:solidFill>
                <a:latin typeface="BIZ UDPGothic"/>
                <a:ea typeface="BIZ UDPGothic"/>
                <a:cs typeface="BIZ UDPGothic"/>
              </a:rPr>
              <a:t>約799分／日 創出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346704" y="144475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00" b="0">
                <a:solidFill>
                  <a:srgbClr val="5B6770"/>
                </a:solidFill>
                <a:latin typeface="BIZ UDPGothic"/>
                <a:ea typeface="BIZ UDPGothic"/>
                <a:cs typeface="BIZ UDPGothic"/>
              </a:rPr>
              <a:t>≒13.3時間／日。主に中番と遅番で創出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99048" y="1097280"/>
            <a:ext cx="2724912" cy="676656"/>
          </a:xfrm>
          <a:prstGeom prst="rect">
            <a:avLst/>
          </a:prstGeom>
          <a:solidFill>
            <a:srgbClr val="EEF4F5"/>
          </a:solidFill>
          <a:ln w="12700">
            <a:solidFill>
              <a:srgbClr val="D5DE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236208" y="111556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700" b="1">
                <a:solidFill>
                  <a:srgbClr val="B84A0A"/>
                </a:solidFill>
                <a:latin typeface="BIZ UDPGothic"/>
                <a:ea typeface="BIZ UDPGothic"/>
                <a:cs typeface="BIZ UDPGothic"/>
              </a:rPr>
              <a:t>省力化指数 0.78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236208" y="144475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00" b="0" dirty="0">
                <a:solidFill>
                  <a:srgbClr val="5B6770"/>
                </a:solidFill>
                <a:latin typeface="BIZ UDPGothic"/>
                <a:ea typeface="BIZ UDPGothic"/>
                <a:cs typeface="BIZ UDPGothic"/>
              </a:rPr>
              <a:t>（1,030−231）÷1,030。別紙1</a:t>
            </a:r>
            <a:r>
              <a:rPr lang="ja-JP" altLang="en-US" sz="1000" b="0" dirty="0">
                <a:solidFill>
                  <a:srgbClr val="5B6770"/>
                </a:solidFill>
                <a:latin typeface="BIZ UDPGothic"/>
                <a:ea typeface="BIZ UDPGothic"/>
                <a:cs typeface="BIZ UDPGothic"/>
              </a:rPr>
              <a:t>参照</a:t>
            </a:r>
            <a:endParaRPr lang="en-US" sz="1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3716480"/>
              </p:ext>
            </p:extLst>
          </p:nvPr>
        </p:nvGraphicFramePr>
        <p:xfrm>
          <a:off x="320040" y="1865376"/>
          <a:ext cx="8503920" cy="265176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シフト・作業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時間帯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現状の担当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導入後の担当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現状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（分）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導入後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1品種／2品種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創出時間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1品種／2品種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 dirty="0" err="1">
                          <a:solidFill>
                            <a:srgbClr val="1F2A30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早番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0">
                          <a:solidFill>
                            <a:srgbClr val="1F2A30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6:30〜11:00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  <a:p>
                      <a:r>
                        <a:rPr sz="900" b="0">
                          <a:solidFill>
                            <a:srgbClr val="1F2A30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（投入は8:30から）</a:t>
                      </a: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0">
                          <a:solidFill>
                            <a:srgbClr val="1F2A30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投入パート1名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0">
                          <a:solidFill>
                            <a:srgbClr val="1F2A30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同じ方が詰め作業へ転換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 b="0">
                          <a:solidFill>
                            <a:srgbClr val="1F2A30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150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 b="0">
                          <a:solidFill>
                            <a:srgbClr val="1F2A30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150／150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 b="0">
                          <a:solidFill>
                            <a:srgbClr val="1F2A30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0／0（業務転換）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 dirty="0" err="1">
                          <a:solidFill>
                            <a:srgbClr val="1F2A30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中番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0" dirty="0">
                          <a:solidFill>
                            <a:srgbClr val="1F2A30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11:00〜19:00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0">
                          <a:solidFill>
                            <a:srgbClr val="1F2A30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投入パート1名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0">
                          <a:solidFill>
                            <a:srgbClr val="1F2A30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早番の残りを詰め、以降は多能工化へ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 b="0">
                          <a:solidFill>
                            <a:srgbClr val="1F2A30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480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 b="0">
                          <a:solidFill>
                            <a:srgbClr val="1F2A30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100／18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 b="1">
                          <a:solidFill>
                            <a:srgbClr val="B84A0A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380／462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F2A30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遅番（夜勤）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0" dirty="0">
                          <a:solidFill>
                            <a:srgbClr val="1F2A30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19:00〜26:00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0" dirty="0">
                          <a:solidFill>
                            <a:srgbClr val="1F2A30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派遣1名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  <a:p>
                      <a:r>
                        <a:rPr sz="900" b="0" dirty="0">
                          <a:solidFill>
                            <a:srgbClr val="1F2A30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（</a:t>
                      </a:r>
                      <a:r>
                        <a:rPr sz="900" b="0" dirty="0" err="1">
                          <a:solidFill>
                            <a:srgbClr val="1F2A30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社員がカバーも</a:t>
                      </a:r>
                      <a:r>
                        <a:rPr sz="900" b="0" dirty="0">
                          <a:solidFill>
                            <a:srgbClr val="1F2A30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）</a:t>
                      </a: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0">
                          <a:solidFill>
                            <a:srgbClr val="1F2A30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投入専任なし。入替はオペレーター兼務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 b="0">
                          <a:solidFill>
                            <a:srgbClr val="1F2A30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420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 b="0">
                          <a:solidFill>
                            <a:srgbClr val="1F2A30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0／0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 b="1">
                          <a:solidFill>
                            <a:srgbClr val="B84A0A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420／420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F2A30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搬入（変わらない）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0">
                          <a:solidFill>
                            <a:srgbClr val="1F2A30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全シフト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0" dirty="0">
                          <a:solidFill>
                            <a:srgbClr val="1F2A30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上3行の内数（20分）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0" dirty="0">
                          <a:solidFill>
                            <a:srgbClr val="1F2A30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詰め担当が同じ回数を運ぶ（20分）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 b="0">
                          <a:solidFill>
                            <a:srgbClr val="1F2A30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（内数）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 b="0">
                          <a:solidFill>
                            <a:srgbClr val="1F2A30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20／20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 b="0">
                          <a:solidFill>
                            <a:srgbClr val="1F2A30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−20／−20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F2A30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装填・入替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0">
                          <a:solidFill>
                            <a:srgbClr val="1F2A30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約2時間に1回×約3分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0">
                          <a:solidFill>
                            <a:srgbClr val="1F2A30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なし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0" dirty="0" err="1">
                          <a:solidFill>
                            <a:srgbClr val="1F2A30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新規。日中は詰め担当</a:t>
                      </a:r>
                      <a:r>
                        <a:rPr sz="900" b="0" dirty="0">
                          <a:solidFill>
                            <a:srgbClr val="1F2A30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、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  <a:p>
                      <a:r>
                        <a:rPr sz="900" b="0" dirty="0" err="1">
                          <a:solidFill>
                            <a:srgbClr val="1F2A30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遅番はオペレーターが兼務</a:t>
                      </a:r>
                      <a:endParaRPr sz="900" b="0" dirty="0">
                        <a:solidFill>
                          <a:srgbClr val="1F2A30"/>
                        </a:solidFill>
                        <a:latin typeface="BIZ UDPGothic"/>
                        <a:ea typeface="BIZ UDPGothic"/>
                        <a:cs typeface="BIZ UDPGothic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 b="0" dirty="0">
                          <a:solidFill>
                            <a:srgbClr val="1F2A30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0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 b="0" dirty="0">
                          <a:solidFill>
                            <a:srgbClr val="1F2A30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18／12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 b="0">
                          <a:solidFill>
                            <a:srgbClr val="1F2A30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−18／−12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F2A30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型替え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0">
                          <a:solidFill>
                            <a:srgbClr val="1F2A30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パウチ形状が変わる日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0">
                          <a:solidFill>
                            <a:srgbClr val="1F2A30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なし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0">
                          <a:solidFill>
                            <a:srgbClr val="1F2A30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新規。機内25枚×約1.1分≒28分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  <a:p>
                      <a:r>
                        <a:rPr sz="900" b="0">
                          <a:solidFill>
                            <a:srgbClr val="1F2A30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（2品種の日の半数で発生→月平均7分）</a:t>
                      </a: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 b="0">
                          <a:solidFill>
                            <a:srgbClr val="1F2A30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0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 b="0" dirty="0">
                          <a:solidFill>
                            <a:srgbClr val="1F2A30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0／14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 b="0" dirty="0">
                          <a:solidFill>
                            <a:srgbClr val="1F2A30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0／−14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F2A30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合計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0">
                          <a:solidFill>
                            <a:srgbClr val="1F2A30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8:30〜26:00（17.5時間）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F2A30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延べ3名／日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0">
                          <a:solidFill>
                            <a:srgbClr val="1F2A30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詰めは早番・中番のみ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 b="1">
                          <a:solidFill>
                            <a:srgbClr val="1F2A30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1,050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 b="1">
                          <a:solidFill>
                            <a:srgbClr val="1F2A30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288／214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  <a:p>
                      <a:pPr algn="ctr"/>
                      <a:r>
                        <a:rPr sz="900" b="1">
                          <a:solidFill>
                            <a:srgbClr val="1F2A30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（平均251）</a:t>
                      </a: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00" b="1" dirty="0">
                          <a:solidFill>
                            <a:srgbClr val="B84A0A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762／836</a:t>
                      </a:r>
                      <a:endParaRPr lang="en-US" sz="9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  <a:p>
                      <a:pPr algn="ctr"/>
                      <a:r>
                        <a:rPr sz="900" b="1" dirty="0">
                          <a:solidFill>
                            <a:srgbClr val="B84A0A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（平均799）</a:t>
                      </a:r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320040" y="4505960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4C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製袋室の配置人数：</a:t>
            </a:r>
            <a:r>
              <a:rPr lang="en-US" sz="900" dirty="0">
                <a:solidFill>
                  <a:srgbClr val="1F2A3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現状2名／シフト → 導入後 早番2名・中番2名・遅番1名（オペレーターのみ）。　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320040" y="182880"/>
            <a:ext cx="109728" cy="320040"/>
          </a:xfrm>
          <a:prstGeom prst="rect">
            <a:avLst/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30352" y="7315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8. 導入する設備の概要と見積の構成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731520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7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株式会社フジシール 御見積書（2026年9月24日・見積No.20260924）および提案資料より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A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株式会社トンボ飲料様　Gライン パウチ自動供給装置の導入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321040" y="482803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900" b="0">
                <a:solidFill>
                  <a:srgbClr val="8A9BA8"/>
                </a:solidFill>
                <a:latin typeface="BIZ UDPGothic"/>
                <a:ea typeface="BIZ UDPGothic"/>
                <a:cs typeface="BIZ UDPGothic"/>
              </a:rPr>
              <a:t>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115568"/>
            <a:ext cx="4023360" cy="3584448"/>
          </a:xfrm>
          <a:prstGeom prst="rect">
            <a:avLst/>
          </a:prstGeom>
          <a:solidFill>
            <a:srgbClr val="EEF4F5"/>
          </a:solidFill>
          <a:ln w="12700">
            <a:solidFill>
              <a:srgbClr val="D5DE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320040" y="1115568"/>
            <a:ext cx="73152" cy="3584448"/>
          </a:xfrm>
          <a:prstGeom prst="rect">
            <a:avLst/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502920" y="117043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4C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設備の概要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26280" y="1115568"/>
            <a:ext cx="4297680" cy="3584448"/>
          </a:xfrm>
          <a:prstGeom prst="rect">
            <a:avLst/>
          </a:prstGeom>
          <a:solidFill>
            <a:srgbClr val="EEF4F5"/>
          </a:solidFill>
          <a:ln w="12700">
            <a:solidFill>
              <a:srgbClr val="D5DEE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4526280" y="1115568"/>
            <a:ext cx="73152" cy="3584448"/>
          </a:xfrm>
          <a:prstGeom prst="rect">
            <a:avLst/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4709160" y="117043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4C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見積の構成（税抜）</a:t>
            </a:r>
            <a:endParaRPr lang="en-US" sz="12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17904"/>
          <a:ext cx="3703320" cy="2831592"/>
        </p:xfrm>
        <a:graphic>
          <a:graphicData uri="http://schemas.openxmlformats.org/drawingml/2006/table">
            <a:tbl>
              <a:tblPr/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F4C5C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名称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A3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パウチ自動供給装置（ロボットアーム式供給）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F4C5C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メーカー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A3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株式会社フジシール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F4C5C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設置場所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A3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4号棟1階 製袋室（既設SPM機のマガジン脇）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F4C5C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供給方式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A3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専用パレットをU字型コンベアで搬送し、ロボットアームがパウチを取り出してマガジンへ投入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F4C5C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供給能力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A3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100袋あたり15秒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F4C5C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ストック量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 b="0">
                          <a:solidFill>
                            <a:srgbClr val="1F2A30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5段×4列＝20パレット＝24,000袋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  <a:p>
                      <a:r>
                        <a:rPr sz="950" b="0">
                          <a:solidFill>
                            <a:srgbClr val="1F2A30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（約2時間分：フジシール資料）</a:t>
                      </a: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F4C5C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専用パレット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 b="0">
                          <a:solidFill>
                            <a:srgbClr val="1F2A30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1枚1,200袋、詰め 約2分／枚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  <a:p>
                      <a:r>
                        <a:rPr sz="950" b="0">
                          <a:solidFill>
                            <a:srgbClr val="1F2A30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型替え（2種兼用）約1〜1.5分／枚</a:t>
                      </a: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F4C5C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対象パウチ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A3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幅80〜96mm、高さ115〜150mm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F4C5C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設備重量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A3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約2t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F4C5C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納期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 b="0">
                          <a:solidFill>
                            <a:srgbClr val="1F2A30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発注から7〜9か月（メーカーの受注状況次第）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F4C5C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発注時期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A3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交付決定（2027年4〜5月の見込み）の後に発注。2028年1月に完了予定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517904"/>
          <a:ext cx="3977640" cy="2179320"/>
        </p:xfrm>
        <a:graphic>
          <a:graphicData uri="http://schemas.openxmlformats.org/drawingml/2006/table">
            <a:tbl>
              <a:tblPr/>
              <a:tblGrid>
                <a:gridCol w="2423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項目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数量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金額（円）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 b="0">
                          <a:solidFill>
                            <a:srgbClr val="1F2A30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パウチ自動供給装置（ロボットアーム式）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F2A3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1式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A3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55,250,000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A3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専用パレット（機内25枚＋予備65枚）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F2A3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90枚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A3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31,500,000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A3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仮置き台車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F2A3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17台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A3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2,040,000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A3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装置輸送費（車上渡し）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F2A3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1式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A3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300,000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F2A3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既設SPM機 改造部品・設計変更費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F2A3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1式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A3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3,600,000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50" b="0">
                          <a:solidFill>
                            <a:srgbClr val="1F2A30"/>
                          </a:solidFill>
                          <a:latin typeface="BIZ UDPGothic"/>
                          <a:ea typeface="BIZ UDPGothic"/>
                          <a:cs typeface="BIZ UDPGothic"/>
                        </a:rPr>
                        <a:t>現地改造工事費（約11日の工事・調整）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F2A3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1式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A3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4,100,000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A3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小計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1F2A3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96,790,000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B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A3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値引き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1F2A3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△4,790,000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B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F2A30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合計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B84A0A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92,000,000</a:t>
                      </a:r>
                      <a:endParaRPr lang="en-US" sz="95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B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6" name="Text 12"/>
          <p:cNvSpPr/>
          <p:nvPr/>
        </p:nvSpPr>
        <p:spPr>
          <a:xfrm>
            <a:off x="4709160" y="4023360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750" b="1">
                <a:solidFill>
                  <a:srgbClr val="5B6770"/>
                </a:solidFill>
                <a:latin typeface="BIZ UDPGothic"/>
                <a:ea typeface="BIZ UDPGothic"/>
                <a:cs typeface="BIZ UDPGothic"/>
              </a:rPr>
              <a:t>見積条件：</a:t>
            </a:r>
            <a:r>
              <a:rPr sz="750" b="0">
                <a:solidFill>
                  <a:srgbClr val="5B6770"/>
                </a:solidFill>
                <a:latin typeface="BIZ UDPGothic"/>
                <a:ea typeface="BIZ UDPGothic"/>
                <a:cs typeface="BIZ UDPGothic"/>
              </a:rPr>
              <a:t>消費税別・概算金額。ユーティリティ工事は別途。車上渡し条件。</a:t>
            </a:r>
            <a:endParaRPr lang="en-US" sz="900" dirty="0"/>
          </a:p>
          <a:p>
            <a:pPr marL="0" indent="0">
              <a:buNone/>
            </a:pPr>
            <a:r>
              <a:rPr sz="750" b="1">
                <a:solidFill>
                  <a:srgbClr val="5B6770"/>
                </a:solidFill>
                <a:latin typeface="BIZ UDPGothic"/>
                <a:ea typeface="BIZ UDPGothic"/>
                <a:cs typeface="BIZ UDPGothic"/>
              </a:rPr>
              <a:t>トンボ飲料様の手配範囲：</a:t>
            </a:r>
            <a:r>
              <a:rPr sz="750" b="0">
                <a:solidFill>
                  <a:srgbClr val="5B6770"/>
                </a:solidFill>
                <a:latin typeface="BIZ UDPGothic"/>
                <a:ea typeface="BIZ UDPGothic"/>
                <a:cs typeface="BIZ UDPGothic"/>
              </a:rPr>
              <a:t>荷降ろし・設置（アンカー固定まで）、搬入経路上の機器の一時解体、試運転用の製品・資材。</a:t>
            </a:r>
          </a:p>
          <a:p>
            <a:pPr marL="0" indent="0">
              <a:buNone/>
            </a:pPr>
            <a:r>
              <a:rPr sz="750" b="1">
                <a:solidFill>
                  <a:srgbClr val="5B6770"/>
                </a:solidFill>
                <a:latin typeface="BIZ UDPGothic"/>
                <a:ea typeface="BIZ UDPGothic"/>
                <a:cs typeface="BIZ UDPGothic"/>
              </a:rPr>
              <a:t>補助申請：</a:t>
            </a:r>
            <a:r>
              <a:rPr sz="750" b="0">
                <a:solidFill>
                  <a:srgbClr val="5B6770"/>
                </a:solidFill>
                <a:latin typeface="BIZ UDPGothic"/>
                <a:ea typeface="BIZ UDPGothic"/>
                <a:cs typeface="BIZ UDPGothic"/>
              </a:rPr>
              <a:t>補助対象経費92,000,000円×補助率1/2＝補助金額46,000,000円。見積は値引き行の削除と名称の修正を依頼中（総額は不変）。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2061</Words>
  <Application>Microsoft Office PowerPoint</Application>
  <PresentationFormat>画面に合わせる (16:9)</PresentationFormat>
  <Paragraphs>456</Paragraphs>
  <Slides>9</Slides>
  <Notes>7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2" baseType="lpstr">
      <vt:lpstr>BIZ UDPGothic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Gライン パウチ自動供給装置 レイアウト・工程ビフォーアフター</dc:title>
  <dc:subject>PptxGenJS Presentation</dc:subject>
  <dc:creator>PptxGenJS</dc:creator>
  <cp:lastModifiedBy>本木</cp:lastModifiedBy>
  <cp:revision>22</cp:revision>
  <dcterms:created xsi:type="dcterms:W3CDTF">2026-09-30T08:00:13Z</dcterms:created>
  <dcterms:modified xsi:type="dcterms:W3CDTF">2026-10-01T05:32:53Z</dcterms:modified>
</cp:coreProperties>
</file>